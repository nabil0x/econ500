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7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4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8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5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8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3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4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1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D6FD602-3113-4FC4-982F-15099614D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48" y="0"/>
            <a:ext cx="7724071" cy="6858000"/>
            <a:chOff x="4464881" y="0"/>
            <a:chExt cx="7724071" cy="685800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B8C81AF-BEDB-486F-AB26-181C63BF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08D8EF1-80CA-4FAD-BD38-F379CECC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E7014F-3FF2-F27E-AABA-AD19377E6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800" y="586992"/>
            <a:ext cx="5867400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4 types of credit market instruments</a:t>
            </a:r>
          </a:p>
        </p:txBody>
      </p:sp>
      <p:pic>
        <p:nvPicPr>
          <p:cNvPr id="4" name="Picture 3" descr="A stack of bank cards">
            <a:extLst>
              <a:ext uri="{FF2B5EF4-FFF2-40B4-BE49-F238E27FC236}">
                <a16:creationId xmlns:a16="http://schemas.microsoft.com/office/drawing/2014/main" id="{A657C856-5B03-659C-D494-A7AFB6C1A4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616" r="-1" b="10424"/>
          <a:stretch/>
        </p:blipFill>
        <p:spPr>
          <a:xfrm>
            <a:off x="465366" y="455035"/>
            <a:ext cx="5115697" cy="594793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76D5806-142C-7D94-C5FE-1E4179556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8860" y="2411653"/>
            <a:ext cx="5867022" cy="3928822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Simple Loan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Fixed payment loan or Fully amortized loan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Coupon Bond</a:t>
            </a:r>
          </a:p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Discount Bond or Zero-coupon Bond</a:t>
            </a:r>
          </a:p>
        </p:txBody>
      </p:sp>
    </p:spTree>
    <p:extLst>
      <p:ext uri="{BB962C8B-B14F-4D97-AF65-F5344CB8AC3E}">
        <p14:creationId xmlns:p14="http://schemas.microsoft.com/office/powerpoint/2010/main" val="11854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69F9-F2D3-95C1-050D-98EE4AF7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A7887-2BCF-20EF-EDD9-5274A8CF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be repaid to the lender at the maturity date</a:t>
            </a:r>
          </a:p>
          <a:p>
            <a:r>
              <a:rPr lang="en-US" dirty="0"/>
              <a:t>with an additional payment for the interest</a:t>
            </a:r>
          </a:p>
          <a:p>
            <a:pPr marL="0" indent="0">
              <a:buNone/>
            </a:pPr>
            <a:r>
              <a:rPr lang="en-US" dirty="0"/>
              <a:t>Examples: Short term commercial loans to business</a:t>
            </a:r>
          </a:p>
        </p:txBody>
      </p:sp>
    </p:spTree>
    <p:extLst>
      <p:ext uri="{BB962C8B-B14F-4D97-AF65-F5344CB8AC3E}">
        <p14:creationId xmlns:p14="http://schemas.microsoft.com/office/powerpoint/2010/main" val="234241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B144-B7A0-A0C6-8CD4-2963C52F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7861-2D80-C6EC-D691-2B41BAB8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5C1D-B31B-C590-22AA-D636B839F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768296"/>
            <a:ext cx="11274612" cy="495168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  City Bank loan through </a:t>
            </a:r>
            <a:r>
              <a:rPr lang="en-US" sz="3800" b="1" dirty="0" err="1">
                <a:latin typeface="Arial" panose="020B0604020202020204" pitchFamily="34" charset="0"/>
                <a:cs typeface="Arial" panose="020B0604020202020204" pitchFamily="34" charset="0"/>
              </a:rPr>
              <a:t>Bkash</a:t>
            </a:r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9% per annum interest rate will be applicable.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 months short term loan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repayment amount will be automatically deducted from the user’s bKash account on the due date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2% extra if time is over. </a:t>
            </a:r>
          </a:p>
          <a:p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3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EBL </a:t>
            </a:r>
            <a:r>
              <a:rPr lang="en-US" sz="38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Agrim</a:t>
            </a:r>
            <a:r>
              <a:rPr lang="en-US" sz="3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9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Loan facility minimum Tk.200,000 – maximum Tk.950,000    </a:t>
            </a:r>
            <a:endParaRPr lang="en-US" sz="29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9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collateral security required</a:t>
            </a:r>
            <a:endParaRPr lang="en-US" sz="29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9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Loan tenure 4 month to 6 months</a:t>
            </a:r>
          </a:p>
          <a:p>
            <a:r>
              <a:rPr lang="en-US" sz="29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Partial payment and early payment allowed- no additional fee required</a:t>
            </a:r>
            <a:endParaRPr lang="en-US" sz="29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Single shot payment at maturity but interest will be realized on monthly basis</a:t>
            </a:r>
          </a:p>
          <a:p>
            <a:endParaRPr lang="en-US" b="1" i="0" dirty="0">
              <a:solidFill>
                <a:srgbClr val="F078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47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9E1D-A243-DA49-F5B4-29462188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E644-B9D3-8725-6F82-3C2DC7F3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3039-500A-88E0-50B5-B77C1B54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Grameen Bank Livestock Loan</a:t>
            </a:r>
          </a:p>
          <a:p>
            <a:r>
              <a:rPr lang="en-US" sz="1800" b="0" i="0" dirty="0">
                <a:solidFill>
                  <a:srgbClr val="2E2D2D"/>
                </a:solidFill>
                <a:effectLst/>
                <a:latin typeface="Arial" panose="020B0604020202020204" pitchFamily="34" charset="0"/>
              </a:rPr>
              <a:t>The maximum ceiling of livestock loans is BDT 40,000.</a:t>
            </a:r>
          </a:p>
          <a:p>
            <a:r>
              <a:rPr lang="en-US" sz="1800" b="0" i="0" dirty="0">
                <a:solidFill>
                  <a:srgbClr val="2E2D2D"/>
                </a:solidFill>
                <a:effectLst/>
                <a:latin typeface="Arial" panose="020B0604020202020204" pitchFamily="34" charset="0"/>
              </a:rPr>
              <a:t>The duration of the loan is 9 months or 39 weeks.</a:t>
            </a:r>
          </a:p>
          <a:p>
            <a:r>
              <a:rPr lang="en-US" sz="1800" b="0" i="0" dirty="0">
                <a:solidFill>
                  <a:srgbClr val="2E2D2D"/>
                </a:solidFill>
                <a:effectLst/>
                <a:latin typeface="Arial" panose="020B0604020202020204" pitchFamily="34" charset="0"/>
              </a:rPr>
              <a:t>Repayment of the loan immediately after the sale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5778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EC2F-B426-3B48-9E12-D2E9C70F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1BC4-7B4A-D50C-BCA0-DBC7EDD0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4400" b="1" dirty="0"/>
              <a:t>Fixed payment loan or Fully amortized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50FD-F439-7EC4-BEA2-45080FB4F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borrower must repay the principal and interest, every period (such as a month) for a set number of years.</a:t>
            </a:r>
          </a:p>
          <a:p>
            <a:pPr marL="0" indent="0">
              <a:buNone/>
            </a:pPr>
            <a:r>
              <a:rPr lang="en-US" dirty="0"/>
              <a:t>Examples:  Installment loans , mortgages</a:t>
            </a:r>
          </a:p>
        </p:txBody>
      </p:sp>
    </p:spTree>
    <p:extLst>
      <p:ext uri="{BB962C8B-B14F-4D97-AF65-F5344CB8AC3E}">
        <p14:creationId xmlns:p14="http://schemas.microsoft.com/office/powerpoint/2010/main" val="32684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C3F1-BC84-F8CC-B153-779F4919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3780-E694-CD5F-6A31-7ABC0B6F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457200" indent="-228600" algn="l">
              <a:buFont typeface="Arial" panose="020B0604020202020204" pitchFamily="34" charset="0"/>
              <a:buChar char="•"/>
            </a:pPr>
            <a:r>
              <a:rPr lang="en-US" sz="4400" b="1" dirty="0"/>
              <a:t>Fixed payment loan or Fully amortized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4434-2F58-A499-AA72-A7FE6E13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2" y="1790724"/>
            <a:ext cx="11274612" cy="4701516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EBL Mukti</a:t>
            </a: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Credit facility from BDT 5 lac to BDT 50 Lac for women entrepreneurs or women lead business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collateral security required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Interest Rate is 10% p.a.    </a:t>
            </a: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Repayable in 6-60 months according to cashflow in installments </a:t>
            </a:r>
          </a:p>
          <a:p>
            <a:endParaRPr lang="en-US" sz="1800" kern="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Rupali Bank </a:t>
            </a:r>
            <a:r>
              <a:rPr lang="en-US" sz="2400" b="1" kern="0" dirty="0" err="1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Shohoj</a:t>
            </a:r>
            <a:r>
              <a:rPr lang="en-US" sz="2400" b="1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Rin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Loan maximum BDT 10 lac</a:t>
            </a:r>
            <a:endParaRPr lang="en-US" sz="1800" b="1" kern="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term loan Maximum 48 months (installment monthly/ quarterly).</a:t>
            </a:r>
            <a:endParaRPr lang="en-US" sz="1800" b="1" kern="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Interest Rate is 9% p.a.  </a:t>
            </a:r>
          </a:p>
          <a:p>
            <a:r>
              <a:rPr lang="en-US" sz="1800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Repayment will be in installments. </a:t>
            </a:r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1800" kern="0" dirty="0">
              <a:solidFill>
                <a:srgbClr val="555555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0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ABCB-5E25-87D8-7944-9FD0C81A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317-E8B9-C803-13BF-1E841273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228600" algn="l"/>
            <a:r>
              <a:rPr lang="en-US" sz="4400" b="1" dirty="0"/>
              <a:t>Fixed payment loan or Fully amortized loan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FB862-2BAB-D98E-EA18-0BB47CA10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1691324"/>
            <a:ext cx="11274612" cy="49768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Rupali bank, </a:t>
            </a:r>
            <a:r>
              <a:rPr lang="en-US" sz="240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Babshahi</a:t>
            </a:r>
            <a:r>
              <a:rPr lang="en-US" sz="24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RIN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Loan maximum BDT 5 crores</a:t>
            </a:r>
            <a:endParaRPr lang="en-US" sz="18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Interest Rates: 9.00%</a:t>
            </a:r>
          </a:p>
          <a:p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Security: Auxiliary collateral real state needed. For Exclusive ownership, the maximum loan amount (MCL) will be 75% of the immediate sell price of the property and co-shared/ third party ownership the maximum loan amount (MCL) will be 50% of the immediate sell price of the property.</a:t>
            </a:r>
            <a:endParaRPr lang="en-US" sz="18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800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Repayment will be in installments. </a:t>
            </a:r>
          </a:p>
          <a:p>
            <a:endParaRPr lang="en-US" sz="1800" kern="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IFIC Bank Auto Loan (Mortgage Backed)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 amount up to BDT 40,00,000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Tenor: Minimum 12 months, Maximum 60 months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Competitive Interest Rate</a:t>
            </a:r>
          </a:p>
          <a:p>
            <a:r>
              <a:rPr lang="en-US" sz="2000" kern="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Repayment will be in installments.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9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8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5BD7-AFDE-0111-BF86-F5115916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1F4E-400D-59EB-EF11-27693A0B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/>
          </a:bodyPr>
          <a:lstStyle/>
          <a:p>
            <a:pPr marL="228600" algn="l"/>
            <a:r>
              <a:rPr lang="en-US" sz="4400" b="1" dirty="0"/>
              <a:t>Coupon Bond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2ACC5-A53D-FAA4-4657-06282B5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pays the owner of the bond a fixed interest payment (coupon payment) every year until the maturity, when a specified final amount (face value or par value) is repaid.</a:t>
            </a:r>
          </a:p>
          <a:p>
            <a:r>
              <a:rPr lang="en-US" dirty="0"/>
              <a:t>In example, a coupon bond has a yearly coupon payment of $100 and a face value of $1,000. The coupon rate is then $100&gt;$1,000 = 0.10, or 10%.</a:t>
            </a:r>
          </a:p>
          <a:p>
            <a:r>
              <a:rPr lang="en-US" b="0" i="0">
                <a:solidFill>
                  <a:srgbClr val="393E42"/>
                </a:solidFill>
                <a:effectLst/>
                <a:latin typeface="Proxima Nova"/>
              </a:rPr>
              <a:t>coupon bonds first emerged in the 19th century as governments and companies sought new ways to raise money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12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6370-7844-523B-D33F-AE8D3249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BCD6-0158-CFE1-0526-FAA7F664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228600"/>
            <a:r>
              <a:rPr lang="en-US" sz="4400" b="1" dirty="0"/>
              <a:t>Discount Bond or Zero-coupon Bond</a:t>
            </a:r>
            <a:br>
              <a:rPr lang="en-US" sz="4400" b="1" dirty="0"/>
            </a:b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F38D4-CE77-1006-C3CD-266E3B86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bought at a price below its face value (at a discount), and the face value is repaid at the maturity date.</a:t>
            </a:r>
          </a:p>
          <a:p>
            <a:r>
              <a:rPr lang="en-US" dirty="0"/>
              <a:t>Unlike a coupon bond, a discount bond does not make any interest payments.</a:t>
            </a:r>
          </a:p>
          <a:p>
            <a:r>
              <a:rPr lang="en-US" dirty="0"/>
              <a:t>It just pays off the face value.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 income from zero-coupon bonds is tax free for investors in Bangladesh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0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B821-DF4C-59FB-1D96-F3CB9A03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BB75-0369-9B4E-30AF-3C3561E2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228600"/>
            <a:r>
              <a:rPr lang="en-US" sz="4400" b="1" dirty="0"/>
              <a:t>Coupon Bond &amp; Discount Bond in Bangladesh</a:t>
            </a:r>
            <a:br>
              <a:rPr lang="en-US" sz="4400" b="1" dirty="0"/>
            </a:b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2690-4697-943B-486C-97868067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different Government treasury Bonds in Bangladesh with different maturity date. Like 2 year, 5 years, 10 years, 15 years, 20 years treasury bond with 11.60%-12.17% yield to maturity.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From mid-2012 to mid-2019, the BSEC approved 94 corporate bonds worth over Tk37,000 crore.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FF Meta Serif Pro"/>
              </a:rPr>
              <a:t>Aamra</a:t>
            </a:r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 Networks Limited got the BSEC approval to issue zero-coupon bonds worth up to Tk100 crore to strengthen its Internet infrastructure.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FF Meta Serif Pro"/>
              </a:rPr>
              <a:t>Brac</a:t>
            </a:r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, the world's largest nongovernmental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 Meta Serif Pro"/>
              </a:rPr>
              <a:t>organisation</a:t>
            </a:r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 (NGO), has recently applied for a Tk1,350 crore bond to fuel its microfinance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 Meta Serif Pro"/>
              </a:rPr>
              <a:t>programme</a:t>
            </a:r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4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41CE-115B-9D99-C600-794E05AF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117B-6B26-D3AD-B746-517FD0F7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3" y="365760"/>
            <a:ext cx="11274611" cy="1325563"/>
          </a:xfrm>
        </p:spPr>
        <p:txBody>
          <a:bodyPr>
            <a:normAutofit fontScale="90000"/>
          </a:bodyPr>
          <a:lstStyle/>
          <a:p>
            <a:pPr marL="228600"/>
            <a:r>
              <a:rPr lang="en-US" sz="4400" b="1" dirty="0"/>
              <a:t>Coupon Bond &amp; Discount Bond in Bangladesh</a:t>
            </a:r>
            <a:br>
              <a:rPr lang="en-US" sz="4400" b="1" dirty="0"/>
            </a:b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636A6-E272-DD59-6B43-69CEFA2FD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 Sajida Foundation, another reputed NGO, applied for Tk100 crore zero-coupon bonds.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Summit Tower Limited, a subsidiary of Summit Communications Limited, has applied for two bonds – one zero-coupon bond and another coupon-bearing bond – worth nearly Tk220 crore.</a:t>
            </a:r>
            <a:endParaRPr lang="en-US" dirty="0">
              <a:solidFill>
                <a:srgbClr val="000000"/>
              </a:solidFill>
              <a:latin typeface="FF Meta Serif Pro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Pran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FF Meta Serif Pro"/>
              </a:rPr>
              <a:t>Agro</a:t>
            </a:r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 got approval for a bond worth Tk210 crore and is waiting for another one worth Tk150 crore.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FF Meta Serif Pro"/>
              </a:rPr>
              <a:t>Standard Chartered Bangladesh, as the first foreign bank in Bangladesh, offered zero-coupon bonds worth Tk850 </a:t>
            </a:r>
            <a:r>
              <a:rPr lang="en-US" b="0" i="0">
                <a:solidFill>
                  <a:srgbClr val="000000"/>
                </a:solidFill>
                <a:effectLst/>
                <a:latin typeface="FF Meta Serif Pro"/>
              </a:rPr>
              <a:t>crore in year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40054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430</TotalTime>
  <Words>783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Avenir Next LT Pro</vt:lpstr>
      <vt:lpstr>AvenirNext LT Pro Medium</vt:lpstr>
      <vt:lpstr>FF Meta Serif Pro</vt:lpstr>
      <vt:lpstr>Proxima Nova</vt:lpstr>
      <vt:lpstr>Sabon Next LT</vt:lpstr>
      <vt:lpstr>Symbol</vt:lpstr>
      <vt:lpstr>DappledVTI</vt:lpstr>
      <vt:lpstr>4 types of credit market instruments</vt:lpstr>
      <vt:lpstr>Simple Loan</vt:lpstr>
      <vt:lpstr>Simple Loan</vt:lpstr>
      <vt:lpstr>Simple Loan</vt:lpstr>
      <vt:lpstr>Fixed payment loan or Fully amortized loan</vt:lpstr>
      <vt:lpstr>Fixed payment loan or Fully amortized loan</vt:lpstr>
      <vt:lpstr>Fixed payment loan or Fully amortized loan</vt:lpstr>
      <vt:lpstr>Coupon Bond</vt:lpstr>
      <vt:lpstr>Discount Bond or Zero-coupon Bond </vt:lpstr>
      <vt:lpstr>Coupon Bond &amp; Discount Bond in Bangladesh </vt:lpstr>
      <vt:lpstr>Coupon Bond &amp; Discount Bond in Bangladesh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types of credit market instruments</dc:title>
  <dc:creator>Farhan Imtiaz Nafee</dc:creator>
  <cp:lastModifiedBy>Farhan Imtiaz Nafee</cp:lastModifiedBy>
  <cp:revision>3</cp:revision>
  <dcterms:created xsi:type="dcterms:W3CDTF">2024-01-30T16:59:01Z</dcterms:created>
  <dcterms:modified xsi:type="dcterms:W3CDTF">2024-02-01T19:01:44Z</dcterms:modified>
</cp:coreProperties>
</file>