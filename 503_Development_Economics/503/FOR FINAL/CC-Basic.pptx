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60" r:id="rId3"/>
    <p:sldId id="261" r:id="rId4"/>
    <p:sldId id="258" r:id="rId5"/>
    <p:sldId id="266" r:id="rId6"/>
    <p:sldId id="262" r:id="rId7"/>
    <p:sldId id="263" r:id="rId8"/>
    <p:sldId id="264" r:id="rId9"/>
    <p:sldId id="265" r:id="rId10"/>
    <p:sldId id="259" r:id="rId11"/>
    <p:sldId id="267" r:id="rId12"/>
    <p:sldId id="268" r:id="rId13"/>
    <p:sldId id="269" r:id="rId14"/>
    <p:sldId id="279" r:id="rId15"/>
    <p:sldId id="270" r:id="rId16"/>
    <p:sldId id="280" r:id="rId17"/>
    <p:sldId id="281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48AFCA-3470-4F06-A338-8D0F5D9CA400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/>
            <a:fld id="{9A0DB2DC-4C9A-4742-B13C-FB6460FD3503}" type="slidenum">
              <a:rPr lang="en-US" sz="1200" dirty="0"/>
              <a:t>‹#›</a:t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/>
              <a:t>12</a:t>
            </a:fld>
            <a:endParaRPr lang="en-US" sz="1200" dirty="0"/>
          </a:p>
        </p:txBody>
      </p:sp>
      <p:sp>
        <p:nvSpPr>
          <p:cNvPr id="29699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  <a:t>12</a:t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9700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9701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/>
              <a:t>13</a:t>
            </a:fld>
            <a:endParaRPr lang="en-US" sz="1200" dirty="0"/>
          </a:p>
        </p:txBody>
      </p:sp>
      <p:sp>
        <p:nvSpPr>
          <p:cNvPr id="30723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  <a:t>13</a:t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072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0725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/>
              <a:t>18</a:t>
            </a:fld>
            <a:endParaRPr lang="en-US" sz="1200" dirty="0"/>
          </a:p>
        </p:txBody>
      </p:sp>
      <p:sp>
        <p:nvSpPr>
          <p:cNvPr id="31747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  <a:t>18</a:t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1748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9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/>
              <a:t>22</a:t>
            </a:fld>
            <a:endParaRPr lang="en-US" sz="1200" dirty="0"/>
          </a:p>
        </p:txBody>
      </p:sp>
      <p:sp>
        <p:nvSpPr>
          <p:cNvPr id="32771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  <a:t>22</a:t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2772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3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/>
              <a:t>24</a:t>
            </a:fld>
            <a:endParaRPr lang="en-US" sz="1200" dirty="0"/>
          </a:p>
        </p:txBody>
      </p:sp>
      <p:sp>
        <p:nvSpPr>
          <p:cNvPr id="33795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  <a:t>24</a:t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3796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3797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/>
              <a:t>25</a:t>
            </a:fld>
            <a:endParaRPr lang="en-US" sz="1200" dirty="0"/>
          </a:p>
        </p:txBody>
      </p:sp>
      <p:sp>
        <p:nvSpPr>
          <p:cNvPr id="34819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  <a:t>25</a:t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4820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4821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A9648-D5F8-497F-B013-F1B1F298F27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6/24/2024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en-US" dirty="0">
                <a:latin typeface="Calibri" panose="020F0502020204030204" pitchFamily="34" charset="0"/>
                <a:ea typeface="Arial" panose="020B060402020202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ClrTx/>
              <a:buSzTx/>
              <a:buFontTx/>
            </a:pPr>
            <a:r>
              <a:rPr lang="en-US" dirty="0" smtClean="0"/>
              <a:t>Climate Change , Vulnerability and Basic Understanding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Sharmind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Neelormi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SC03251"/>
          <p:cNvPicPr>
            <a:picLocks noGrp="1" noChangeAspect="1"/>
          </p:cNvPicPr>
          <p:nvPr>
            <p:ph/>
          </p:nvPr>
        </p:nvPicPr>
        <p:blipFill>
          <a:blip r:embed="rId2">
            <a:lum bright="26001" contrast="-17999"/>
          </a:blip>
          <a:srcRect/>
          <a:stretch>
            <a:fillRect/>
          </a:stretch>
        </p:blipFill>
        <p:spPr>
          <a:xfrm>
            <a:off x="0" y="0"/>
            <a:ext cx="9215438" cy="6886575"/>
          </a:xfrm>
          <a:ln/>
        </p:spPr>
      </p:pic>
      <p:sp>
        <p:nvSpPr>
          <p:cNvPr id="13315" name="Text Box 3"/>
          <p:cNvSpPr txBox="1"/>
          <p:nvPr/>
        </p:nvSpPr>
        <p:spPr>
          <a:xfrm>
            <a:off x="914400" y="381000"/>
            <a:ext cx="7467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sz="2000" b="1" dirty="0">
                <a:latin typeface="Calibri" panose="020F0502020204030204" pitchFamily="34" charset="0"/>
                <a:ea typeface="Arial" panose="020B0604020202020204" pitchFamily="34" charset="0"/>
              </a:rPr>
              <a:t>Climate Change is a Reality</a:t>
            </a:r>
          </a:p>
        </p:txBody>
      </p:sp>
      <p:sp>
        <p:nvSpPr>
          <p:cNvPr id="4100" name="Text Box 4"/>
          <p:cNvSpPr txBox="1"/>
          <p:nvPr/>
        </p:nvSpPr>
        <p:spPr>
          <a:xfrm>
            <a:off x="746125" y="1560513"/>
            <a:ext cx="71786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7" name="Text Box 5"/>
          <p:cNvSpPr txBox="1"/>
          <p:nvPr/>
        </p:nvSpPr>
        <p:spPr>
          <a:xfrm>
            <a:off x="1219200" y="4343400"/>
            <a:ext cx="64008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sz="2000" b="1" dirty="0">
                <a:latin typeface="Calibri" panose="020F0502020204030204" pitchFamily="34" charset="0"/>
                <a:ea typeface="Arial" panose="020B0604020202020204" pitchFamily="34" charset="0"/>
              </a:rPr>
              <a:t>even if stabilization is possible at current levels of atmospheric concentration of CO2, the world is destined to face a net change of 0.1 degree C per decade over the next five decades.</a:t>
            </a:r>
          </a:p>
        </p:txBody>
      </p:sp>
      <p:sp>
        <p:nvSpPr>
          <p:cNvPr id="13318" name="Text Box 6"/>
          <p:cNvSpPr txBox="1"/>
          <p:nvPr/>
        </p:nvSpPr>
        <p:spPr>
          <a:xfrm>
            <a:off x="1219200" y="3810000"/>
            <a:ext cx="4114800" cy="809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sz="2000" b="1" dirty="0">
                <a:solidFill>
                  <a:srgbClr val="003399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IPCC Assessment warns that,</a:t>
            </a:r>
          </a:p>
          <a:p>
            <a:pPr>
              <a:spcBef>
                <a:spcPct val="50000"/>
              </a:spcBef>
            </a:pPr>
            <a:endParaRPr dirty="0">
              <a:solidFill>
                <a:srgbClr val="003399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4103" name="Text Box 7"/>
          <p:cNvSpPr txBox="1"/>
          <p:nvPr/>
        </p:nvSpPr>
        <p:spPr>
          <a:xfrm>
            <a:off x="228600" y="5715000"/>
            <a:ext cx="1143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pic>
        <p:nvPicPr>
          <p:cNvPr id="13320" name="Picture 8" descr="logo cg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5999163"/>
            <a:ext cx="1219200" cy="777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5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6BC772"/>
          </a:solidFill>
          <a:ln w="9525" cap="flat" cmpd="sng">
            <a:solidFill>
              <a:srgbClr val="6BC77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pic>
        <p:nvPicPr>
          <p:cNvPr id="4106" name="Picture 4" descr="tit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72200"/>
            <a:ext cx="3429000" cy="76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7" grpId="0"/>
      <p:bldP spid="133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DSC03408"/>
          <p:cNvPicPr>
            <a:picLocks noChangeAspect="1"/>
          </p:cNvPicPr>
          <p:nvPr/>
        </p:nvPicPr>
        <p:blipFill>
          <a:blip r:embed="rId2">
            <a:lum bright="38000" contrast="-24001"/>
          </a:blip>
          <a:stretch>
            <a:fillRect/>
          </a:stretch>
        </p:blipFill>
        <p:spPr>
          <a:xfrm>
            <a:off x="0" y="228600"/>
            <a:ext cx="9147175" cy="66294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23" name="Group 9"/>
          <p:cNvGrpSpPr/>
          <p:nvPr/>
        </p:nvGrpSpPr>
        <p:grpSpPr>
          <a:xfrm>
            <a:off x="685800" y="762000"/>
            <a:ext cx="4724400" cy="854075"/>
            <a:chOff x="432" y="480"/>
            <a:chExt cx="2976" cy="538"/>
          </a:xfrm>
        </p:grpSpPr>
        <p:sp>
          <p:nvSpPr>
            <p:cNvPr id="5130" name="Text Box 3"/>
            <p:cNvSpPr txBox="1"/>
            <p:nvPr/>
          </p:nvSpPr>
          <p:spPr>
            <a:xfrm>
              <a:off x="432" y="480"/>
              <a:ext cx="29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sz="2400" b="1" dirty="0">
                  <a:latin typeface="Calibri" panose="020F0502020204030204" pitchFamily="34" charset="0"/>
                  <a:ea typeface="Arial" panose="020B0604020202020204" pitchFamily="34" charset="0"/>
                </a:rPr>
                <a:t>Avoid the Unmanageable</a:t>
              </a:r>
            </a:p>
          </p:txBody>
        </p:sp>
        <p:sp>
          <p:nvSpPr>
            <p:cNvPr id="5131" name="Text Box 4"/>
            <p:cNvSpPr txBox="1"/>
            <p:nvPr/>
          </p:nvSpPr>
          <p:spPr>
            <a:xfrm>
              <a:off x="1776" y="768"/>
              <a:ext cx="148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sz="2000" b="1" dirty="0">
                  <a:latin typeface="Calibri" panose="020F0502020204030204" pitchFamily="34" charset="0"/>
                  <a:ea typeface="Arial" panose="020B0604020202020204" pitchFamily="34" charset="0"/>
                </a:rPr>
                <a:t>MITIGATION</a:t>
              </a:r>
            </a:p>
          </p:txBody>
        </p:sp>
      </p:grpSp>
      <p:grpSp>
        <p:nvGrpSpPr>
          <p:cNvPr id="5124" name="Group 10"/>
          <p:cNvGrpSpPr/>
          <p:nvPr/>
        </p:nvGrpSpPr>
        <p:grpSpPr>
          <a:xfrm>
            <a:off x="2438400" y="4648200"/>
            <a:ext cx="5791200" cy="930275"/>
            <a:chOff x="1536" y="2928"/>
            <a:chExt cx="3648" cy="586"/>
          </a:xfrm>
        </p:grpSpPr>
        <p:sp>
          <p:nvSpPr>
            <p:cNvPr id="5128" name="Text Box 5"/>
            <p:cNvSpPr txBox="1"/>
            <p:nvPr/>
          </p:nvSpPr>
          <p:spPr>
            <a:xfrm>
              <a:off x="1536" y="2928"/>
              <a:ext cx="36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sz="2400" b="1" dirty="0">
                  <a:latin typeface="Calibri" panose="020F0502020204030204" pitchFamily="34" charset="0"/>
                  <a:ea typeface="Arial" panose="020B0604020202020204" pitchFamily="34" charset="0"/>
                </a:rPr>
                <a:t>                        Manage the Unavoidable</a:t>
              </a:r>
            </a:p>
          </p:txBody>
        </p:sp>
        <p:sp>
          <p:nvSpPr>
            <p:cNvPr id="5129" name="Text Box 6"/>
            <p:cNvSpPr txBox="1"/>
            <p:nvPr/>
          </p:nvSpPr>
          <p:spPr>
            <a:xfrm>
              <a:off x="2832" y="3264"/>
              <a:ext cx="20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sz="2000" b="1" dirty="0">
                  <a:latin typeface="Calibri" panose="020F0502020204030204" pitchFamily="34" charset="0"/>
                  <a:ea typeface="Arial" panose="020B0604020202020204" pitchFamily="34" charset="0"/>
                </a:rPr>
                <a:t>ADAPTATION</a:t>
              </a:r>
            </a:p>
          </p:txBody>
        </p:sp>
      </p:grpSp>
      <p:pic>
        <p:nvPicPr>
          <p:cNvPr id="16391" name="Picture 7" descr="logo cg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921375"/>
            <a:ext cx="1219200" cy="784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6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6BC772"/>
          </a:solidFill>
          <a:ln w="9525" cap="flat" cmpd="sng">
            <a:solidFill>
              <a:srgbClr val="6BC77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pic>
        <p:nvPicPr>
          <p:cNvPr id="5127" name="Picture 4" descr="tit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19800"/>
            <a:ext cx="3657600" cy="838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" y="609600"/>
            <a:ext cx="9121775" cy="553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Oval 3"/>
          <p:cNvSpPr/>
          <p:nvPr/>
        </p:nvSpPr>
        <p:spPr>
          <a:xfrm>
            <a:off x="6324600" y="2819400"/>
            <a:ext cx="1828800" cy="1828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67200" y="2286000"/>
            <a:ext cx="2057400" cy="19812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9" name="TextBox 5"/>
          <p:cNvSpPr txBox="1"/>
          <p:nvPr/>
        </p:nvSpPr>
        <p:spPr>
          <a:xfrm>
            <a:off x="5648325" y="3200400"/>
            <a:ext cx="1524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2800" b="1" dirty="0">
                <a:solidFill>
                  <a:srgbClr val="1A04BC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GANGES</a:t>
            </a:r>
            <a:endParaRPr b="1" dirty="0">
              <a:solidFill>
                <a:srgbClr val="1A04BC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6150" name="TextBox 6"/>
          <p:cNvSpPr txBox="1"/>
          <p:nvPr/>
        </p:nvSpPr>
        <p:spPr>
          <a:xfrm>
            <a:off x="1676400" y="2371725"/>
            <a:ext cx="1524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2800" b="1" dirty="0">
                <a:solidFill>
                  <a:srgbClr val="1A04BC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INDUS</a:t>
            </a:r>
            <a:endParaRPr b="1" dirty="0">
              <a:solidFill>
                <a:srgbClr val="1A04BC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lid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9144000" cy="6515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Rectangle 3"/>
          <p:cNvSpPr/>
          <p:nvPr/>
        </p:nvSpPr>
        <p:spPr>
          <a:xfrm>
            <a:off x="0" y="6515100"/>
            <a:ext cx="9144000" cy="3810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7172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35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5" name="Rectangle 3"/>
          <p:cNvSpPr/>
          <p:nvPr/>
        </p:nvSpPr>
        <p:spPr>
          <a:xfrm>
            <a:off x="600075" y="6140450"/>
            <a:ext cx="7943850" cy="641350"/>
          </a:xfrm>
          <a:prstGeom prst="rect">
            <a:avLst/>
          </a:prstGeom>
          <a:noFill/>
          <a:ln w="9525">
            <a:noFill/>
          </a:ln>
        </p:spPr>
        <p:txBody>
          <a:bodyPr lIns="91248" tIns="45624" rIns="91248" bIns="45624" anchor="ctr" anchorCtr="0">
            <a:spAutoFit/>
          </a:bodyPr>
          <a:lstStyle/>
          <a:p>
            <a:r>
              <a:rPr b="1" dirty="0">
                <a:latin typeface="Calibri" panose="020F0502020204030204" pitchFamily="34" charset="0"/>
                <a:ea typeface="Arial" panose="020B0604020202020204" pitchFamily="34" charset="0"/>
              </a:rPr>
              <a:t>Figure : Relationship between disasters, and sectoral and national GDP</a:t>
            </a:r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Arial" panose="020B0604020202020204" pitchFamily="34" charset="0"/>
              </a:rPr>
              <a:t>		Source: Benson and Clay (2004)</a:t>
            </a:r>
          </a:p>
        </p:txBody>
      </p:sp>
      <p:pic>
        <p:nvPicPr>
          <p:cNvPr id="4" name="Picture 8" descr="logo cg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6080125"/>
            <a:ext cx="1219200" cy="777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/>
          <p:nvPr/>
        </p:nvSpPr>
        <p:spPr>
          <a:xfrm>
            <a:off x="381000" y="304800"/>
            <a:ext cx="8458200" cy="5692775"/>
          </a:xfrm>
          <a:prstGeom prst="rect">
            <a:avLst/>
          </a:prstGeom>
          <a:noFill/>
          <a:ln w="9525">
            <a:noFill/>
          </a:ln>
        </p:spPr>
        <p:txBody>
          <a:bodyPr lIns="91248" tIns="45624" rIns="91248" bIns="45624">
            <a:spAutoFit/>
          </a:bodyPr>
          <a:lstStyle/>
          <a:p>
            <a:r>
              <a:rPr sz="2800" b="1" dirty="0">
                <a:latin typeface="Calibri" panose="020F0502020204030204" pitchFamily="34" charset="0"/>
                <a:ea typeface="Arial" panose="020B0604020202020204" pitchFamily="34" charset="0"/>
              </a:rPr>
              <a:t>Case Study: 1998 Flood</a:t>
            </a:r>
          </a:p>
          <a:p>
            <a:endParaRPr sz="2800" b="1" dirty="0"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>
              <a:buChar char="•"/>
            </a:pP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 In FY 1999, Revenue fell short of target by 5.2%</a:t>
            </a:r>
          </a:p>
          <a:p>
            <a:pPr>
              <a:buChar char="•"/>
            </a:pP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 Expenditure exceeded target by 5.2%</a:t>
            </a:r>
          </a:p>
          <a:p>
            <a:pPr>
              <a:buChar char="•"/>
            </a:pP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 Exacerbating budget deficit on current account</a:t>
            </a:r>
          </a:p>
          <a:p>
            <a:pPr>
              <a:buChar char="•"/>
            </a:pP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 For the first time in recent years expenditure under </a:t>
            </a:r>
            <a:r>
              <a:rPr sz="2400" b="1" dirty="0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ADP exceeded its target by 2.4%</a:t>
            </a:r>
          </a:p>
          <a:p>
            <a:pPr>
              <a:buChar char="•"/>
            </a:pP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 This surge in ADP expenditure in part reflected the demand of post-flood rehab. Program, where expenditure for repairing damage to infrastructure was needed to be stepped up</a:t>
            </a:r>
          </a:p>
          <a:p>
            <a:pPr>
              <a:buChar char="•"/>
            </a:pP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 Overall deficit in public expenditure rose by 52.2 BnTk.</a:t>
            </a:r>
          </a:p>
          <a:p>
            <a:pPr>
              <a:buChar char="•"/>
            </a:pP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 Deficit was financed through a combination of enhanced deficit financing through the banking system and foreign Aid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/>
          <p:nvPr/>
        </p:nvSpPr>
        <p:spPr>
          <a:xfrm>
            <a:off x="304800" y="15240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sz="2400" dirty="0">
                <a:latin typeface="Calibri" panose="020F0502020204030204" pitchFamily="34" charset="0"/>
                <a:ea typeface="Arial" panose="020B0604020202020204" pitchFamily="34" charset="0"/>
              </a:rPr>
              <a:t>REDUCING VULNERABILITY</a:t>
            </a:r>
          </a:p>
        </p:txBody>
      </p:sp>
      <p:sp>
        <p:nvSpPr>
          <p:cNvPr id="10243" name="Rectangle 4"/>
          <p:cNvSpPr/>
          <p:nvPr/>
        </p:nvSpPr>
        <p:spPr>
          <a:xfrm>
            <a:off x="0" y="6356350"/>
            <a:ext cx="9906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244" name="Rectangle 2"/>
          <p:cNvSpPr/>
          <p:nvPr/>
        </p:nvSpPr>
        <p:spPr>
          <a:xfrm>
            <a:off x="0" y="-152400"/>
            <a:ext cx="9144000" cy="304800"/>
          </a:xfrm>
          <a:prstGeom prst="rect">
            <a:avLst/>
          </a:prstGeom>
          <a:solidFill>
            <a:srgbClr val="6BC772"/>
          </a:solidFill>
          <a:ln w="9525" cap="flat" cmpd="sng">
            <a:solidFill>
              <a:srgbClr val="6BC77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pSp>
        <p:nvGrpSpPr>
          <p:cNvPr id="10245" name="Group 7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10246" name="Picture 2" descr="Fiv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5760" cy="432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7" name="Rectangle 6"/>
            <p:cNvSpPr/>
            <p:nvPr/>
          </p:nvSpPr>
          <p:spPr>
            <a:xfrm>
              <a:off x="4944" y="3936"/>
              <a:ext cx="816" cy="38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7" name="Rectangle 3"/>
          <p:cNvSpPr/>
          <p:nvPr/>
        </p:nvSpPr>
        <p:spPr>
          <a:xfrm>
            <a:off x="0" y="6356350"/>
            <a:ext cx="9906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1268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6BC772"/>
          </a:solidFill>
          <a:ln w="9525" cap="flat" cmpd="sng">
            <a:solidFill>
              <a:srgbClr val="6BC77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7924800" y="6324600"/>
            <a:ext cx="12192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8" descr="logo cg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53163"/>
            <a:ext cx="947738" cy="604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5" descr="https://encrypted-tbn3.gstatic.com/images?q=tbn:ANd9GcSpDlVsSUXrB7aBfCy4GKz4_0quOi2IXaks-E6uu4y2cBMRUKDyP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304800"/>
            <a:ext cx="2438400" cy="6134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1" name="TextBox 1"/>
          <p:cNvSpPr txBox="1"/>
          <p:nvPr/>
        </p:nvSpPr>
        <p:spPr>
          <a:xfrm>
            <a:off x="228600" y="228600"/>
            <a:ext cx="8610600" cy="317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Understanding of Resilience</a:t>
            </a:r>
          </a:p>
          <a:p>
            <a:pPr>
              <a:buNone/>
            </a:pPr>
            <a:endParaRPr sz="1400" dirty="0"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sz="2400" dirty="0">
                <a:latin typeface="Calibri" panose="020F0502020204030204" pitchFamily="34" charset="0"/>
                <a:ea typeface="Arial" panose="020B0604020202020204" pitchFamily="34" charset="0"/>
              </a:rPr>
              <a:t>The ability of a substance or object to spring back into shape; elasticity.</a:t>
            </a:r>
          </a:p>
          <a:p>
            <a:pPr>
              <a:buNone/>
            </a:pPr>
            <a:endParaRPr sz="2400" dirty="0"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sz="2400" dirty="0">
                <a:latin typeface="Calibri" panose="020F0502020204030204" pitchFamily="34" charset="0"/>
                <a:ea typeface="Arial" panose="020B0604020202020204" pitchFamily="34" charset="0"/>
              </a:rPr>
              <a:t>The capacity to recover quickly from difficulties; </a:t>
            </a:r>
          </a:p>
          <a:p>
            <a:pPr>
              <a:buNone/>
            </a:pPr>
            <a:endParaRPr sz="1000" dirty="0"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sz="2800" b="1" i="1" dirty="0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Robustness with a certain degree of flexibility</a:t>
            </a:r>
          </a:p>
          <a:p>
            <a:pPr>
              <a:buNone/>
            </a:pPr>
            <a:r>
              <a:rPr sz="2800" b="1" i="1" dirty="0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Bounce back alone is not desirable (+Thrive)</a:t>
            </a:r>
          </a:p>
        </p:txBody>
      </p:sp>
      <p:sp>
        <p:nvSpPr>
          <p:cNvPr id="12292" name="TextBox 1"/>
          <p:cNvSpPr txBox="1"/>
          <p:nvPr/>
        </p:nvSpPr>
        <p:spPr>
          <a:xfrm>
            <a:off x="152400" y="3814763"/>
            <a:ext cx="6934200" cy="2724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  <a:p>
            <a:r>
              <a:rPr sz="2800" b="1" dirty="0">
                <a:latin typeface="Calibri" panose="020F0502020204030204" pitchFamily="34" charset="0"/>
                <a:ea typeface="Arial" panose="020B0604020202020204" pitchFamily="34" charset="0"/>
              </a:rPr>
              <a:t>Definition</a:t>
            </a:r>
            <a:endParaRPr sz="2400" b="1" dirty="0">
              <a:latin typeface="Calibri" panose="020F0502020204030204" pitchFamily="34" charset="0"/>
              <a:ea typeface="Arial" panose="020B0604020202020204" pitchFamily="34" charset="0"/>
            </a:endParaRPr>
          </a:p>
          <a:p>
            <a:endParaRPr sz="1100" dirty="0">
              <a:latin typeface="Calibri" panose="020F0502020204030204" pitchFamily="34" charset="0"/>
              <a:ea typeface="Arial" panose="020B0604020202020204" pitchFamily="34" charset="0"/>
            </a:endParaRPr>
          </a:p>
          <a:p>
            <a:r>
              <a:rPr sz="2200" dirty="0">
                <a:latin typeface="Calibri" panose="020F0502020204030204" pitchFamily="34" charset="0"/>
                <a:ea typeface="Arial" panose="020B0604020202020204" pitchFamily="34" charset="0"/>
              </a:rPr>
              <a:t>Resilience in a socio-economic system is defined as the capacity of a system to absorb disturbance and reorganize while undergoing change so as to still retain essentially </a:t>
            </a:r>
            <a:r>
              <a:rPr sz="2400" b="1" dirty="0">
                <a:latin typeface="Calibri" panose="020F0502020204030204" pitchFamily="34" charset="0"/>
                <a:ea typeface="Arial" panose="020B0604020202020204" pitchFamily="34" charset="0"/>
              </a:rPr>
              <a:t>the same function, structure, identity, and feedbacks </a:t>
            </a:r>
            <a:r>
              <a:rPr sz="2200" dirty="0">
                <a:latin typeface="Calibri" panose="020F0502020204030204" pitchFamily="34" charset="0"/>
                <a:ea typeface="Arial" panose="020B0604020202020204" pitchFamily="34" charset="0"/>
              </a:rPr>
              <a:t>(Holling, 1973; Walker et al., 2004).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0" y="6565900"/>
            <a:ext cx="9144000" cy="381000"/>
          </a:xfrm>
          <a:prstGeom prst="rect">
            <a:avLst/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6" name="Text Box 4"/>
          <p:cNvSpPr txBox="1"/>
          <p:nvPr/>
        </p:nvSpPr>
        <p:spPr>
          <a:xfrm>
            <a:off x="-549275" y="4151313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pic>
        <p:nvPicPr>
          <p:cNvPr id="13317" name="Picture 8" descr="logo cg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5943600"/>
            <a:ext cx="9906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8" name="Text Box 5"/>
          <p:cNvSpPr txBox="1"/>
          <p:nvPr/>
        </p:nvSpPr>
        <p:spPr>
          <a:xfrm>
            <a:off x="228600" y="457200"/>
            <a:ext cx="8686800" cy="5649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Climate parameters</a:t>
            </a:r>
          </a:p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Erratic behaviour of such parameters</a:t>
            </a:r>
          </a:p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   Flood</a:t>
            </a:r>
          </a:p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   Drought</a:t>
            </a:r>
          </a:p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   Salinity</a:t>
            </a:r>
          </a:p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   Cyclone storm surge</a:t>
            </a:r>
          </a:p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Other aspects: </a:t>
            </a:r>
          </a:p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   erosion, wave interaction, water logging</a:t>
            </a:r>
          </a:p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   land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Slide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400"/>
            <a:ext cx="9144000" cy="6686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Rectangle 3"/>
          <p:cNvSpPr/>
          <p:nvPr/>
        </p:nvSpPr>
        <p:spPr>
          <a:xfrm>
            <a:off x="0" y="6669088"/>
            <a:ext cx="9144000" cy="3810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14340" name="Rectangle 2"/>
          <p:cNvSpPr/>
          <p:nvPr/>
        </p:nvSpPr>
        <p:spPr>
          <a:xfrm>
            <a:off x="0" y="25400"/>
            <a:ext cx="9144000" cy="304800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 descr="Slid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9144000" cy="6572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3" name="Rectangle 3"/>
          <p:cNvSpPr/>
          <p:nvPr/>
        </p:nvSpPr>
        <p:spPr>
          <a:xfrm>
            <a:off x="0" y="6565900"/>
            <a:ext cx="9144000" cy="381000"/>
          </a:xfrm>
          <a:prstGeom prst="rect">
            <a:avLst/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15364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F-SouthAs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4" descr="Slide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Rectangle 3"/>
          <p:cNvSpPr/>
          <p:nvPr/>
        </p:nvSpPr>
        <p:spPr>
          <a:xfrm>
            <a:off x="0" y="6565900"/>
            <a:ext cx="9144000" cy="381000"/>
          </a:xfrm>
          <a:prstGeom prst="rect">
            <a:avLst/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7412" name="TextBox 5"/>
          <p:cNvSpPr txBox="1"/>
          <p:nvPr/>
        </p:nvSpPr>
        <p:spPr>
          <a:xfrm>
            <a:off x="5638800" y="6048375"/>
            <a:ext cx="27432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1200" b="1" i="1" dirty="0">
                <a:latin typeface="Calibri" panose="020F0502020204030204" pitchFamily="34" charset="0"/>
                <a:ea typeface="Arial" panose="020B0604020202020204" pitchFamily="34" charset="0"/>
              </a:rPr>
              <a:t>Source: Ahmed and Hussain, 2009</a:t>
            </a:r>
            <a:endParaRPr b="1" i="1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24800" y="152400"/>
            <a:ext cx="1219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4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Slid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8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82DF4F"/>
          </a:solidFill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264" tIns="45632" rIns="91264" bIns="45632" anchor="ctr" anchorCtr="0"/>
          <a:lstStyle/>
          <a:p>
            <a:pPr>
              <a:buNone/>
            </a:pPr>
            <a:endParaRPr dirty="0">
              <a:solidFill>
                <a:srgbClr val="FFFFFF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06" name="Line 2"/>
          <p:cNvSpPr/>
          <p:nvPr/>
        </p:nvSpPr>
        <p:spPr>
          <a:xfrm>
            <a:off x="838200" y="4546600"/>
            <a:ext cx="7391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7" name="Rectangle 3"/>
          <p:cNvSpPr/>
          <p:nvPr/>
        </p:nvSpPr>
        <p:spPr>
          <a:xfrm>
            <a:off x="4038600" y="3225800"/>
            <a:ext cx="152400" cy="1295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264" tIns="45632" rIns="91264" bIns="45632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08" name="Rectangle 4"/>
          <p:cNvSpPr/>
          <p:nvPr/>
        </p:nvSpPr>
        <p:spPr>
          <a:xfrm>
            <a:off x="5029200" y="2705100"/>
            <a:ext cx="152400" cy="1828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264" tIns="45632" rIns="91264" bIns="45632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09" name="Rectangle 5"/>
          <p:cNvSpPr/>
          <p:nvPr/>
        </p:nvSpPr>
        <p:spPr>
          <a:xfrm>
            <a:off x="6934200" y="787400"/>
            <a:ext cx="152400" cy="3733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264" tIns="45632" rIns="91264" bIns="45632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10" name="Rectangle 6"/>
          <p:cNvSpPr/>
          <p:nvPr/>
        </p:nvSpPr>
        <p:spPr>
          <a:xfrm>
            <a:off x="6019800" y="2095500"/>
            <a:ext cx="152400" cy="2438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264" tIns="45632" rIns="91264" bIns="45632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11" name="Rectangle 7" descr="Granite"/>
          <p:cNvSpPr/>
          <p:nvPr/>
        </p:nvSpPr>
        <p:spPr>
          <a:xfrm>
            <a:off x="914400" y="1346200"/>
            <a:ext cx="5943600" cy="177800"/>
          </a:xfrm>
          <a:prstGeom prst="rect">
            <a:avLst/>
          </a:prstGeom>
          <a:blipFill rotWithShape="1">
            <a:blip r:embed="rId2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264" tIns="45632" rIns="91264" bIns="45632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12" name="Rectangle 8"/>
          <p:cNvSpPr/>
          <p:nvPr/>
        </p:nvSpPr>
        <p:spPr>
          <a:xfrm>
            <a:off x="6019800" y="1104900"/>
            <a:ext cx="152400" cy="990600"/>
          </a:xfrm>
          <a:prstGeom prst="rect">
            <a:avLst/>
          </a:prstGeom>
          <a:solidFill>
            <a:srgbClr val="F61D0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264" tIns="45632" rIns="91264" bIns="45632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13" name="Rectangle 9"/>
          <p:cNvSpPr/>
          <p:nvPr/>
        </p:nvSpPr>
        <p:spPr>
          <a:xfrm>
            <a:off x="6934200" y="50800"/>
            <a:ext cx="152400" cy="990600"/>
          </a:xfrm>
          <a:prstGeom prst="rect">
            <a:avLst/>
          </a:prstGeom>
          <a:solidFill>
            <a:srgbClr val="F61D0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264" tIns="45632" rIns="91264" bIns="45632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14" name="Text Box 10"/>
          <p:cNvSpPr txBox="1"/>
          <p:nvPr/>
        </p:nvSpPr>
        <p:spPr>
          <a:xfrm>
            <a:off x="3924300" y="4597400"/>
            <a:ext cx="393700" cy="1612900"/>
          </a:xfrm>
          <a:prstGeom prst="rect">
            <a:avLst/>
          </a:prstGeom>
          <a:noFill/>
          <a:ln w="9525">
            <a:noFill/>
          </a:ln>
        </p:spPr>
        <p:txBody>
          <a:bodyPr vert="eaVert" lIns="91264" tIns="45632" rIns="91264" bIns="45632">
            <a:spAutoFit/>
          </a:bodyPr>
          <a:lstStyle/>
          <a:p>
            <a:pPr>
              <a:spcBef>
                <a:spcPct val="50000"/>
              </a:spcBef>
            </a:pPr>
            <a:r>
              <a:rPr sz="1400" b="1" dirty="0">
                <a:latin typeface="Calibri" panose="020F0502020204030204" pitchFamily="34" charset="0"/>
                <a:ea typeface="Arial" panose="020B0604020202020204" pitchFamily="34" charset="0"/>
              </a:rPr>
              <a:t>March 30 - April 1</a:t>
            </a:r>
          </a:p>
        </p:txBody>
      </p:sp>
      <p:sp>
        <p:nvSpPr>
          <p:cNvPr id="21515" name="Text Box 11"/>
          <p:cNvSpPr txBox="1"/>
          <p:nvPr/>
        </p:nvSpPr>
        <p:spPr>
          <a:xfrm>
            <a:off x="4905375" y="4622800"/>
            <a:ext cx="393700" cy="1447800"/>
          </a:xfrm>
          <a:prstGeom prst="rect">
            <a:avLst/>
          </a:prstGeom>
          <a:noFill/>
          <a:ln w="9525">
            <a:noFill/>
          </a:ln>
        </p:spPr>
        <p:txBody>
          <a:bodyPr vert="eaVert" lIns="91264" tIns="45632" rIns="91264" bIns="45632">
            <a:spAutoFit/>
          </a:bodyPr>
          <a:lstStyle/>
          <a:p>
            <a:pPr>
              <a:spcBef>
                <a:spcPct val="50000"/>
              </a:spcBef>
            </a:pPr>
            <a:r>
              <a:rPr sz="1400" b="1" dirty="0">
                <a:latin typeface="Calibri" panose="020F0502020204030204" pitchFamily="34" charset="0"/>
                <a:ea typeface="Arial" panose="020B0604020202020204" pitchFamily="34" charset="0"/>
              </a:rPr>
              <a:t>April 15</a:t>
            </a:r>
          </a:p>
        </p:txBody>
      </p:sp>
      <p:sp>
        <p:nvSpPr>
          <p:cNvPr id="21516" name="Text Box 12"/>
          <p:cNvSpPr txBox="1"/>
          <p:nvPr/>
        </p:nvSpPr>
        <p:spPr>
          <a:xfrm>
            <a:off x="5895975" y="4610100"/>
            <a:ext cx="393700" cy="1485900"/>
          </a:xfrm>
          <a:prstGeom prst="rect">
            <a:avLst/>
          </a:prstGeom>
          <a:noFill/>
          <a:ln w="9525">
            <a:noFill/>
          </a:ln>
        </p:spPr>
        <p:txBody>
          <a:bodyPr vert="eaVert" lIns="91264" tIns="45632" rIns="91264" bIns="45632">
            <a:spAutoFit/>
          </a:bodyPr>
          <a:lstStyle/>
          <a:p>
            <a:pPr>
              <a:spcBef>
                <a:spcPct val="50000"/>
              </a:spcBef>
            </a:pPr>
            <a:r>
              <a:rPr sz="1400" b="1" dirty="0">
                <a:latin typeface="Calibri" panose="020F0502020204030204" pitchFamily="34" charset="0"/>
                <a:ea typeface="Arial" panose="020B0604020202020204" pitchFamily="34" charset="0"/>
              </a:rPr>
              <a:t>April 30 - May 1</a:t>
            </a:r>
          </a:p>
        </p:txBody>
      </p:sp>
      <p:sp>
        <p:nvSpPr>
          <p:cNvPr id="21517" name="Text Box 13"/>
          <p:cNvSpPr txBox="1"/>
          <p:nvPr/>
        </p:nvSpPr>
        <p:spPr>
          <a:xfrm>
            <a:off x="6832600" y="4648200"/>
            <a:ext cx="393700" cy="762000"/>
          </a:xfrm>
          <a:prstGeom prst="rect">
            <a:avLst/>
          </a:prstGeom>
          <a:noFill/>
          <a:ln w="9525">
            <a:noFill/>
          </a:ln>
        </p:spPr>
        <p:txBody>
          <a:bodyPr vert="eaVert" lIns="91264" tIns="45632" rIns="91264" bIns="45632">
            <a:spAutoFit/>
          </a:bodyPr>
          <a:lstStyle/>
          <a:p>
            <a:pPr>
              <a:spcBef>
                <a:spcPct val="50000"/>
              </a:spcBef>
            </a:pPr>
            <a:r>
              <a:rPr sz="1400" b="1" dirty="0">
                <a:latin typeface="Calibri" panose="020F0502020204030204" pitchFamily="34" charset="0"/>
                <a:ea typeface="Arial" panose="020B0604020202020204" pitchFamily="34" charset="0"/>
              </a:rPr>
              <a:t>May 15</a:t>
            </a:r>
          </a:p>
        </p:txBody>
      </p:sp>
      <p:sp>
        <p:nvSpPr>
          <p:cNvPr id="21518" name="Rectangle 14"/>
          <p:cNvSpPr/>
          <p:nvPr/>
        </p:nvSpPr>
        <p:spPr>
          <a:xfrm>
            <a:off x="6324600" y="1549400"/>
            <a:ext cx="152400" cy="297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264" tIns="45632" rIns="91264" bIns="45632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19" name="Text Box 15"/>
          <p:cNvSpPr txBox="1"/>
          <p:nvPr/>
        </p:nvSpPr>
        <p:spPr>
          <a:xfrm>
            <a:off x="304800" y="2057400"/>
            <a:ext cx="396875" cy="2219325"/>
          </a:xfrm>
          <a:prstGeom prst="rect">
            <a:avLst/>
          </a:prstGeom>
          <a:noFill/>
          <a:ln w="9525">
            <a:noFill/>
          </a:ln>
        </p:spPr>
        <p:txBody>
          <a:bodyPr lIns="91264" tIns="45632" rIns="91264" bIns="45632">
            <a:spAutoFit/>
          </a:bodyPr>
          <a:lstStyle/>
          <a:p>
            <a:pPr>
              <a:spcBef>
                <a:spcPct val="50000"/>
              </a:spcBef>
            </a:pPr>
            <a:r>
              <a:rPr sz="1400" b="1" dirty="0">
                <a:latin typeface="Calibri" panose="020F0502020204030204" pitchFamily="34" charset="0"/>
                <a:ea typeface="Arial" panose="020B0604020202020204" pitchFamily="34" charset="0"/>
              </a:rPr>
              <a:t>WATER LEVEL</a:t>
            </a:r>
          </a:p>
        </p:txBody>
      </p:sp>
      <p:sp>
        <p:nvSpPr>
          <p:cNvPr id="21520" name="Text Box 16"/>
          <p:cNvSpPr txBox="1"/>
          <p:nvPr/>
        </p:nvSpPr>
        <p:spPr>
          <a:xfrm>
            <a:off x="914400" y="4724400"/>
            <a:ext cx="2743200" cy="304800"/>
          </a:xfrm>
          <a:prstGeom prst="rect">
            <a:avLst/>
          </a:prstGeom>
          <a:noFill/>
          <a:ln w="9525">
            <a:noFill/>
          </a:ln>
        </p:spPr>
        <p:txBody>
          <a:bodyPr lIns="91264" tIns="45632" rIns="91264" bIns="45632">
            <a:spAutoFit/>
          </a:bodyPr>
          <a:lstStyle/>
          <a:p>
            <a:pPr>
              <a:spcBef>
                <a:spcPct val="50000"/>
              </a:spcBef>
            </a:pPr>
            <a:r>
              <a:rPr sz="1400" b="1" dirty="0">
                <a:latin typeface="Calibri" panose="020F0502020204030204" pitchFamily="34" charset="0"/>
                <a:ea typeface="Arial" panose="020B0604020202020204" pitchFamily="34" charset="0"/>
              </a:rPr>
              <a:t>TIME FRAME</a:t>
            </a:r>
          </a:p>
        </p:txBody>
      </p:sp>
      <p:sp>
        <p:nvSpPr>
          <p:cNvPr id="21521" name="Line 17"/>
          <p:cNvSpPr/>
          <p:nvPr/>
        </p:nvSpPr>
        <p:spPr>
          <a:xfrm flipV="1">
            <a:off x="685800" y="1905000"/>
            <a:ext cx="0" cy="2286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21522" name="Line 18"/>
          <p:cNvSpPr/>
          <p:nvPr/>
        </p:nvSpPr>
        <p:spPr>
          <a:xfrm>
            <a:off x="1066800" y="5029200"/>
            <a:ext cx="2590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21523" name="Rectangle 19"/>
          <p:cNvSpPr/>
          <p:nvPr/>
        </p:nvSpPr>
        <p:spPr>
          <a:xfrm>
            <a:off x="2933700" y="6129338"/>
            <a:ext cx="458788" cy="920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vert="eaVert" wrap="none" lIns="91264" tIns="45632" rIns="91264" bIns="45632" anchor="ctr" anchorCtr="0">
            <a:spAutoFit/>
          </a:bodyPr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24" name="Text Box 20"/>
          <p:cNvSpPr txBox="1"/>
          <p:nvPr/>
        </p:nvSpPr>
        <p:spPr>
          <a:xfrm>
            <a:off x="381000" y="6205538"/>
            <a:ext cx="4724400" cy="366712"/>
          </a:xfrm>
          <a:prstGeom prst="rect">
            <a:avLst/>
          </a:prstGeom>
          <a:noFill/>
          <a:ln w="9525">
            <a:noFill/>
          </a:ln>
        </p:spPr>
        <p:txBody>
          <a:bodyPr lIns="91264" tIns="45632" rIns="91264" bIns="45632">
            <a:spAutoFit/>
          </a:bodyPr>
          <a:lstStyle/>
          <a:p>
            <a:pPr>
              <a:spcBef>
                <a:spcPct val="50000"/>
              </a:spcBef>
            </a:pPr>
            <a:r>
              <a:rPr b="1" dirty="0">
                <a:solidFill>
                  <a:srgbClr val="008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SAFE  TIME  FOR  BORO  HARVEST</a:t>
            </a:r>
          </a:p>
        </p:txBody>
      </p:sp>
      <p:sp>
        <p:nvSpPr>
          <p:cNvPr id="21525" name="Line 21"/>
          <p:cNvSpPr/>
          <p:nvPr/>
        </p:nvSpPr>
        <p:spPr>
          <a:xfrm>
            <a:off x="4495800" y="6357938"/>
            <a:ext cx="1905000" cy="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479" name="Text Box 22"/>
          <p:cNvSpPr txBox="1"/>
          <p:nvPr/>
        </p:nvSpPr>
        <p:spPr>
          <a:xfrm>
            <a:off x="914400" y="1295400"/>
            <a:ext cx="3581400" cy="304800"/>
          </a:xfrm>
          <a:prstGeom prst="rect">
            <a:avLst/>
          </a:prstGeom>
          <a:noFill/>
          <a:ln w="9525">
            <a:noFill/>
          </a:ln>
        </p:spPr>
        <p:txBody>
          <a:bodyPr lIns="91264" tIns="45632" rIns="91264" bIns="45632">
            <a:spAutoFit/>
          </a:bodyPr>
          <a:lstStyle/>
          <a:p>
            <a:pPr algn="r">
              <a:spcBef>
                <a:spcPct val="50000"/>
              </a:spcBef>
            </a:pPr>
            <a:r>
              <a:rPr sz="14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Allowable Water Level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914400" y="533400"/>
            <a:ext cx="5867400" cy="304800"/>
            <a:chOff x="576" y="336"/>
            <a:chExt cx="3696" cy="192"/>
          </a:xfrm>
        </p:grpSpPr>
        <p:sp>
          <p:nvSpPr>
            <p:cNvPr id="19485" name="Line 24"/>
            <p:cNvSpPr/>
            <p:nvPr/>
          </p:nvSpPr>
          <p:spPr>
            <a:xfrm>
              <a:off x="576" y="528"/>
              <a:ext cx="3696" cy="0"/>
            </a:xfrm>
            <a:prstGeom prst="line">
              <a:avLst/>
            </a:prstGeom>
            <a:ln w="57150" cap="flat" cmpd="sng">
              <a:solidFill>
                <a:srgbClr val="0080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9486" name="Text Box 25"/>
            <p:cNvSpPr txBox="1"/>
            <p:nvPr/>
          </p:nvSpPr>
          <p:spPr>
            <a:xfrm>
              <a:off x="736" y="336"/>
              <a:ext cx="292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264" tIns="45632" rIns="91264" bIns="45632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sz="1400" b="1" dirty="0">
                  <a:latin typeface="Calibri" panose="020F0502020204030204" pitchFamily="34" charset="0"/>
                  <a:ea typeface="Arial" panose="020B0604020202020204" pitchFamily="34" charset="0"/>
                </a:rPr>
                <a:t>Expected new crest height (by means of adaptation)</a:t>
              </a:r>
            </a:p>
          </p:txBody>
        </p:sp>
      </p:grpSp>
      <p:pic>
        <p:nvPicPr>
          <p:cNvPr id="21530" name="Picture 26" descr="flood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374900"/>
            <a:ext cx="3124200" cy="1936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31" name="Text Box 27"/>
          <p:cNvSpPr txBox="1"/>
          <p:nvPr/>
        </p:nvSpPr>
        <p:spPr>
          <a:xfrm>
            <a:off x="7620000" y="971550"/>
            <a:ext cx="1295400" cy="1314450"/>
          </a:xfrm>
          <a:prstGeom prst="rect">
            <a:avLst/>
          </a:prstGeom>
          <a:noFill/>
          <a:ln w="9525">
            <a:noFill/>
          </a:ln>
        </p:spPr>
        <p:txBody>
          <a:bodyPr lIns="91264" tIns="45632" rIns="91264" bIns="45632">
            <a:spAutoFit/>
          </a:bodyPr>
          <a:lstStyle/>
          <a:p>
            <a:pPr>
              <a:spcBef>
                <a:spcPct val="50000"/>
              </a:spcBef>
            </a:pPr>
            <a:r>
              <a:rPr sz="1600" b="1" dirty="0">
                <a:solidFill>
                  <a:srgbClr val="F61D06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Climate Change induced increased water level</a:t>
            </a:r>
          </a:p>
        </p:txBody>
      </p:sp>
      <p:pic>
        <p:nvPicPr>
          <p:cNvPr id="19483" name="Picture 28" descr="CGC logo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5791200"/>
            <a:ext cx="914400" cy="582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84" name="Rectangle 29"/>
          <p:cNvSpPr/>
          <p:nvPr/>
        </p:nvSpPr>
        <p:spPr>
          <a:xfrm>
            <a:off x="-76200" y="6586538"/>
            <a:ext cx="9296400" cy="304800"/>
          </a:xfrm>
          <a:prstGeom prst="rect">
            <a:avLst/>
          </a:prstGeom>
          <a:solidFill>
            <a:srgbClr val="3E8218"/>
          </a:solidFill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264" tIns="45632" rIns="91264" bIns="45632" anchor="ctr" anchorCtr="0"/>
          <a:lstStyle/>
          <a:p>
            <a:pPr>
              <a:buNone/>
            </a:pPr>
            <a:endParaRPr dirty="0">
              <a:solidFill>
                <a:srgbClr val="FFFFFF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30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3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10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21508" grpId="0" animBg="1"/>
      <p:bldP spid="21509" grpId="0" animBg="1"/>
      <p:bldP spid="21510" grpId="0" animBg="1"/>
      <p:bldP spid="21511" grpId="0" animBg="1"/>
      <p:bldP spid="21512" grpId="0" animBg="1"/>
      <p:bldP spid="21513" grpId="0" animBg="1"/>
      <p:bldP spid="21514" grpId="0"/>
      <p:bldP spid="21515" grpId="0"/>
      <p:bldP spid="21516" grpId="0"/>
      <p:bldP spid="21517" grpId="0"/>
      <p:bldP spid="21518" grpId="0" animBg="1"/>
      <p:bldP spid="21519" grpId="0"/>
      <p:bldP spid="21520" grpId="0"/>
      <p:bldP spid="21523" grpId="0" animBg="1"/>
      <p:bldP spid="21524" grpId="0"/>
      <p:bldP spid="21524" grpId="1"/>
      <p:bldP spid="215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Slide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3" name="Rectangle 3"/>
          <p:cNvSpPr/>
          <p:nvPr/>
        </p:nvSpPr>
        <p:spPr>
          <a:xfrm>
            <a:off x="1092200" y="6565900"/>
            <a:ext cx="8077200" cy="3810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20484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 descr="Slide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7" name="Rectangle 3"/>
          <p:cNvSpPr/>
          <p:nvPr/>
        </p:nvSpPr>
        <p:spPr>
          <a:xfrm>
            <a:off x="0" y="6565900"/>
            <a:ext cx="9144000" cy="381000"/>
          </a:xfrm>
          <a:prstGeom prst="rect">
            <a:avLst/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08" name="Text Box 5"/>
          <p:cNvSpPr txBox="1"/>
          <p:nvPr/>
        </p:nvSpPr>
        <p:spPr>
          <a:xfrm>
            <a:off x="152400" y="5957888"/>
            <a:ext cx="47244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sz="14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Climate Change Impacts on Bangladesh’s Economy</a:t>
            </a:r>
          </a:p>
        </p:txBody>
      </p:sp>
      <p:sp>
        <p:nvSpPr>
          <p:cNvPr id="21509" name="Text Box 6"/>
          <p:cNvSpPr txBox="1"/>
          <p:nvPr/>
        </p:nvSpPr>
        <p:spPr>
          <a:xfrm>
            <a:off x="5181600" y="5943600"/>
            <a:ext cx="4090988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sz="14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Sharing Meeting, 12 March 2011, Dhaka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4800" y="39688"/>
            <a:ext cx="1219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11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12" name="TextBox 9"/>
          <p:cNvSpPr txBox="1"/>
          <p:nvPr/>
        </p:nvSpPr>
        <p:spPr>
          <a:xfrm>
            <a:off x="5653088" y="5948363"/>
            <a:ext cx="2743200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1200" b="1" i="1" dirty="0">
                <a:latin typeface="Calibri" panose="020F0502020204030204" pitchFamily="34" charset="0"/>
                <a:ea typeface="Arial" panose="020B0604020202020204" pitchFamily="34" charset="0"/>
              </a:rPr>
              <a:t>Source: Ahmed and Hussain, 2009</a:t>
            </a:r>
            <a:endParaRPr b="1" i="1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 descr="Slide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2532" name="Rectangle 3"/>
          <p:cNvSpPr/>
          <p:nvPr/>
        </p:nvSpPr>
        <p:spPr>
          <a:xfrm>
            <a:off x="0" y="6565900"/>
            <a:ext cx="9144000" cy="381000"/>
          </a:xfrm>
          <a:prstGeom prst="rect">
            <a:avLst/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pic>
        <p:nvPicPr>
          <p:cNvPr id="22533" name="Picture 5" descr="CSRL_n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0"/>
            <a:ext cx="914400" cy="52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4" name="TextBox 5"/>
          <p:cNvSpPr txBox="1"/>
          <p:nvPr/>
        </p:nvSpPr>
        <p:spPr>
          <a:xfrm>
            <a:off x="5638800" y="6048375"/>
            <a:ext cx="27432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1200" b="1" i="1" dirty="0">
                <a:latin typeface="Calibri" panose="020F0502020204030204" pitchFamily="34" charset="0"/>
                <a:ea typeface="Arial" panose="020B0604020202020204" pitchFamily="34" charset="0"/>
              </a:rPr>
              <a:t>Source: Ahmed and Hussain, 2009</a:t>
            </a:r>
            <a:endParaRPr b="1" i="1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Slide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Oval 3"/>
          <p:cNvSpPr/>
          <p:nvPr/>
        </p:nvSpPr>
        <p:spPr>
          <a:xfrm>
            <a:off x="3276600" y="1981200"/>
            <a:ext cx="914400" cy="533400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3556" name="Oval 4"/>
          <p:cNvSpPr/>
          <p:nvPr/>
        </p:nvSpPr>
        <p:spPr>
          <a:xfrm>
            <a:off x="3276600" y="3733800"/>
            <a:ext cx="914400" cy="533400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3557" name="Line 5"/>
          <p:cNvSpPr/>
          <p:nvPr/>
        </p:nvSpPr>
        <p:spPr>
          <a:xfrm>
            <a:off x="4191000" y="4038600"/>
            <a:ext cx="3124200" cy="1371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23558" name="Oval 6"/>
          <p:cNvSpPr/>
          <p:nvPr/>
        </p:nvSpPr>
        <p:spPr>
          <a:xfrm>
            <a:off x="7391400" y="5181600"/>
            <a:ext cx="914400" cy="609600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Slide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987"/>
            <a:ext cx="9144000" cy="6686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Rectangle 3"/>
          <p:cNvSpPr/>
          <p:nvPr/>
        </p:nvSpPr>
        <p:spPr>
          <a:xfrm>
            <a:off x="0" y="6565900"/>
            <a:ext cx="9144000" cy="3810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24580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24581" name="TextBox 4"/>
          <p:cNvSpPr txBox="1"/>
          <p:nvPr/>
        </p:nvSpPr>
        <p:spPr>
          <a:xfrm>
            <a:off x="4191000" y="4495800"/>
            <a:ext cx="2667000" cy="261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1100" b="1" i="1" dirty="0">
                <a:latin typeface="Times New Roman" panose="02020603050405020304" pitchFamily="18" charset="0"/>
                <a:ea typeface="Arial" panose="020B0604020202020204" pitchFamily="34" charset="0"/>
              </a:rPr>
              <a:t>Source: CEGIS, 2006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 descr="Slide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5604" name="Rectangle 3"/>
          <p:cNvSpPr/>
          <p:nvPr/>
        </p:nvSpPr>
        <p:spPr>
          <a:xfrm>
            <a:off x="0" y="6565900"/>
            <a:ext cx="9144000" cy="381000"/>
          </a:xfrm>
          <a:prstGeom prst="rect">
            <a:avLst/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pic>
        <p:nvPicPr>
          <p:cNvPr id="25605" name="Picture 5" descr="CSRL_n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1143000" cy="657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6" name="Text Box 8"/>
          <p:cNvSpPr txBox="1"/>
          <p:nvPr/>
        </p:nvSpPr>
        <p:spPr>
          <a:xfrm>
            <a:off x="304800" y="4953000"/>
            <a:ext cx="7620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sz="2800" dirty="0">
                <a:latin typeface="Calibri" panose="020F0502020204030204" pitchFamily="34" charset="0"/>
                <a:ea typeface="Arial" panose="020B0604020202020204" pitchFamily="34" charset="0"/>
              </a:rPr>
              <a:t>The coastal areas will be hit hard due to a combination of hazards.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Slide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7" name="Rectangle 3"/>
          <p:cNvSpPr/>
          <p:nvPr/>
        </p:nvSpPr>
        <p:spPr>
          <a:xfrm>
            <a:off x="1204913" y="6548438"/>
            <a:ext cx="9144000" cy="3810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26628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26629" name="TextBox 4"/>
          <p:cNvSpPr txBox="1"/>
          <p:nvPr/>
        </p:nvSpPr>
        <p:spPr>
          <a:xfrm>
            <a:off x="6172200" y="4800600"/>
            <a:ext cx="2667000" cy="261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/>
            <a:r>
              <a:rPr sz="1100" b="1" i="1" dirty="0">
                <a:latin typeface="Times New Roman" panose="02020603050405020304" pitchFamily="18" charset="0"/>
                <a:ea typeface="Arial" panose="020B0604020202020204" pitchFamily="34" charset="0"/>
              </a:rPr>
              <a:t>Source: CEGIS, 2006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Slide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9144000" cy="6161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1" name="Rectangle 3"/>
          <p:cNvSpPr/>
          <p:nvPr/>
        </p:nvSpPr>
        <p:spPr>
          <a:xfrm>
            <a:off x="0" y="6553200"/>
            <a:ext cx="9144000" cy="3810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27652" name="Rectangle 2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27653" name="TextBox 4"/>
          <p:cNvSpPr txBox="1"/>
          <p:nvPr/>
        </p:nvSpPr>
        <p:spPr>
          <a:xfrm>
            <a:off x="4191000" y="3429000"/>
            <a:ext cx="2667000" cy="261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1100" b="1" i="1" dirty="0">
                <a:latin typeface="Times New Roman" panose="02020603050405020304" pitchFamily="18" charset="0"/>
                <a:ea typeface="Arial" panose="020B0604020202020204" pitchFamily="34" charset="0"/>
              </a:rPr>
              <a:t>Source: CEGIS, 2006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426</Words>
  <Application>Microsoft Office PowerPoint</Application>
  <PresentationFormat>On-screen Show (4:3)</PresentationFormat>
  <Paragraphs>75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Climate Change , Vulnerability and Basic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ADMIN</cp:lastModifiedBy>
  <cp:revision>7</cp:revision>
  <dcterms:created xsi:type="dcterms:W3CDTF">2019-09-15T06:34:13Z</dcterms:created>
  <dcterms:modified xsi:type="dcterms:W3CDTF">2024-06-24T10:53:28Z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6549E15189F1430897F324950C8829A8</vt:lpwstr>
  </property>
  <property fmtid="{D5CDD505-2E9C-101B-9397-08002B2CF9AE}" pid="3" name="KSOProductBuildVer">
    <vt:lpwstr>1033-11.2.0.11254</vt:lpwstr>
  </property>
</Properties>
</file>