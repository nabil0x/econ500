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76" r:id="rId4"/>
    <p:sldId id="274" r:id="rId5"/>
    <p:sldId id="277" r:id="rId6"/>
    <p:sldId id="278" r:id="rId7"/>
    <p:sldId id="279" r:id="rId8"/>
    <p:sldId id="280" r:id="rId9"/>
    <p:sldId id="281" r:id="rId10"/>
    <p:sldId id="282" r:id="rId11"/>
    <p:sldId id="283" r:id="rId12"/>
    <p:sldId id="284" r:id="rId13"/>
    <p:sldId id="269" r:id="rId14"/>
    <p:sldId id="270" r:id="rId15"/>
    <p:sldId id="271" r:id="rId16"/>
    <p:sldId id="272" r:id="rId17"/>
    <p:sldId id="273" r:id="rId18"/>
    <p:sldId id="28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4660"/>
  </p:normalViewPr>
  <p:slideViewPr>
    <p:cSldViewPr snapToGrid="0">
      <p:cViewPr varScale="1">
        <p:scale>
          <a:sx n="72" d="100"/>
          <a:sy n="72" d="100"/>
        </p:scale>
        <p:origin x="73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18709-53E1-4334-BF16-98BE099A2C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2E3C01-75AF-437F-A9DF-07379A5B98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43CA91-2408-414C-BE9F-0D023B3775D6}"/>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5" name="Footer Placeholder 4">
            <a:extLst>
              <a:ext uri="{FF2B5EF4-FFF2-40B4-BE49-F238E27FC236}">
                <a16:creationId xmlns:a16="http://schemas.microsoft.com/office/drawing/2014/main" id="{38B601EB-68B1-49F3-BF14-6C86FF5B66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5018AE-F7AD-45FB-A3BC-E42B34A307EC}"/>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1160700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F4A91-1106-421D-B464-01CA59F54E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19E2BC-03B0-48C9-88C8-B7F247A89C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D0A6CA-A076-4599-A744-5D8E5341FF7C}"/>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5" name="Footer Placeholder 4">
            <a:extLst>
              <a:ext uri="{FF2B5EF4-FFF2-40B4-BE49-F238E27FC236}">
                <a16:creationId xmlns:a16="http://schemas.microsoft.com/office/drawing/2014/main" id="{43330FBC-0E66-4A9A-96A9-4D6332D9A4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360C1B-9DDE-4CFD-8082-C382134D5585}"/>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3855741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79D86-3A31-4B9E-93F3-E5120A3302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24AA7D-6371-4175-AA8C-9C5BAAD22C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BBD9A1-B74B-42E7-891C-7B42420868AE}"/>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5" name="Footer Placeholder 4">
            <a:extLst>
              <a:ext uri="{FF2B5EF4-FFF2-40B4-BE49-F238E27FC236}">
                <a16:creationId xmlns:a16="http://schemas.microsoft.com/office/drawing/2014/main" id="{C1A25DEE-98FF-4E81-A0D8-BD830899EA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2D26DE-3462-4CAA-A5B1-FFBFAC3A599C}"/>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3871183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598EF-C559-4613-8381-2B21EBAECD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5FA5F1-ED5C-4D4D-9FAB-04CB278C2E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93F341-C8E8-4BCC-9464-76ACC0F5FC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474695-BB23-4EF5-8532-9AC824B32656}"/>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6" name="Footer Placeholder 5">
            <a:extLst>
              <a:ext uri="{FF2B5EF4-FFF2-40B4-BE49-F238E27FC236}">
                <a16:creationId xmlns:a16="http://schemas.microsoft.com/office/drawing/2014/main" id="{D69B267C-9CE7-4A2E-846B-77DD9E1BD1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812F80-6039-469C-89F1-F5030228F9E6}"/>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2749170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ED158-275A-4556-B539-FA2C86148B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4C3040-8B7A-4376-9FFE-12B8C2AEBB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6BBC93-6038-44AF-81CF-4D14E68CA2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9FF784-8EA6-4083-8129-0129AB2F04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1EEE7E-1626-4687-AB2B-FC248B91C1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0C7744-8743-4124-98D9-DC7414C15213}"/>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8" name="Footer Placeholder 7">
            <a:extLst>
              <a:ext uri="{FF2B5EF4-FFF2-40B4-BE49-F238E27FC236}">
                <a16:creationId xmlns:a16="http://schemas.microsoft.com/office/drawing/2014/main" id="{22117D65-739D-445C-B64C-F31C6D18FE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67460E-27CC-4C27-9181-6C5D546C0E9F}"/>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4187991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336D8-F533-4C28-88AA-2DBEC0AB8F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B11EA5-7B2F-4D49-8D60-950EB59758F0}"/>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4" name="Footer Placeholder 3">
            <a:extLst>
              <a:ext uri="{FF2B5EF4-FFF2-40B4-BE49-F238E27FC236}">
                <a16:creationId xmlns:a16="http://schemas.microsoft.com/office/drawing/2014/main" id="{BFAF8D02-03FE-4187-84FB-04BC5E5B05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2EF913-512D-425D-90D2-B56A7D163F2C}"/>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2492388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C1DF86-3139-49A5-8DFF-57E2B58807AF}"/>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3" name="Footer Placeholder 2">
            <a:extLst>
              <a:ext uri="{FF2B5EF4-FFF2-40B4-BE49-F238E27FC236}">
                <a16:creationId xmlns:a16="http://schemas.microsoft.com/office/drawing/2014/main" id="{2B6A2753-8D90-4444-8695-1BB9202A6C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038A22-3D93-45BB-8FEF-5E9B5A9E44F6}"/>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255061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A99A-B0BD-44C0-BD99-7EC31E36CF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C9FD0E-060E-4434-9CBC-AA496F404A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A1B6E3-0FAB-4B96-B395-DF7C9ADD48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36FE97-C8AB-4AA3-81CF-134F9B10F9E9}"/>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6" name="Footer Placeholder 5">
            <a:extLst>
              <a:ext uri="{FF2B5EF4-FFF2-40B4-BE49-F238E27FC236}">
                <a16:creationId xmlns:a16="http://schemas.microsoft.com/office/drawing/2014/main" id="{98232BE5-77FD-47AF-A71D-6C816FA657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9132AD-5729-486F-885A-ED0F05380C9D}"/>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2111610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C16B8-A2B9-4717-8C4D-323E44AA73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870C78-4369-453E-940E-C8199CA58F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5A63C9-54BF-4185-8293-D8C1759DD3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A003BC-F8CF-454C-8E65-B94C25A6B90D}"/>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6" name="Footer Placeholder 5">
            <a:extLst>
              <a:ext uri="{FF2B5EF4-FFF2-40B4-BE49-F238E27FC236}">
                <a16:creationId xmlns:a16="http://schemas.microsoft.com/office/drawing/2014/main" id="{1334B41A-873D-4154-92B1-AECB705C4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76AFE5-277C-4E18-A3C1-3BB8DFF88F33}"/>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3481456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95CF7-F731-4F54-B17E-B5AA537031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62FC9C-8D2C-4147-92FC-6BCE3BAD0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BC8F9E-1EDA-4FF6-B814-49141D3C390B}"/>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5" name="Footer Placeholder 4">
            <a:extLst>
              <a:ext uri="{FF2B5EF4-FFF2-40B4-BE49-F238E27FC236}">
                <a16:creationId xmlns:a16="http://schemas.microsoft.com/office/drawing/2014/main" id="{9E486453-3652-4C16-916C-6929A5E6BE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2895D4-6F99-4F57-8E4C-5AEF9427D828}"/>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176408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88886D-990A-43CC-9FB0-14748252BB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192408-95DA-47A2-A786-42F5861C82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EC4724-C476-4A54-B630-CEAC9EC5E14F}"/>
              </a:ext>
            </a:extLst>
          </p:cNvPr>
          <p:cNvSpPr>
            <a:spLocks noGrp="1"/>
          </p:cNvSpPr>
          <p:nvPr>
            <p:ph type="dt" sz="half" idx="10"/>
          </p:nvPr>
        </p:nvSpPr>
        <p:spPr/>
        <p:txBody>
          <a:bodyPr/>
          <a:lstStyle/>
          <a:p>
            <a:fld id="{5FFDA050-9DA4-4B46-ABDF-31C5D7CE8D40}" type="datetimeFigureOut">
              <a:rPr lang="en-US" smtClean="0"/>
              <a:t>9/12/2024</a:t>
            </a:fld>
            <a:endParaRPr lang="en-US"/>
          </a:p>
        </p:txBody>
      </p:sp>
      <p:sp>
        <p:nvSpPr>
          <p:cNvPr id="5" name="Footer Placeholder 4">
            <a:extLst>
              <a:ext uri="{FF2B5EF4-FFF2-40B4-BE49-F238E27FC236}">
                <a16:creationId xmlns:a16="http://schemas.microsoft.com/office/drawing/2014/main" id="{8115C19F-DA34-48E0-8C54-7244D5A6EE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E70CE-EC23-42FC-894E-44F64C8E33B5}"/>
              </a:ext>
            </a:extLst>
          </p:cNvPr>
          <p:cNvSpPr>
            <a:spLocks noGrp="1"/>
          </p:cNvSpPr>
          <p:nvPr>
            <p:ph type="sldNum" sz="quarter" idx="12"/>
          </p:nvPr>
        </p:nvSpPr>
        <p:spPr/>
        <p:txBody>
          <a:bodyPr/>
          <a:lstStyle/>
          <a:p>
            <a:fld id="{00FE4FE1-F027-43D6-8623-A7533F73F5F3}" type="slidenum">
              <a:rPr lang="en-US" smtClean="0"/>
              <a:t>‹#›</a:t>
            </a:fld>
            <a:endParaRPr lang="en-US"/>
          </a:p>
        </p:txBody>
      </p:sp>
    </p:spTree>
    <p:extLst>
      <p:ext uri="{BB962C8B-B14F-4D97-AF65-F5344CB8AC3E}">
        <p14:creationId xmlns:p14="http://schemas.microsoft.com/office/powerpoint/2010/main" val="42075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60AB7F-2CD9-4CED-B60C-BCC434922C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8990B3-BE28-40F8-AC73-05644D6DD8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CBDD93-CB38-4C8B-999E-53BF72C6EF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FDA050-9DA4-4B46-ABDF-31C5D7CE8D40}" type="datetimeFigureOut">
              <a:rPr lang="en-US" smtClean="0"/>
              <a:t>9/12/2024</a:t>
            </a:fld>
            <a:endParaRPr lang="en-US"/>
          </a:p>
        </p:txBody>
      </p:sp>
      <p:sp>
        <p:nvSpPr>
          <p:cNvPr id="5" name="Footer Placeholder 4">
            <a:extLst>
              <a:ext uri="{FF2B5EF4-FFF2-40B4-BE49-F238E27FC236}">
                <a16:creationId xmlns:a16="http://schemas.microsoft.com/office/drawing/2014/main" id="{B1D46F89-6A8E-4C1F-BE9E-AE721299BF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32AF85-A7F7-44EA-91BB-D3EBFD5C52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FE4FE1-F027-43D6-8623-A7533F73F5F3}" type="slidenum">
              <a:rPr lang="en-US" smtClean="0"/>
              <a:t>‹#›</a:t>
            </a:fld>
            <a:endParaRPr lang="en-US"/>
          </a:p>
        </p:txBody>
      </p:sp>
    </p:spTree>
    <p:extLst>
      <p:ext uri="{BB962C8B-B14F-4D97-AF65-F5344CB8AC3E}">
        <p14:creationId xmlns:p14="http://schemas.microsoft.com/office/powerpoint/2010/main" val="2517277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wikiwand.com/en/Cross-sectional_data" TargetMode="External"/><Relationship Id="rId7" Type="http://schemas.openxmlformats.org/officeDocument/2006/relationships/hyperlink" Target="https://www.wikiwand.com/en/Diminishing_returns" TargetMode="External"/><Relationship Id="rId2" Type="http://schemas.openxmlformats.org/officeDocument/2006/relationships/hyperlink" Target="https://www.wikiwand.com/en/Empirical" TargetMode="External"/><Relationship Id="rId1" Type="http://schemas.openxmlformats.org/officeDocument/2006/relationships/slideLayout" Target="../slideLayouts/slideLayout7.xml"/><Relationship Id="rId6" Type="http://schemas.openxmlformats.org/officeDocument/2006/relationships/hyperlink" Target="https://www.wikiwand.com/en/Samuel_H._Preston" TargetMode="External"/><Relationship Id="rId5" Type="http://schemas.openxmlformats.org/officeDocument/2006/relationships/hyperlink" Target="https://www.wikiwand.com/en/Per_capita_income" TargetMode="External"/><Relationship Id="rId4" Type="http://schemas.openxmlformats.org/officeDocument/2006/relationships/hyperlink" Target="https://www.wikiwand.com/en/Life_expectancy"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wikiwand.com/en/Oral_rehydration_therapy" TargetMode="External"/><Relationship Id="rId7" Type="http://schemas.openxmlformats.org/officeDocument/2006/relationships/hyperlink" Target="https://www.wikiwand.com/en/HIV/AIDS_epidemic" TargetMode="External"/><Relationship Id="rId2" Type="http://schemas.openxmlformats.org/officeDocument/2006/relationships/hyperlink" Target="https://www.wikiwand.com/en/Vaccinations" TargetMode="External"/><Relationship Id="rId1" Type="http://schemas.openxmlformats.org/officeDocument/2006/relationships/slideLayout" Target="../slideLayouts/slideLayout7.xml"/><Relationship Id="rId6" Type="http://schemas.openxmlformats.org/officeDocument/2006/relationships/hyperlink" Target="https://www.wikiwand.com/en/Sub-Saharan_Africa" TargetMode="External"/><Relationship Id="rId5" Type="http://schemas.openxmlformats.org/officeDocument/2006/relationships/hyperlink" Target="https://www.wikiwand.com/en/Exogenous_variable" TargetMode="External"/><Relationship Id="rId4" Type="http://schemas.openxmlformats.org/officeDocument/2006/relationships/hyperlink" Target="https://www.wikiwand.com/en/Nutrition"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wikiwand.com/en/Goodness_of_fit" TargetMode="External"/><Relationship Id="rId2" Type="http://schemas.openxmlformats.org/officeDocument/2006/relationships/hyperlink" Target="https://www.wikiwand.com/en/Michael_Spence" TargetMode="External"/><Relationship Id="rId1" Type="http://schemas.openxmlformats.org/officeDocument/2006/relationships/slideLayout" Target="../slideLayouts/slideLayout7.xml"/><Relationship Id="rId6" Type="http://schemas.openxmlformats.org/officeDocument/2006/relationships/hyperlink" Target="https://www.wikiwand.com/en/Tajikistan" TargetMode="External"/><Relationship Id="rId5" Type="http://schemas.openxmlformats.org/officeDocument/2006/relationships/hyperlink" Target="https://www.wikiwand.com/en/Zimbabwe" TargetMode="External"/><Relationship Id="rId4" Type="http://schemas.openxmlformats.org/officeDocument/2006/relationships/hyperlink" Target="https://www.wikiwand.com/en/South_Africa"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wikiwand.com/en/Infectious_diseases" TargetMode="External"/><Relationship Id="rId2" Type="http://schemas.openxmlformats.org/officeDocument/2006/relationships/hyperlink" Target="https://www.wikiwand.com/en/Nonparametric_regression" TargetMode="External"/><Relationship Id="rId1" Type="http://schemas.openxmlformats.org/officeDocument/2006/relationships/slideLayout" Target="../slideLayouts/slideLayout7.xml"/><Relationship Id="rId4" Type="http://schemas.openxmlformats.org/officeDocument/2006/relationships/hyperlink" Target="https://www.wikiwand.com/en/Chronic_diseases"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www.wikiwand.com/en/Concave_function"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wikiwand.com/en/Larry_Summers" TargetMode="External"/><Relationship Id="rId2" Type="http://schemas.openxmlformats.org/officeDocument/2006/relationships/hyperlink" Target="https://www.wikiwand.com/en/Lant_Pritchett" TargetMode="External"/><Relationship Id="rId1" Type="http://schemas.openxmlformats.org/officeDocument/2006/relationships/slideLayout" Target="../slideLayouts/slideLayout7.xml"/><Relationship Id="rId4" Type="http://schemas.openxmlformats.org/officeDocument/2006/relationships/hyperlink" Target="https://www.wikiwand.com/en/Economic_growth"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wikiwand.com/en/Gary_Becker" TargetMode="External"/><Relationship Id="rId2" Type="http://schemas.openxmlformats.org/officeDocument/2006/relationships/hyperlink" Target="https://www.wikiwand.com/en/Economic_development"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wikiwand.com/en/Longitudinal_data" TargetMode="External"/><Relationship Id="rId2" Type="http://schemas.openxmlformats.org/officeDocument/2006/relationships/hyperlink" Target="https://www.wikiwand.com/en/Time_series" TargetMode="External"/><Relationship Id="rId1" Type="http://schemas.openxmlformats.org/officeDocument/2006/relationships/slideLayout" Target="../slideLayouts/slideLayout7.xml"/><Relationship Id="rId6" Type="http://schemas.openxmlformats.org/officeDocument/2006/relationships/hyperlink" Target="https://www.wikiwand.com/en/AIDS_epidemic_in_Sub-Saharan_Africa" TargetMode="External"/><Relationship Id="rId5" Type="http://schemas.openxmlformats.org/officeDocument/2006/relationships/hyperlink" Target="https://www.wikiwand.com/en/Infant_mortality_rate" TargetMode="External"/><Relationship Id="rId4" Type="http://schemas.openxmlformats.org/officeDocument/2006/relationships/hyperlink" Target="https://www.wikiwand.com/en/Convergence_(economic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wikiwand.com/en/Causality" TargetMode="External"/><Relationship Id="rId7" Type="http://schemas.openxmlformats.org/officeDocument/2006/relationships/hyperlink" Target="https://www.wikiwand.com/en/Tropical_zone" TargetMode="External"/><Relationship Id="rId2" Type="http://schemas.openxmlformats.org/officeDocument/2006/relationships/hyperlink" Target="https://www.wikiwand.com/en/Correlation" TargetMode="External"/><Relationship Id="rId1" Type="http://schemas.openxmlformats.org/officeDocument/2006/relationships/slideLayout" Target="../slideLayouts/slideLayout7.xml"/><Relationship Id="rId6" Type="http://schemas.openxmlformats.org/officeDocument/2006/relationships/hyperlink" Target="https://www.wikiwand.com/en/Disease" TargetMode="External"/><Relationship Id="rId5" Type="http://schemas.openxmlformats.org/officeDocument/2006/relationships/hyperlink" Target="https://www.wikiwand.com/en/Jeffrey_Sachs" TargetMode="External"/><Relationship Id="rId4" Type="http://schemas.openxmlformats.org/officeDocument/2006/relationships/hyperlink" Target="https://www.wikiwand.com/en/Human_capita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wikiwand.com/en/Linear_regression" TargetMode="External"/><Relationship Id="rId2" Type="http://schemas.openxmlformats.org/officeDocument/2006/relationships/hyperlink" Target="https://www.wikiwand.com/en/Instrumental_variable"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hyperlink" Target="https://www.wikiwand.com/en/Preston_curve#cite_ref-2" TargetMode="External"/><Relationship Id="rId13" Type="http://schemas.openxmlformats.org/officeDocument/2006/relationships/hyperlink" Target="https://www.wikiwand.com/en/Preston_curve#cite_ref-Becker_11-1" TargetMode="External"/><Relationship Id="rId3" Type="http://schemas.openxmlformats.org/officeDocument/2006/relationships/hyperlink" Target="https://www.wikiwand.com/en/Doi_(identifier)" TargetMode="External"/><Relationship Id="rId7" Type="http://schemas.openxmlformats.org/officeDocument/2006/relationships/hyperlink" Target="https://www.wikiwand.com/en/PMC_(identifier)" TargetMode="External"/><Relationship Id="rId12" Type="http://schemas.openxmlformats.org/officeDocument/2006/relationships/hyperlink" Target="https://www.wikiwand.com/en/Preston_curve#cite_ref-Becker_11-0" TargetMode="External"/><Relationship Id="rId17" Type="http://schemas.openxmlformats.org/officeDocument/2006/relationships/hyperlink" Target="https://www.wikiwand.com/en/Preston_curve" TargetMode="External"/><Relationship Id="rId2" Type="http://schemas.openxmlformats.org/officeDocument/2006/relationships/hyperlink" Target="https://www.ncbi.nlm.nih.gov/pmc/articles/PMC2572360" TargetMode="External"/><Relationship Id="rId16" Type="http://schemas.openxmlformats.org/officeDocument/2006/relationships/hyperlink" Target="http://economics.uchicago.edu/download/BPS-05-10-03.pdf_1.pdf" TargetMode="External"/><Relationship Id="rId1" Type="http://schemas.openxmlformats.org/officeDocument/2006/relationships/slideLayout" Target="../slideLayouts/slideLayout7.xml"/><Relationship Id="rId6" Type="http://schemas.openxmlformats.org/officeDocument/2006/relationships/hyperlink" Target="https://www.jstor.org/stable/2173509" TargetMode="External"/><Relationship Id="rId11" Type="http://schemas.openxmlformats.org/officeDocument/2006/relationships/hyperlink" Target="https://pubmed.ncbi.nlm.nih.gov/17550952" TargetMode="External"/><Relationship Id="rId5" Type="http://schemas.openxmlformats.org/officeDocument/2006/relationships/hyperlink" Target="https://www.wikiwand.com/en/JSTOR_(identifier)" TargetMode="External"/><Relationship Id="rId15" Type="http://schemas.openxmlformats.org/officeDocument/2006/relationships/hyperlink" Target="https://doi.org/10.1257/0002828053828563" TargetMode="External"/><Relationship Id="rId10" Type="http://schemas.openxmlformats.org/officeDocument/2006/relationships/hyperlink" Target="https://www.wikiwand.com/en/PMID_(identifier)" TargetMode="External"/><Relationship Id="rId4" Type="http://schemas.openxmlformats.org/officeDocument/2006/relationships/hyperlink" Target="https://doi.org/10.2307/2173509" TargetMode="External"/><Relationship Id="rId9" Type="http://schemas.openxmlformats.org/officeDocument/2006/relationships/hyperlink" Target="https://doi.org/10.1093/ije/dym075" TargetMode="External"/><Relationship Id="rId14" Type="http://schemas.openxmlformats.org/officeDocument/2006/relationships/hyperlink" Target="https://web.archive.org/web/20091010131838/http:/economics.uchicago.edu/download/BPS-05-10-03.pdf_1.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598AC20-AA81-432C-80A0-2580233D46FE}"/>
              </a:ext>
            </a:extLst>
          </p:cNvPr>
          <p:cNvSpPr txBox="1"/>
          <p:nvPr/>
        </p:nvSpPr>
        <p:spPr>
          <a:xfrm>
            <a:off x="5420139" y="304800"/>
            <a:ext cx="6652591" cy="369332"/>
          </a:xfrm>
          <a:prstGeom prst="rect">
            <a:avLst/>
          </a:prstGeom>
          <a:noFill/>
        </p:spPr>
        <p:txBody>
          <a:bodyPr wrap="square" rtlCol="0">
            <a:spAutoFit/>
          </a:bodyPr>
          <a:lstStyle/>
          <a:p>
            <a:pPr algn="r"/>
            <a:r>
              <a:rPr lang="en-US" b="1" i="1" dirty="0"/>
              <a:t>Per capita income and life expectancy in developing countries</a:t>
            </a:r>
          </a:p>
        </p:txBody>
      </p:sp>
      <p:pic>
        <p:nvPicPr>
          <p:cNvPr id="2" name="Picture 1"/>
          <p:cNvPicPr>
            <a:picLocks noChangeAspect="1"/>
          </p:cNvPicPr>
          <p:nvPr/>
        </p:nvPicPr>
        <p:blipFill>
          <a:blip r:embed="rId2"/>
          <a:stretch>
            <a:fillRect/>
          </a:stretch>
        </p:blipFill>
        <p:spPr>
          <a:xfrm>
            <a:off x="1766887" y="1031966"/>
            <a:ext cx="8658225" cy="5368834"/>
          </a:xfrm>
          <a:prstGeom prst="rect">
            <a:avLst/>
          </a:prstGeom>
        </p:spPr>
      </p:pic>
    </p:spTree>
    <p:extLst>
      <p:ext uri="{BB962C8B-B14F-4D97-AF65-F5344CB8AC3E}">
        <p14:creationId xmlns:p14="http://schemas.microsoft.com/office/powerpoint/2010/main" val="19143522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3589" y="548640"/>
            <a:ext cx="10672354" cy="4893647"/>
          </a:xfrm>
          <a:prstGeom prst="rect">
            <a:avLst/>
          </a:prstGeom>
          <a:noFill/>
        </p:spPr>
        <p:txBody>
          <a:bodyPr wrap="square" rtlCol="0">
            <a:spAutoFit/>
          </a:bodyPr>
          <a:lstStyle/>
          <a:p>
            <a:pPr algn="just"/>
            <a:r>
              <a:rPr lang="en-US" sz="2400" b="1" dirty="0"/>
              <a:t>The Preston curve is an </a:t>
            </a:r>
            <a:r>
              <a:rPr lang="en-US" sz="2400" b="1" dirty="0">
                <a:hlinkClick r:id="rId2" tooltip="Empirical"/>
              </a:rPr>
              <a:t>empirical</a:t>
            </a:r>
            <a:r>
              <a:rPr lang="en-US" sz="2400" b="1" dirty="0"/>
              <a:t> </a:t>
            </a:r>
            <a:r>
              <a:rPr lang="en-US" sz="2400" b="1" dirty="0">
                <a:hlinkClick r:id="rId3" tooltip="Cross-sectional data"/>
              </a:rPr>
              <a:t>cross-sectional</a:t>
            </a:r>
            <a:r>
              <a:rPr lang="en-US" sz="2400" b="1" dirty="0"/>
              <a:t> relationship between </a:t>
            </a:r>
            <a:r>
              <a:rPr lang="en-US" sz="2400" b="1" dirty="0">
                <a:hlinkClick r:id="rId4"/>
              </a:rPr>
              <a:t>life expectancy</a:t>
            </a:r>
            <a:r>
              <a:rPr lang="en-US" sz="2400" b="1" dirty="0"/>
              <a:t> and real </a:t>
            </a:r>
            <a:r>
              <a:rPr lang="en-US" sz="2400" b="1" dirty="0">
                <a:hlinkClick r:id="rId5" tooltip="Per capita income"/>
              </a:rPr>
              <a:t>per capita income</a:t>
            </a:r>
            <a:r>
              <a:rPr lang="en-US" sz="2400" b="1" dirty="0"/>
              <a:t>. It is named after </a:t>
            </a:r>
            <a:r>
              <a:rPr lang="en-US" sz="2400" b="1" dirty="0">
                <a:hlinkClick r:id="rId6"/>
              </a:rPr>
              <a:t>Samuel H. Preston</a:t>
            </a:r>
            <a:r>
              <a:rPr lang="en-US" sz="2400" b="1" dirty="0"/>
              <a:t> who first described it in </a:t>
            </a:r>
            <a:r>
              <a:rPr lang="en-US" sz="2400" b="1" dirty="0" smtClean="0"/>
              <a:t>1975.</a:t>
            </a:r>
            <a:r>
              <a:rPr lang="en-US" sz="2400" b="1" dirty="0"/>
              <a:t> Preston studied the relationship for the 1900s, 1930s and the 1960s and found it held for each of the three decades. More recent work has updated this research</a:t>
            </a:r>
            <a:r>
              <a:rPr lang="en-US" sz="2400" b="1" dirty="0" smtClean="0"/>
              <a:t>.</a:t>
            </a:r>
          </a:p>
          <a:p>
            <a:pPr algn="just"/>
            <a:endParaRPr lang="en-US" sz="2400" b="1" dirty="0"/>
          </a:p>
          <a:p>
            <a:pPr algn="just"/>
            <a:r>
              <a:rPr lang="en-US" sz="2400" b="1" dirty="0"/>
              <a:t>The Preston curve indicates that individuals born in richer countries, on average, can expect to live longer than those born in poor countries. However, the link between income and life expectancy flattens out. This means that at low levels of per capita income, further increases in income are associated with large gains in life expectancy, but at high levels of income, increased income has little associated change in life expectancy. In other words, if the relationship is interpreted as being causal, then there are </a:t>
            </a:r>
            <a:r>
              <a:rPr lang="en-US" sz="2400" b="1" dirty="0">
                <a:hlinkClick r:id="rId7" tooltip="Diminishing returns"/>
              </a:rPr>
              <a:t>diminishing returns</a:t>
            </a:r>
            <a:r>
              <a:rPr lang="en-US" sz="2400" b="1" dirty="0"/>
              <a:t> to income in terms of life expectancy.</a:t>
            </a:r>
          </a:p>
        </p:txBody>
      </p:sp>
    </p:spTree>
    <p:extLst>
      <p:ext uri="{BB962C8B-B14F-4D97-AF65-F5344CB8AC3E}">
        <p14:creationId xmlns:p14="http://schemas.microsoft.com/office/powerpoint/2010/main" val="2418617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09897" y="796834"/>
            <a:ext cx="10750732" cy="5632311"/>
          </a:xfrm>
          <a:prstGeom prst="rect">
            <a:avLst/>
          </a:prstGeom>
          <a:noFill/>
        </p:spPr>
        <p:txBody>
          <a:bodyPr wrap="square" rtlCol="0">
            <a:spAutoFit/>
          </a:bodyPr>
          <a:lstStyle/>
          <a:p>
            <a:pPr algn="just"/>
            <a:r>
              <a:rPr lang="en-US" sz="2400" b="1" dirty="0"/>
              <a:t>A further significant finding of Preston's study was that the curve has shifted upwards during the 20th century. This means that </a:t>
            </a:r>
            <a:r>
              <a:rPr lang="en-US" sz="2400" b="1" i="1" dirty="0">
                <a:solidFill>
                  <a:srgbClr val="FF0000"/>
                </a:solidFill>
              </a:rPr>
              <a:t>life expectancy has increased in most countries, independently of changes in income</a:t>
            </a:r>
            <a:r>
              <a:rPr lang="en-US" sz="2400" b="1" dirty="0"/>
              <a:t>. </a:t>
            </a:r>
            <a:endParaRPr lang="en-US" sz="2400" b="1" dirty="0" smtClean="0"/>
          </a:p>
          <a:p>
            <a:pPr algn="just"/>
            <a:endParaRPr lang="en-US" sz="2400" b="1" dirty="0"/>
          </a:p>
          <a:p>
            <a:pPr algn="just"/>
            <a:r>
              <a:rPr lang="en-US" sz="2400" b="1" dirty="0" smtClean="0"/>
              <a:t>Preston </a:t>
            </a:r>
            <a:r>
              <a:rPr lang="en-US" sz="2400" b="1" dirty="0"/>
              <a:t>credited education, better technology, </a:t>
            </a:r>
            <a:r>
              <a:rPr lang="en-US" sz="2400" b="1" dirty="0">
                <a:hlinkClick r:id="rId2"/>
              </a:rPr>
              <a:t>vaccinations</a:t>
            </a:r>
            <a:r>
              <a:rPr lang="en-US" sz="2400" b="1" dirty="0"/>
              <a:t>, improved provision of public health services, </a:t>
            </a:r>
            <a:r>
              <a:rPr lang="en-US" sz="2400" b="1" dirty="0">
                <a:hlinkClick r:id="rId3"/>
              </a:rPr>
              <a:t>oral rehydration therapy</a:t>
            </a:r>
            <a:r>
              <a:rPr lang="en-US" sz="2400" b="1" dirty="0"/>
              <a:t> and better </a:t>
            </a:r>
            <a:r>
              <a:rPr lang="en-US" sz="2400" b="1" dirty="0">
                <a:hlinkClick r:id="rId4"/>
              </a:rPr>
              <a:t>nutrition</a:t>
            </a:r>
            <a:r>
              <a:rPr lang="en-US" sz="2400" b="1" dirty="0"/>
              <a:t> with these </a:t>
            </a:r>
            <a:r>
              <a:rPr lang="en-US" sz="2400" b="1" dirty="0">
                <a:hlinkClick r:id="rId5" tooltip="Exogenous variable"/>
              </a:rPr>
              <a:t>exogenous</a:t>
            </a:r>
            <a:r>
              <a:rPr lang="en-US" sz="2400" b="1" dirty="0"/>
              <a:t> improvements in health</a:t>
            </a:r>
            <a:r>
              <a:rPr lang="en-US" sz="2400" b="1" dirty="0" smtClean="0"/>
              <a:t>.</a:t>
            </a:r>
            <a:r>
              <a:rPr lang="en-US" sz="2400" b="1" dirty="0"/>
              <a:t> </a:t>
            </a:r>
            <a:endParaRPr lang="en-US" sz="2400" b="1" dirty="0" smtClean="0"/>
          </a:p>
          <a:p>
            <a:pPr algn="just"/>
            <a:endParaRPr lang="en-US" sz="2400" b="1" dirty="0"/>
          </a:p>
          <a:p>
            <a:pPr algn="just"/>
            <a:r>
              <a:rPr lang="en-US" sz="2400" b="1" dirty="0" smtClean="0"/>
              <a:t>According </a:t>
            </a:r>
            <a:r>
              <a:rPr lang="en-US" sz="2400" b="1" dirty="0"/>
              <a:t>to Preston, the independent increases in life expectancy have been greatest in the poor countries, although he also believed that a good portion of the potential gains from better medical technology have not been </a:t>
            </a:r>
            <a:r>
              <a:rPr lang="en-US" sz="2400" b="1" dirty="0" smtClean="0"/>
              <a:t>realized.</a:t>
            </a:r>
          </a:p>
          <a:p>
            <a:pPr algn="just"/>
            <a:endParaRPr lang="en-US" sz="2400" b="1" dirty="0"/>
          </a:p>
          <a:p>
            <a:pPr algn="just"/>
            <a:r>
              <a:rPr lang="en-US" sz="2400" b="1" dirty="0" smtClean="0"/>
              <a:t>Several </a:t>
            </a:r>
            <a:r>
              <a:rPr lang="en-US" sz="2400" b="1" dirty="0"/>
              <a:t>poor countries in </a:t>
            </a:r>
            <a:r>
              <a:rPr lang="en-US" sz="2400" b="1" dirty="0">
                <a:hlinkClick r:id="rId6" tooltip="Sub-Saharan Africa"/>
              </a:rPr>
              <a:t>Sub-Saharan Africa</a:t>
            </a:r>
            <a:r>
              <a:rPr lang="en-US" sz="2400" b="1" dirty="0"/>
              <a:t> have actually seen declines in life expectancy in the 1990s and 2000s as a result of the </a:t>
            </a:r>
            <a:r>
              <a:rPr lang="en-US" sz="2400" b="1" dirty="0">
                <a:hlinkClick r:id="rId7"/>
              </a:rPr>
              <a:t>HIV/AIDS epidemic</a:t>
            </a:r>
            <a:r>
              <a:rPr lang="en-US" sz="2400" b="1" dirty="0"/>
              <a:t>, even if their per capita incomes have increased during this time</a:t>
            </a:r>
            <a:r>
              <a:rPr lang="en-US" sz="2400" b="1" dirty="0" smtClean="0"/>
              <a:t>.</a:t>
            </a:r>
            <a:endParaRPr lang="en-US" sz="2400" b="1" dirty="0"/>
          </a:p>
        </p:txBody>
      </p:sp>
    </p:spTree>
    <p:extLst>
      <p:ext uri="{BB962C8B-B14F-4D97-AF65-F5344CB8AC3E}">
        <p14:creationId xmlns:p14="http://schemas.microsoft.com/office/powerpoint/2010/main" val="2887530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757646" y="701720"/>
            <a:ext cx="8294914" cy="3491457"/>
          </a:xfrm>
          <a:prstGeom prst="rect">
            <a:avLst/>
          </a:prstGeom>
        </p:spPr>
      </p:pic>
      <p:sp>
        <p:nvSpPr>
          <p:cNvPr id="7" name="TextBox 6"/>
          <p:cNvSpPr txBox="1"/>
          <p:nvPr/>
        </p:nvSpPr>
        <p:spPr>
          <a:xfrm>
            <a:off x="757646" y="4402183"/>
            <a:ext cx="11077303" cy="2246769"/>
          </a:xfrm>
          <a:prstGeom prst="rect">
            <a:avLst/>
          </a:prstGeom>
          <a:noFill/>
        </p:spPr>
        <p:txBody>
          <a:bodyPr wrap="square" rtlCol="0">
            <a:spAutoFit/>
          </a:bodyPr>
          <a:lstStyle/>
          <a:p>
            <a:pPr algn="just"/>
            <a:r>
              <a:rPr lang="en-US" sz="2000" b="1" dirty="0"/>
              <a:t>Improvements in health technology shift the Preston Curve upwards. In panel A, the new technology is equally applicable in all countries regardless of their level of income. In panel B, the new technology has a disproportionately larger effect in rich countries. In panel C, poorer countries benefit more</a:t>
            </a:r>
            <a:r>
              <a:rPr lang="en-US" sz="2000" b="1" dirty="0" smtClean="0"/>
              <a:t>.</a:t>
            </a:r>
          </a:p>
          <a:p>
            <a:pPr algn="just"/>
            <a:endParaRPr lang="en-US" sz="2000" b="1" dirty="0"/>
          </a:p>
          <a:p>
            <a:pPr algn="just"/>
            <a:r>
              <a:rPr lang="en-US" sz="2000" b="1" dirty="0"/>
              <a:t>Overall Preston found that improvements in health technology (the upwards shifts in the curve) accounted for 75% to 90% of the increase in life expectancy, while income growth (movement along the curve) was responsible for the rest</a:t>
            </a:r>
            <a:r>
              <a:rPr lang="en-US" sz="2000" b="1" dirty="0" smtClean="0"/>
              <a:t>.</a:t>
            </a:r>
            <a:endParaRPr lang="en-US" sz="2000" b="1" dirty="0"/>
          </a:p>
        </p:txBody>
      </p:sp>
    </p:spTree>
    <p:extLst>
      <p:ext uri="{BB962C8B-B14F-4D97-AF65-F5344CB8AC3E}">
        <p14:creationId xmlns:p14="http://schemas.microsoft.com/office/powerpoint/2010/main" val="1117781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3143" y="875216"/>
            <a:ext cx="10907486" cy="3139321"/>
          </a:xfrm>
          <a:prstGeom prst="rect">
            <a:avLst/>
          </a:prstGeom>
          <a:noFill/>
        </p:spPr>
        <p:txBody>
          <a:bodyPr wrap="square" rtlCol="0">
            <a:spAutoFit/>
          </a:bodyPr>
          <a:lstStyle/>
          <a:p>
            <a:pPr algn="just"/>
            <a:r>
              <a:rPr lang="en-US" b="1" dirty="0"/>
              <a:t>Analysis of more recent data, for example by </a:t>
            </a:r>
            <a:r>
              <a:rPr lang="en-US" b="1" dirty="0">
                <a:hlinkClick r:id="rId2"/>
              </a:rPr>
              <a:t>Michael Spence</a:t>
            </a:r>
            <a:r>
              <a:rPr lang="en-US" b="1" dirty="0"/>
              <a:t> and Maureen Lewis, suggests that the "</a:t>
            </a:r>
            <a:r>
              <a:rPr lang="en-US" b="1" dirty="0">
                <a:hlinkClick r:id="rId3" tooltip="Goodness of fit"/>
              </a:rPr>
              <a:t>fit</a:t>
            </a:r>
            <a:r>
              <a:rPr lang="en-US" b="1" dirty="0"/>
              <a:t>" of the relationship has become stronger in the decades since Preston's study</a:t>
            </a:r>
            <a:r>
              <a:rPr lang="en-US" b="1" dirty="0" smtClean="0"/>
              <a:t>.</a:t>
            </a:r>
            <a:r>
              <a:rPr lang="en-US" b="1" dirty="0"/>
              <a:t> Though the source of income growth, rather than growth itself has been shown to be significant, with Ryan Edwards finding divergences from the Preston Curve partially explained by the size of the mining sector (a mining dominated economy</a:t>
            </a:r>
            <a:r>
              <a:rPr lang="en-US" b="1" dirty="0" smtClean="0"/>
              <a:t>).</a:t>
            </a:r>
            <a:endParaRPr lang="en-US" b="1" baseline="30000" dirty="0" smtClean="0"/>
          </a:p>
          <a:p>
            <a:pPr algn="just"/>
            <a:endParaRPr lang="en-US" b="1" dirty="0"/>
          </a:p>
          <a:p>
            <a:pPr algn="just"/>
            <a:r>
              <a:rPr lang="en-US" b="1" dirty="0"/>
              <a:t>While the relationship between income and life expectancy is log linear on average, any one individual country can lie above or below curve. Those below the curve, such as </a:t>
            </a:r>
            <a:r>
              <a:rPr lang="en-US" b="1" dirty="0">
                <a:hlinkClick r:id="rId4" tooltip="South Africa"/>
              </a:rPr>
              <a:t>South Africa</a:t>
            </a:r>
            <a:r>
              <a:rPr lang="en-US" b="1" dirty="0"/>
              <a:t> or </a:t>
            </a:r>
            <a:r>
              <a:rPr lang="en-US" b="1" dirty="0">
                <a:hlinkClick r:id="rId5" tooltip="Zimbabwe"/>
              </a:rPr>
              <a:t>Zimbabwe</a:t>
            </a:r>
            <a:r>
              <a:rPr lang="en-US" b="1" dirty="0"/>
              <a:t>, have life expectancy levels that are lower than would be predicted based on per capita income alone. Countries above the curve, such as </a:t>
            </a:r>
            <a:r>
              <a:rPr lang="en-US" b="1" dirty="0">
                <a:hlinkClick r:id="rId6" tooltip="Tajikistan"/>
              </a:rPr>
              <a:t>Tajikistan</a:t>
            </a:r>
            <a:r>
              <a:rPr lang="en-US" b="1" dirty="0"/>
              <a:t>, have life expectancies that are exceptionally high given their level of economic development</a:t>
            </a:r>
            <a:r>
              <a:rPr lang="en-US" b="1" dirty="0" smtClean="0"/>
              <a:t>.</a:t>
            </a:r>
            <a:r>
              <a:rPr lang="en-US" b="1" dirty="0"/>
              <a:t> In 2000, the USA lay just below the curve, indicating that it had a slightly lower life expectancy than other rich countries</a:t>
            </a:r>
            <a:r>
              <a:rPr lang="en-US" b="1" dirty="0" smtClean="0"/>
              <a:t>.</a:t>
            </a:r>
            <a:endParaRPr lang="en-US" b="1" dirty="0"/>
          </a:p>
        </p:txBody>
      </p:sp>
    </p:spTree>
    <p:extLst>
      <p:ext uri="{BB962C8B-B14F-4D97-AF65-F5344CB8AC3E}">
        <p14:creationId xmlns:p14="http://schemas.microsoft.com/office/powerpoint/2010/main" val="2329851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718457"/>
            <a:ext cx="11077303" cy="4955203"/>
          </a:xfrm>
          <a:prstGeom prst="rect">
            <a:avLst/>
          </a:prstGeom>
          <a:noFill/>
        </p:spPr>
        <p:txBody>
          <a:bodyPr wrap="square" rtlCol="0">
            <a:spAutoFit/>
          </a:bodyPr>
          <a:lstStyle/>
          <a:p>
            <a:pPr algn="just"/>
            <a:r>
              <a:rPr lang="en-US" sz="2800" b="1" dirty="0" smtClean="0"/>
              <a:t>If </a:t>
            </a:r>
            <a:r>
              <a:rPr lang="en-US" sz="2800" b="1" dirty="0"/>
              <a:t>the relationship is estimated with </a:t>
            </a:r>
            <a:r>
              <a:rPr lang="en-US" sz="2800" b="1" dirty="0">
                <a:hlinkClick r:id="rId2"/>
              </a:rPr>
              <a:t>nonparametric regression</a:t>
            </a:r>
            <a:r>
              <a:rPr lang="en-US" sz="2800" b="1" dirty="0"/>
              <a:t> then it produces a version of the curve which has a "hinge" – i.e. a kink in the relationship where the slope of the regression equation falls off significantly. This point occurs around the per capita income level of $2,045 (data for the year 2000) which is about the per capita income level of India. This level of income is generally associated with a crossing of a "epidemiological transition", where countries change from having most of their mortality occur due to infant mortality to that due to old age mortality, and from prevalence of </a:t>
            </a:r>
            <a:r>
              <a:rPr lang="en-US" sz="2800" b="1" dirty="0">
                <a:hlinkClick r:id="rId3"/>
              </a:rPr>
              <a:t>infectious diseases</a:t>
            </a:r>
            <a:r>
              <a:rPr lang="en-US" sz="2800" b="1" dirty="0"/>
              <a:t> to that of </a:t>
            </a:r>
            <a:r>
              <a:rPr lang="en-US" sz="2800" b="1" dirty="0">
                <a:hlinkClick r:id="rId4"/>
              </a:rPr>
              <a:t>chronic diseases</a:t>
            </a:r>
            <a:r>
              <a:rPr lang="en-US" sz="2800" b="1" dirty="0" smtClean="0"/>
              <a:t>.</a:t>
            </a:r>
            <a:endParaRPr lang="en-US" sz="2800" b="1" dirty="0"/>
          </a:p>
          <a:p>
            <a:r>
              <a:rPr lang="en-US" dirty="0"/>
              <a:t/>
            </a:r>
            <a:br>
              <a:rPr lang="en-US" dirty="0"/>
            </a:br>
            <a:endParaRPr lang="en-US" dirty="0"/>
          </a:p>
        </p:txBody>
      </p:sp>
    </p:spTree>
    <p:extLst>
      <p:ext uri="{BB962C8B-B14F-4D97-AF65-F5344CB8AC3E}">
        <p14:creationId xmlns:p14="http://schemas.microsoft.com/office/powerpoint/2010/main" val="817367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280" y="888274"/>
            <a:ext cx="10371909" cy="3416320"/>
          </a:xfrm>
          <a:prstGeom prst="rect">
            <a:avLst/>
          </a:prstGeom>
          <a:noFill/>
        </p:spPr>
        <p:txBody>
          <a:bodyPr wrap="square" rtlCol="0">
            <a:spAutoFit/>
          </a:bodyPr>
          <a:lstStyle/>
          <a:p>
            <a:pPr algn="just"/>
            <a:r>
              <a:rPr lang="en-US" sz="2400" b="1" dirty="0" smtClean="0"/>
              <a:t>Implications</a:t>
            </a:r>
          </a:p>
          <a:p>
            <a:pPr algn="just"/>
            <a:endParaRPr lang="en-US" sz="2400" b="1" dirty="0"/>
          </a:p>
          <a:p>
            <a:pPr algn="just"/>
            <a:r>
              <a:rPr lang="en-US" sz="2400" b="1" dirty="0"/>
              <a:t>The fact that the relationship between income and health is </a:t>
            </a:r>
            <a:r>
              <a:rPr lang="en-US" sz="2400" b="1" dirty="0">
                <a:hlinkClick r:id="rId2" tooltip="Concave function"/>
              </a:rPr>
              <a:t>concave</a:t>
            </a:r>
            <a:r>
              <a:rPr lang="en-US" sz="2400" b="1" dirty="0"/>
              <a:t> indicates that a transfer of income from the rich to the poor would increase the average health of a </a:t>
            </a:r>
            <a:r>
              <a:rPr lang="en-US" sz="2400" b="1" dirty="0" smtClean="0"/>
              <a:t>society</a:t>
            </a:r>
            <a:r>
              <a:rPr lang="en-US" sz="2400" b="1" dirty="0"/>
              <a:t>. However, this policy prescription will have this effect only if the relationship between income and health is causal – i.e. if higher income causes longer life </a:t>
            </a:r>
            <a:r>
              <a:rPr lang="en-US" sz="2400" b="1" dirty="0" smtClean="0"/>
              <a:t>expectancy. </a:t>
            </a:r>
            <a:r>
              <a:rPr lang="en-US" sz="2400" b="1" dirty="0"/>
              <a:t>If the relationship is driven by other factors, if it is spurious, or if it is in fact health that leads to higher income, then this policy outcome will no longer be true</a:t>
            </a:r>
            <a:r>
              <a:rPr lang="en-US" sz="2400" b="1" dirty="0" smtClean="0"/>
              <a:t>.</a:t>
            </a:r>
            <a:endParaRPr lang="en-US" sz="2400" b="1" dirty="0"/>
          </a:p>
        </p:txBody>
      </p:sp>
    </p:spTree>
    <p:extLst>
      <p:ext uri="{BB962C8B-B14F-4D97-AF65-F5344CB8AC3E}">
        <p14:creationId xmlns:p14="http://schemas.microsoft.com/office/powerpoint/2010/main" val="229672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61611" y="222069"/>
            <a:ext cx="5577840" cy="369332"/>
          </a:xfrm>
          <a:prstGeom prst="rect">
            <a:avLst/>
          </a:prstGeom>
          <a:noFill/>
        </p:spPr>
        <p:txBody>
          <a:bodyPr wrap="square" rtlCol="0">
            <a:spAutoFit/>
          </a:bodyPr>
          <a:lstStyle/>
          <a:p>
            <a:pPr algn="r"/>
            <a:r>
              <a:rPr lang="en-US" b="1" i="1" dirty="0" smtClean="0"/>
              <a:t>Implication</a:t>
            </a:r>
            <a:endParaRPr lang="en-US" b="1" i="1" dirty="0"/>
          </a:p>
        </p:txBody>
      </p:sp>
      <p:sp>
        <p:nvSpPr>
          <p:cNvPr id="3" name="TextBox 2"/>
          <p:cNvSpPr txBox="1"/>
          <p:nvPr/>
        </p:nvSpPr>
        <p:spPr>
          <a:xfrm>
            <a:off x="783771" y="1371600"/>
            <a:ext cx="10750732" cy="4154984"/>
          </a:xfrm>
          <a:prstGeom prst="rect">
            <a:avLst/>
          </a:prstGeom>
          <a:noFill/>
        </p:spPr>
        <p:txBody>
          <a:bodyPr wrap="square" rtlCol="0">
            <a:spAutoFit/>
          </a:bodyPr>
          <a:lstStyle/>
          <a:p>
            <a:pPr algn="just"/>
            <a:r>
              <a:rPr lang="en-US" sz="2400" b="1" dirty="0"/>
              <a:t>The existence of the Preston curve has been used by </a:t>
            </a:r>
            <a:r>
              <a:rPr lang="en-US" sz="2400" b="1" dirty="0" err="1">
                <a:hlinkClick r:id="rId2"/>
              </a:rPr>
              <a:t>Lant</a:t>
            </a:r>
            <a:r>
              <a:rPr lang="en-US" sz="2400" b="1" dirty="0">
                <a:hlinkClick r:id="rId2"/>
              </a:rPr>
              <a:t> Pritchett</a:t>
            </a:r>
            <a:r>
              <a:rPr lang="en-US" sz="2400" b="1" dirty="0"/>
              <a:t> and </a:t>
            </a:r>
            <a:r>
              <a:rPr lang="en-US" sz="2400" b="1" dirty="0">
                <a:hlinkClick r:id="rId3"/>
              </a:rPr>
              <a:t>Larry Summers</a:t>
            </a:r>
            <a:r>
              <a:rPr lang="en-US" sz="2400" b="1" dirty="0"/>
              <a:t> to argue that poor countries should focus on </a:t>
            </a:r>
            <a:r>
              <a:rPr lang="en-US" sz="2400" b="1" dirty="0">
                <a:hlinkClick r:id="rId4" tooltip="Economic growth"/>
              </a:rPr>
              <a:t>economic growth</a:t>
            </a:r>
            <a:r>
              <a:rPr lang="en-US" sz="2400" b="1" dirty="0"/>
              <a:t>, and that health improvements will come about spontaneously as a result of increases in income</a:t>
            </a:r>
            <a:r>
              <a:rPr lang="en-US" sz="2400" b="1" dirty="0" smtClean="0"/>
              <a:t>.</a:t>
            </a:r>
            <a:r>
              <a:rPr lang="en-US" sz="2400" b="1" dirty="0"/>
              <a:t> According to these authors, in 1990 better economic performance could have prevented more than half a million child deaths worldwide</a:t>
            </a:r>
            <a:r>
              <a:rPr lang="en-US" sz="2400" b="1" dirty="0" smtClean="0"/>
              <a:t>.</a:t>
            </a:r>
            <a:r>
              <a:rPr lang="en-US" sz="2400" b="1" dirty="0"/>
              <a:t> However, the upward shifts of the Preston curve still imply that the main portion of gains in life expectancy has come about as a result of improved health technology rather than just increases in per capita income</a:t>
            </a:r>
            <a:r>
              <a:rPr lang="en-US" sz="2400" b="1" dirty="0" smtClean="0"/>
              <a:t>.</a:t>
            </a:r>
            <a:r>
              <a:rPr lang="en-US" sz="2400" b="1" dirty="0"/>
              <a:t> Preston did, however, acknowledge that in the poorest countries economic growth may be necessary for improvements in health, as even the most inexpensive technologies have a cost of adoption that poor countries may not be able to afford</a:t>
            </a:r>
            <a:r>
              <a:rPr lang="en-US" sz="2400" b="1" dirty="0" smtClean="0"/>
              <a:t>.</a:t>
            </a:r>
            <a:endParaRPr lang="en-US" sz="2400" b="1" dirty="0"/>
          </a:p>
        </p:txBody>
      </p:sp>
    </p:spTree>
    <p:extLst>
      <p:ext uri="{BB962C8B-B14F-4D97-AF65-F5344CB8AC3E}">
        <p14:creationId xmlns:p14="http://schemas.microsoft.com/office/powerpoint/2010/main" val="4020781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4766" y="1606733"/>
            <a:ext cx="9914708" cy="2677656"/>
          </a:xfrm>
          <a:prstGeom prst="rect">
            <a:avLst/>
          </a:prstGeom>
          <a:noFill/>
        </p:spPr>
        <p:txBody>
          <a:bodyPr wrap="square" rtlCol="0">
            <a:spAutoFit/>
          </a:bodyPr>
          <a:lstStyle/>
          <a:p>
            <a:pPr algn="just"/>
            <a:r>
              <a:rPr lang="en-US" sz="2400" b="1" dirty="0"/>
              <a:t>Preston's work has also contributed to the broadening of the definition of </a:t>
            </a:r>
            <a:r>
              <a:rPr lang="en-US" sz="2400" b="1" dirty="0">
                <a:hlinkClick r:id="rId2"/>
              </a:rPr>
              <a:t>economic development</a:t>
            </a:r>
            <a:r>
              <a:rPr lang="en-US" sz="2400" b="1" dirty="0" smtClean="0"/>
              <a:t>.</a:t>
            </a:r>
            <a:r>
              <a:rPr lang="en-US" sz="2400" b="1" dirty="0"/>
              <a:t> </a:t>
            </a:r>
            <a:r>
              <a:rPr lang="en-US" sz="2400" b="1" dirty="0">
                <a:hlinkClick r:id="rId3" tooltip="Gary Becker"/>
              </a:rPr>
              <a:t>Gary Becker</a:t>
            </a:r>
            <a:r>
              <a:rPr lang="en-US" sz="2400" b="1" dirty="0"/>
              <a:t> </a:t>
            </a:r>
            <a:r>
              <a:rPr lang="en-US" sz="2400" b="1" i="1" dirty="0"/>
              <a:t>et al.</a:t>
            </a:r>
            <a:r>
              <a:rPr lang="en-US" sz="2400" b="1" dirty="0"/>
              <a:t> have included longevity in a more general welfare measure and have illustrated that increases in life expectancy have made up a large portion of increases in overall global welfare since the </a:t>
            </a:r>
            <a:r>
              <a:rPr lang="en-US" sz="2400" b="1" dirty="0" smtClean="0"/>
              <a:t>1960s.</a:t>
            </a:r>
            <a:r>
              <a:rPr lang="en-US" sz="2400" b="1" baseline="30000" dirty="0"/>
              <a:t> </a:t>
            </a:r>
            <a:r>
              <a:rPr lang="en-US" sz="2400" b="1" dirty="0" smtClean="0"/>
              <a:t>In </a:t>
            </a:r>
            <a:r>
              <a:rPr lang="en-US" sz="2400" b="1" dirty="0"/>
              <a:t>the same work, Becker </a:t>
            </a:r>
            <a:r>
              <a:rPr lang="en-US" sz="2400" b="1" i="1" dirty="0"/>
              <a:t>et al.</a:t>
            </a:r>
            <a:r>
              <a:rPr lang="en-US" sz="2400" b="1" dirty="0"/>
              <a:t> also found that while cross-country incomes have diverged, the distribution of health has converged</a:t>
            </a:r>
            <a:r>
              <a:rPr lang="en-US" sz="2400" b="1" dirty="0" smtClean="0"/>
              <a:t>.</a:t>
            </a:r>
            <a:endParaRPr lang="en-US" sz="2400" b="1" dirty="0"/>
          </a:p>
        </p:txBody>
      </p:sp>
    </p:spTree>
    <p:extLst>
      <p:ext uri="{BB962C8B-B14F-4D97-AF65-F5344CB8AC3E}">
        <p14:creationId xmlns:p14="http://schemas.microsoft.com/office/powerpoint/2010/main" val="4015116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1966" y="849086"/>
            <a:ext cx="10489474" cy="4893647"/>
          </a:xfrm>
          <a:prstGeom prst="rect">
            <a:avLst/>
          </a:prstGeom>
          <a:noFill/>
        </p:spPr>
        <p:txBody>
          <a:bodyPr wrap="square" rtlCol="0">
            <a:spAutoFit/>
          </a:bodyPr>
          <a:lstStyle/>
          <a:p>
            <a:pPr algn="just"/>
            <a:r>
              <a:rPr lang="en-US" sz="2400" b="1" dirty="0"/>
              <a:t>Criticisms and </a:t>
            </a:r>
            <a:r>
              <a:rPr lang="en-US" sz="2400" b="1" dirty="0" smtClean="0"/>
              <a:t>shortcomings</a:t>
            </a:r>
          </a:p>
          <a:p>
            <a:pPr algn="just"/>
            <a:endParaRPr lang="en-US" sz="2400" b="1" dirty="0"/>
          </a:p>
          <a:p>
            <a:pPr algn="just"/>
            <a:r>
              <a:rPr lang="en-US" sz="2400" b="1" dirty="0"/>
              <a:t>Lack of longitudinal </a:t>
            </a:r>
            <a:r>
              <a:rPr lang="en-US" sz="2400" b="1" dirty="0" smtClean="0"/>
              <a:t>evidence</a:t>
            </a:r>
          </a:p>
          <a:p>
            <a:pPr algn="just"/>
            <a:endParaRPr lang="en-US" sz="2400" b="1" dirty="0"/>
          </a:p>
          <a:p>
            <a:pPr algn="just"/>
            <a:r>
              <a:rPr lang="en-US" sz="2400" b="1" dirty="0"/>
              <a:t>The Preston curve is a relationship found in cross-country data - that is, it holds for a sample of countries taken at a particular point in time. Some research however suggests that a similar relationship does not hold in </a:t>
            </a:r>
            <a:r>
              <a:rPr lang="en-US" sz="2400" b="1" dirty="0">
                <a:hlinkClick r:id="rId2" tooltip="Time series"/>
              </a:rPr>
              <a:t>time series</a:t>
            </a:r>
            <a:r>
              <a:rPr lang="en-US" sz="2400" b="1" dirty="0"/>
              <a:t> and </a:t>
            </a:r>
            <a:r>
              <a:rPr lang="en-US" sz="2400" b="1" dirty="0">
                <a:hlinkClick r:id="rId3" tooltip="Longitudinal data"/>
              </a:rPr>
              <a:t>longitudinal data</a:t>
            </a:r>
            <a:r>
              <a:rPr lang="en-US" sz="2400" b="1" dirty="0"/>
              <a:t> within individual countries</a:t>
            </a:r>
            <a:r>
              <a:rPr lang="en-US" sz="2400" b="1" dirty="0" smtClean="0"/>
              <a:t>.</a:t>
            </a:r>
            <a:r>
              <a:rPr lang="en-US" sz="2400" b="1" dirty="0"/>
              <a:t> In particular, per capita incomes between countries have generally </a:t>
            </a:r>
            <a:r>
              <a:rPr lang="en-US" sz="2400" b="1" dirty="0">
                <a:hlinkClick r:id="rId4" tooltip="Convergence (economics)"/>
              </a:rPr>
              <a:t>diverged</a:t>
            </a:r>
            <a:r>
              <a:rPr lang="en-US" sz="2400" b="1" dirty="0"/>
              <a:t> over time, while life expectancies, and other health indicators such as the </a:t>
            </a:r>
            <a:r>
              <a:rPr lang="en-US" sz="2400" b="1" dirty="0">
                <a:hlinkClick r:id="rId5" tooltip="Infant mortality rate"/>
              </a:rPr>
              <a:t>infant mortality rates</a:t>
            </a:r>
            <a:r>
              <a:rPr lang="en-US" sz="2400" b="1" dirty="0"/>
              <a:t>, have converged (this trend was interrupted in the 1990s with the outbreak of the </a:t>
            </a:r>
            <a:r>
              <a:rPr lang="en-US" sz="2400" b="1" dirty="0">
                <a:hlinkClick r:id="rId6"/>
              </a:rPr>
              <a:t>AIDS epidemic in Sub-Saharan Africa</a:t>
            </a:r>
            <a:r>
              <a:rPr lang="en-US" sz="2400" b="1" dirty="0"/>
              <a:t>). This suggests that over time changes in income may have no impact on health or even be negatively related</a:t>
            </a:r>
            <a:r>
              <a:rPr lang="en-US" sz="2400" b="1" dirty="0" smtClean="0"/>
              <a:t>.</a:t>
            </a:r>
            <a:endParaRPr lang="en-US" sz="2400" b="1" dirty="0"/>
          </a:p>
        </p:txBody>
      </p:sp>
    </p:spTree>
    <p:extLst>
      <p:ext uri="{BB962C8B-B14F-4D97-AF65-F5344CB8AC3E}">
        <p14:creationId xmlns:p14="http://schemas.microsoft.com/office/powerpoint/2010/main" val="165088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4137" y="156751"/>
            <a:ext cx="11168743" cy="5632311"/>
          </a:xfrm>
          <a:prstGeom prst="rect">
            <a:avLst/>
          </a:prstGeom>
          <a:noFill/>
        </p:spPr>
        <p:txBody>
          <a:bodyPr wrap="square" rtlCol="0">
            <a:spAutoFit/>
          </a:bodyPr>
          <a:lstStyle/>
          <a:p>
            <a:pPr algn="just"/>
            <a:r>
              <a:rPr lang="en-US" sz="2000" b="1" dirty="0" smtClean="0"/>
              <a:t>Causality</a:t>
            </a:r>
          </a:p>
          <a:p>
            <a:pPr algn="just"/>
            <a:endParaRPr lang="en-US" sz="2000" b="1" dirty="0"/>
          </a:p>
          <a:p>
            <a:pPr algn="just"/>
            <a:r>
              <a:rPr lang="en-US" sz="2000" b="1" dirty="0"/>
              <a:t>A further limitation of the </a:t>
            </a:r>
            <a:r>
              <a:rPr lang="en-US" sz="2000" b="1" dirty="0">
                <a:hlinkClick r:id="rId2"/>
              </a:rPr>
              <a:t>correlation</a:t>
            </a:r>
            <a:r>
              <a:rPr lang="en-US" sz="2000" b="1" dirty="0"/>
              <a:t> is that it does not necessarily imply that the </a:t>
            </a:r>
            <a:r>
              <a:rPr lang="en-US" sz="2000" b="1" dirty="0">
                <a:hlinkClick r:id="rId3" tooltip="Causality"/>
              </a:rPr>
              <a:t>causality</a:t>
            </a:r>
            <a:r>
              <a:rPr lang="en-US" sz="2000" b="1" dirty="0"/>
              <a:t> runs from income to health. It could actually be that better health, as </a:t>
            </a:r>
            <a:r>
              <a:rPr lang="en-US" sz="2000" b="1" dirty="0" err="1"/>
              <a:t>proxied</a:t>
            </a:r>
            <a:r>
              <a:rPr lang="en-US" sz="2000" b="1" dirty="0"/>
              <a:t> by life expectancy, contributes to higher incomes, rather than vice versa</a:t>
            </a:r>
            <a:r>
              <a:rPr lang="en-US" sz="2000" b="1" dirty="0" smtClean="0"/>
              <a:t>.</a:t>
            </a:r>
            <a:r>
              <a:rPr lang="en-US" sz="2000" b="1" baseline="30000" dirty="0" smtClean="0"/>
              <a:t> </a:t>
            </a:r>
            <a:r>
              <a:rPr lang="en-US" sz="2000" b="1" dirty="0"/>
              <a:t> </a:t>
            </a:r>
            <a:endParaRPr lang="en-US" sz="2000" b="1" dirty="0" smtClean="0"/>
          </a:p>
          <a:p>
            <a:pPr algn="just"/>
            <a:endParaRPr lang="en-US" sz="2000" b="1" dirty="0"/>
          </a:p>
          <a:p>
            <a:pPr algn="just"/>
            <a:r>
              <a:rPr lang="en-US" sz="2000" b="1" dirty="0" smtClean="0"/>
              <a:t>Better </a:t>
            </a:r>
            <a:r>
              <a:rPr lang="en-US" sz="2000" b="1" dirty="0"/>
              <a:t>health can increase incomes because healthier individuals tend to be more productive than sick ones; on average they work harder, longer and are more capable of focusing efficiently on production tasks</a:t>
            </a:r>
            <a:r>
              <a:rPr lang="en-US" sz="2000" b="1" dirty="0" smtClean="0"/>
              <a:t>.</a:t>
            </a:r>
            <a:r>
              <a:rPr lang="en-US" sz="2000" b="1" dirty="0"/>
              <a:t> Furthermore, better health may affect not just the level of income but also its growth rate through its effect on </a:t>
            </a:r>
            <a:r>
              <a:rPr lang="en-US" sz="2000" b="1" dirty="0" smtClean="0"/>
              <a:t>education</a:t>
            </a:r>
            <a:r>
              <a:rPr lang="en-US" sz="2000" b="1" dirty="0"/>
              <a:t>. </a:t>
            </a:r>
            <a:endParaRPr lang="en-US" sz="2000" b="1" dirty="0" smtClean="0"/>
          </a:p>
          <a:p>
            <a:pPr algn="just"/>
            <a:endParaRPr lang="en-US" sz="2000" b="1" dirty="0"/>
          </a:p>
          <a:p>
            <a:pPr algn="just"/>
            <a:r>
              <a:rPr lang="en-US" sz="2000" b="1" dirty="0" smtClean="0"/>
              <a:t>Healthier </a:t>
            </a:r>
            <a:r>
              <a:rPr lang="en-US" sz="2000" b="1" dirty="0"/>
              <a:t>children spend more time at school and learn faster, thus acquiring more </a:t>
            </a:r>
            <a:r>
              <a:rPr lang="en-US" sz="2000" b="1" dirty="0">
                <a:hlinkClick r:id="rId4" tooltip="Human capital"/>
              </a:rPr>
              <a:t>human capital</a:t>
            </a:r>
            <a:r>
              <a:rPr lang="en-US" sz="2000" b="1" dirty="0"/>
              <a:t> which translates into higher growth rates of incomes later in life. Diseases such as malaria can short circuit these </a:t>
            </a:r>
            <a:r>
              <a:rPr lang="en-US" sz="2000" b="1" dirty="0" smtClean="0"/>
              <a:t>processes.</a:t>
            </a:r>
            <a:r>
              <a:rPr lang="en-US" sz="2000" b="1" dirty="0"/>
              <a:t> </a:t>
            </a:r>
            <a:endParaRPr lang="en-US" sz="2000" b="1" dirty="0" smtClean="0"/>
          </a:p>
          <a:p>
            <a:pPr algn="just"/>
            <a:endParaRPr lang="en-US" sz="2000" b="1" dirty="0"/>
          </a:p>
          <a:p>
            <a:pPr algn="just"/>
            <a:r>
              <a:rPr lang="en-US" sz="2000" b="1" dirty="0" smtClean="0"/>
              <a:t>Likewise </a:t>
            </a:r>
            <a:r>
              <a:rPr lang="en-US" sz="2000" b="1" dirty="0"/>
              <a:t>there is evidence that more healthy individuals save more and thus contribute to the faster accumulation of physical capital of an economy</a:t>
            </a:r>
            <a:r>
              <a:rPr lang="en-US" sz="2000" b="1" dirty="0" smtClean="0"/>
              <a:t>.</a:t>
            </a:r>
            <a:r>
              <a:rPr lang="en-US" sz="2000" b="1" dirty="0"/>
              <a:t> </a:t>
            </a:r>
            <a:r>
              <a:rPr lang="en-US" sz="2000" b="1" dirty="0">
                <a:hlinkClick r:id="rId5" tooltip="Jeffrey Sachs"/>
              </a:rPr>
              <a:t>Jeffrey Sachs</a:t>
            </a:r>
            <a:r>
              <a:rPr lang="en-US" sz="2000" b="1" dirty="0"/>
              <a:t> in particular has emphasized the role that the </a:t>
            </a:r>
            <a:r>
              <a:rPr lang="en-US" sz="2000" b="1" dirty="0">
                <a:hlinkClick r:id="rId6" tooltip="Disease"/>
              </a:rPr>
              <a:t>disease</a:t>
            </a:r>
            <a:r>
              <a:rPr lang="en-US" sz="2000" b="1" dirty="0"/>
              <a:t> burden has played in the impoverishment of countries located in the </a:t>
            </a:r>
            <a:r>
              <a:rPr lang="en-US" sz="2000" b="1" dirty="0">
                <a:hlinkClick r:id="rId7" tooltip="Tropical zone"/>
              </a:rPr>
              <a:t>tropical zones</a:t>
            </a:r>
            <a:r>
              <a:rPr lang="en-US" sz="2000" b="1" dirty="0" smtClean="0"/>
              <a:t>.</a:t>
            </a:r>
            <a:endParaRPr lang="en-US" sz="2000" b="1" dirty="0"/>
          </a:p>
        </p:txBody>
      </p:sp>
    </p:spTree>
    <p:extLst>
      <p:ext uri="{BB962C8B-B14F-4D97-AF65-F5344CB8AC3E}">
        <p14:creationId xmlns:p14="http://schemas.microsoft.com/office/powerpoint/2010/main" val="230488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8274" y="640080"/>
            <a:ext cx="10776857" cy="5262979"/>
          </a:xfrm>
          <a:prstGeom prst="rect">
            <a:avLst/>
          </a:prstGeom>
          <a:noFill/>
        </p:spPr>
        <p:txBody>
          <a:bodyPr wrap="square" rtlCol="0">
            <a:spAutoFit/>
          </a:bodyPr>
          <a:lstStyle/>
          <a:p>
            <a:pPr algn="just"/>
            <a:r>
              <a:rPr lang="en-US" sz="2400" b="1" dirty="0"/>
              <a:t>The problem of reverse causality between health and income means that any estimates of the impact of income on life expectancy could mistakenly reflect the influence of life expectancy (more generically, health) on income instead. As such, studies which do not account for this potential two-way causation may overestimate the importance of income for life expectancy. In economic research, this kind of problem has traditionally been dealt with through the use of </a:t>
            </a:r>
            <a:r>
              <a:rPr lang="en-US" sz="2400" b="1" dirty="0">
                <a:hlinkClick r:id="rId2" tooltip="Instrumental variable"/>
              </a:rPr>
              <a:t>instrumental variables</a:t>
            </a:r>
            <a:r>
              <a:rPr lang="en-US" sz="2400" b="1" dirty="0"/>
              <a:t> which allow the researcher to separate out one effect from </a:t>
            </a:r>
            <a:r>
              <a:rPr lang="en-US" sz="2400" b="1" dirty="0" smtClean="0"/>
              <a:t>another. This </a:t>
            </a:r>
            <a:r>
              <a:rPr lang="en-US" sz="2400" b="1" dirty="0"/>
              <a:t>strategy requires identification of an "instrument" – i.e. a variable which correlates with per capita income but not with the error term in the </a:t>
            </a:r>
            <a:r>
              <a:rPr lang="en-US" sz="2400" b="1" dirty="0">
                <a:hlinkClick r:id="rId3"/>
              </a:rPr>
              <a:t>linear regression</a:t>
            </a:r>
            <a:r>
              <a:rPr lang="en-US" sz="2400" b="1" dirty="0"/>
              <a:t>. However, since any variable which is likely to correlate with income is also likely to correlate strongly with health and life expectancy this is a difficult task. Some research suggests that in low and middle-income countries, the causality does indeed go from income to health, while the opposite is true for rich countries</a:t>
            </a:r>
            <a:r>
              <a:rPr lang="en-US" sz="2400" b="1" dirty="0" smtClean="0"/>
              <a:t>.</a:t>
            </a:r>
            <a:endParaRPr lang="en-US" sz="2400" b="1" dirty="0"/>
          </a:p>
        </p:txBody>
      </p:sp>
    </p:spTree>
    <p:extLst>
      <p:ext uri="{BB962C8B-B14F-4D97-AF65-F5344CB8AC3E}">
        <p14:creationId xmlns:p14="http://schemas.microsoft.com/office/powerpoint/2010/main" val="3034871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1301115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39386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1301115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93765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1301115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66139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1301115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57958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1301115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74062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7463" y="783771"/>
            <a:ext cx="10607040" cy="3416320"/>
          </a:xfrm>
          <a:prstGeom prst="rect">
            <a:avLst/>
          </a:prstGeom>
          <a:noFill/>
        </p:spPr>
        <p:txBody>
          <a:bodyPr wrap="square" rtlCol="0">
            <a:spAutoFit/>
          </a:bodyPr>
          <a:lstStyle/>
          <a:p>
            <a:r>
              <a:rPr lang="en-US" i="1" dirty="0"/>
              <a:t>Preston, S. H (1975). </a:t>
            </a:r>
            <a:r>
              <a:rPr lang="en-US" i="1" u="sng" dirty="0">
                <a:hlinkClick r:id="rId2"/>
              </a:rPr>
              <a:t>"The Changing Relation between Mortality and Level of Economic Development"</a:t>
            </a:r>
            <a:r>
              <a:rPr lang="en-US" i="1" dirty="0"/>
              <a:t>. Population Studies. </a:t>
            </a:r>
            <a:r>
              <a:rPr lang="en-US" b="1" i="1" dirty="0"/>
              <a:t>29</a:t>
            </a:r>
            <a:r>
              <a:rPr lang="en-US" i="1" dirty="0"/>
              <a:t> (2): 231–248. </a:t>
            </a:r>
            <a:r>
              <a:rPr lang="en-US" i="1" dirty="0">
                <a:hlinkClick r:id="rId3"/>
              </a:rPr>
              <a:t>doi</a:t>
            </a:r>
            <a:r>
              <a:rPr lang="en-US" i="1" dirty="0"/>
              <a:t>:</a:t>
            </a:r>
            <a:r>
              <a:rPr lang="en-US" i="1" u="sng" dirty="0">
                <a:hlinkClick r:id="rId4"/>
              </a:rPr>
              <a:t>10.2307/2173509</a:t>
            </a:r>
            <a:r>
              <a:rPr lang="en-US" i="1" dirty="0"/>
              <a:t>. </a:t>
            </a:r>
            <a:r>
              <a:rPr lang="en-US" i="1" dirty="0">
                <a:hlinkClick r:id="rId5" tooltip="JSTOR (identifier)"/>
              </a:rPr>
              <a:t>JSTOR</a:t>
            </a:r>
            <a:r>
              <a:rPr lang="en-US" i="1" dirty="0"/>
              <a:t> </a:t>
            </a:r>
            <a:r>
              <a:rPr lang="en-US" i="1" u="sng" dirty="0">
                <a:hlinkClick r:id="rId6"/>
              </a:rPr>
              <a:t>2173509</a:t>
            </a:r>
            <a:r>
              <a:rPr lang="en-US" i="1" dirty="0"/>
              <a:t>. </a:t>
            </a:r>
            <a:r>
              <a:rPr lang="en-US" i="1" dirty="0">
                <a:hlinkClick r:id="rId7"/>
              </a:rPr>
              <a:t>PMC</a:t>
            </a:r>
            <a:r>
              <a:rPr lang="en-US" i="1" dirty="0"/>
              <a:t> </a:t>
            </a:r>
            <a:r>
              <a:rPr lang="en-US" i="1" u="sng" dirty="0">
                <a:hlinkClick r:id="rId2"/>
              </a:rPr>
              <a:t>2572360</a:t>
            </a:r>
            <a:r>
              <a:rPr lang="en-US" i="1" dirty="0"/>
              <a:t>.</a:t>
            </a:r>
            <a:endParaRPr lang="en-US" dirty="0"/>
          </a:p>
          <a:p>
            <a:r>
              <a:rPr lang="en-US" b="1" dirty="0">
                <a:hlinkClick r:id="rId8"/>
              </a:rPr>
              <a:t>^</a:t>
            </a:r>
            <a:r>
              <a:rPr lang="en-US" dirty="0"/>
              <a:t> </a:t>
            </a:r>
            <a:r>
              <a:rPr lang="en-US" i="1" dirty="0"/>
              <a:t>Preston, S. H (2007). </a:t>
            </a:r>
            <a:r>
              <a:rPr lang="en-US" i="1" u="sng" dirty="0">
                <a:hlinkClick r:id="rId2"/>
              </a:rPr>
              <a:t>"The changing relation between mortality and level of economic development"</a:t>
            </a:r>
            <a:r>
              <a:rPr lang="en-US" i="1" dirty="0"/>
              <a:t>. International Journal of Epidemiology. </a:t>
            </a:r>
            <a:r>
              <a:rPr lang="en-US" b="1" i="1" dirty="0"/>
              <a:t>36</a:t>
            </a:r>
            <a:r>
              <a:rPr lang="en-US" i="1" dirty="0"/>
              <a:t> (3): 484–90. </a:t>
            </a:r>
            <a:r>
              <a:rPr lang="en-US" i="1" dirty="0">
                <a:hlinkClick r:id="rId3" tooltip="Doi (identifier)"/>
              </a:rPr>
              <a:t>doi</a:t>
            </a:r>
            <a:r>
              <a:rPr lang="en-US" i="1" dirty="0"/>
              <a:t>:</a:t>
            </a:r>
            <a:r>
              <a:rPr lang="en-US" i="1" u="sng" dirty="0">
                <a:hlinkClick r:id="rId9"/>
              </a:rPr>
              <a:t>10.1093/</a:t>
            </a:r>
            <a:r>
              <a:rPr lang="en-US" i="1" u="sng" dirty="0" err="1">
                <a:hlinkClick r:id="rId9"/>
              </a:rPr>
              <a:t>ije</a:t>
            </a:r>
            <a:r>
              <a:rPr lang="en-US" i="1" u="sng" dirty="0">
                <a:hlinkClick r:id="rId9"/>
              </a:rPr>
              <a:t>/dym075</a:t>
            </a:r>
            <a:r>
              <a:rPr lang="en-US" i="1" dirty="0"/>
              <a:t>. </a:t>
            </a:r>
            <a:r>
              <a:rPr lang="en-US" i="1" dirty="0">
                <a:hlinkClick r:id="rId7" tooltip="PMC (identifier)"/>
              </a:rPr>
              <a:t>PMC</a:t>
            </a:r>
            <a:r>
              <a:rPr lang="en-US" i="1" dirty="0"/>
              <a:t> </a:t>
            </a:r>
            <a:r>
              <a:rPr lang="en-US" i="1" u="sng" dirty="0">
                <a:hlinkClick r:id="rId2"/>
              </a:rPr>
              <a:t>2572360</a:t>
            </a:r>
            <a:r>
              <a:rPr lang="en-US" i="1" dirty="0"/>
              <a:t>. </a:t>
            </a:r>
            <a:r>
              <a:rPr lang="en-US" i="1" dirty="0">
                <a:hlinkClick r:id="rId10"/>
              </a:rPr>
              <a:t>PMID</a:t>
            </a:r>
            <a:r>
              <a:rPr lang="en-US" i="1" dirty="0"/>
              <a:t> </a:t>
            </a:r>
            <a:r>
              <a:rPr lang="en-US" i="1" u="sng" dirty="0">
                <a:hlinkClick r:id="rId11"/>
              </a:rPr>
              <a:t>17550952</a:t>
            </a:r>
            <a:r>
              <a:rPr lang="en-US" i="1" dirty="0" smtClean="0"/>
              <a:t>.</a:t>
            </a:r>
          </a:p>
          <a:p>
            <a:endParaRPr lang="en-US" i="1" dirty="0"/>
          </a:p>
          <a:p>
            <a:r>
              <a:rPr lang="en-US" dirty="0"/>
              <a:t>^ </a:t>
            </a:r>
            <a:r>
              <a:rPr lang="en-US" b="1" i="1" baseline="30000" dirty="0">
                <a:hlinkClick r:id="rId12"/>
              </a:rPr>
              <a:t>a</a:t>
            </a:r>
            <a:r>
              <a:rPr lang="en-US" dirty="0"/>
              <a:t> </a:t>
            </a:r>
            <a:r>
              <a:rPr lang="en-US" b="1" i="1" baseline="30000" dirty="0">
                <a:hlinkClick r:id="rId13"/>
              </a:rPr>
              <a:t>b</a:t>
            </a:r>
            <a:r>
              <a:rPr lang="en-US" dirty="0"/>
              <a:t> </a:t>
            </a:r>
            <a:r>
              <a:rPr lang="en-US" i="1" dirty="0"/>
              <a:t>Becker GS, Philipson TJ, </a:t>
            </a:r>
            <a:r>
              <a:rPr lang="en-US" i="1" dirty="0" err="1"/>
              <a:t>Soares</a:t>
            </a:r>
            <a:r>
              <a:rPr lang="en-US" i="1" dirty="0"/>
              <a:t> RR (2005). </a:t>
            </a:r>
            <a:r>
              <a:rPr lang="en-US" i="1" u="sng" dirty="0">
                <a:hlinkClick r:id="rId14"/>
              </a:rPr>
              <a:t>"The quantity of life and the evolution of world inequality"</a:t>
            </a:r>
            <a:r>
              <a:rPr lang="en-US" i="1" dirty="0"/>
              <a:t>(PDF). Am Econ Rev. </a:t>
            </a:r>
            <a:r>
              <a:rPr lang="en-US" b="1" i="1" dirty="0"/>
              <a:t>95</a:t>
            </a:r>
            <a:r>
              <a:rPr lang="en-US" i="1" dirty="0"/>
              <a:t>: 277–291. </a:t>
            </a:r>
            <a:r>
              <a:rPr lang="en-US" i="1" dirty="0">
                <a:hlinkClick r:id="rId3" tooltip="Doi (identifier)"/>
              </a:rPr>
              <a:t>doi</a:t>
            </a:r>
            <a:r>
              <a:rPr lang="en-US" i="1" dirty="0"/>
              <a:t>:</a:t>
            </a:r>
            <a:r>
              <a:rPr lang="en-US" i="1" u="sng" dirty="0">
                <a:hlinkClick r:id="rId15"/>
              </a:rPr>
              <a:t>10.1257/0002828053828563</a:t>
            </a:r>
            <a:r>
              <a:rPr lang="en-US" i="1" dirty="0"/>
              <a:t>. Archived from </a:t>
            </a:r>
            <a:r>
              <a:rPr lang="en-US" i="1" u="sng" dirty="0">
                <a:hlinkClick r:id="rId16"/>
              </a:rPr>
              <a:t>the original</a:t>
            </a:r>
            <a:r>
              <a:rPr lang="en-US" i="1" dirty="0"/>
              <a:t> (PDF) on 2009-10-10. Retrieved 2010-01-08</a:t>
            </a:r>
            <a:r>
              <a:rPr lang="en-US" i="1" dirty="0" smtClean="0"/>
              <a:t>.</a:t>
            </a:r>
          </a:p>
          <a:p>
            <a:endParaRPr lang="en-US" i="1" dirty="0"/>
          </a:p>
          <a:p>
            <a:r>
              <a:rPr lang="en-US" dirty="0">
                <a:hlinkClick r:id="rId17"/>
              </a:rPr>
              <a:t>https://www.wikiwand.com/en/Preston_curve</a:t>
            </a:r>
            <a:endParaRPr lang="en-US" dirty="0"/>
          </a:p>
          <a:p>
            <a:endParaRPr lang="en-US" dirty="0"/>
          </a:p>
        </p:txBody>
      </p:sp>
    </p:spTree>
    <p:extLst>
      <p:ext uri="{BB962C8B-B14F-4D97-AF65-F5344CB8AC3E}">
        <p14:creationId xmlns:p14="http://schemas.microsoft.com/office/powerpoint/2010/main" val="2885918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TotalTime>
  <Words>343</Words>
  <Application>Microsoft Office PowerPoint</Application>
  <PresentationFormat>Widescreen</PresentationFormat>
  <Paragraphs>46</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Sharmind Neelormi</dc:creator>
  <cp:lastModifiedBy>ADMIN</cp:lastModifiedBy>
  <cp:revision>25</cp:revision>
  <dcterms:created xsi:type="dcterms:W3CDTF">2020-07-17T17:29:41Z</dcterms:created>
  <dcterms:modified xsi:type="dcterms:W3CDTF">2024-09-12T04:20:10Z</dcterms:modified>
</cp:coreProperties>
</file>