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9" r:id="rId10"/>
    <p:sldId id="265" r:id="rId11"/>
    <p:sldId id="276" r:id="rId12"/>
    <p:sldId id="277" r:id="rId13"/>
    <p:sldId id="278" r:id="rId14"/>
    <p:sldId id="279" r:id="rId15"/>
    <p:sldId id="280" r:id="rId16"/>
    <p:sldId id="268" r:id="rId17"/>
    <p:sldId id="266" r:id="rId18"/>
    <p:sldId id="267" r:id="rId19"/>
    <p:sldId id="271" r:id="rId20"/>
    <p:sldId id="272" r:id="rId21"/>
    <p:sldId id="273" r:id="rId22"/>
    <p:sldId id="274"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45CEA22-7295-4758-9877-903BB3648D1C}"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886F40-9EB2-4E7B-8D15-E1A84562C5DB}" type="slidenum">
              <a:rPr lang="en-US" smtClean="0"/>
              <a:t>‹#›</a:t>
            </a:fld>
            <a:endParaRPr lang="en-US"/>
          </a:p>
        </p:txBody>
      </p:sp>
    </p:spTree>
    <p:extLst>
      <p:ext uri="{BB962C8B-B14F-4D97-AF65-F5344CB8AC3E}">
        <p14:creationId xmlns:p14="http://schemas.microsoft.com/office/powerpoint/2010/main" val="3598793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5CEA22-7295-4758-9877-903BB3648D1C}"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886F40-9EB2-4E7B-8D15-E1A84562C5DB}" type="slidenum">
              <a:rPr lang="en-US" smtClean="0"/>
              <a:t>‹#›</a:t>
            </a:fld>
            <a:endParaRPr lang="en-US"/>
          </a:p>
        </p:txBody>
      </p:sp>
    </p:spTree>
    <p:extLst>
      <p:ext uri="{BB962C8B-B14F-4D97-AF65-F5344CB8AC3E}">
        <p14:creationId xmlns:p14="http://schemas.microsoft.com/office/powerpoint/2010/main" val="541938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45CEA22-7295-4758-9877-903BB3648D1C}"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886F40-9EB2-4E7B-8D15-E1A84562C5DB}" type="slidenum">
              <a:rPr lang="en-US" smtClean="0"/>
              <a:t>‹#›</a:t>
            </a:fld>
            <a:endParaRPr lang="en-US"/>
          </a:p>
        </p:txBody>
      </p:sp>
    </p:spTree>
    <p:extLst>
      <p:ext uri="{BB962C8B-B14F-4D97-AF65-F5344CB8AC3E}">
        <p14:creationId xmlns:p14="http://schemas.microsoft.com/office/powerpoint/2010/main" val="3054980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45CEA22-7295-4758-9877-903BB3648D1C}" type="datetimeFigureOut">
              <a:rPr lang="en-US" smtClean="0"/>
              <a:t>9/4/2024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886F40-9EB2-4E7B-8D15-E1A84562C5DB}" type="slidenum">
              <a:rPr lang="en-US" smtClean="0"/>
              <a:t>‹#›</a:t>
            </a:fld>
            <a:endParaRPr lang="en-US"/>
          </a:p>
        </p:txBody>
      </p:sp>
    </p:spTree>
    <p:extLst>
      <p:ext uri="{BB962C8B-B14F-4D97-AF65-F5344CB8AC3E}">
        <p14:creationId xmlns:p14="http://schemas.microsoft.com/office/powerpoint/2010/main" val="3980078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45CEA22-7295-4758-9877-903BB3648D1C}" type="datetimeFigureOut">
              <a:rPr lang="en-US" smtClean="0"/>
              <a:t>9/4/2024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886F40-9EB2-4E7B-8D15-E1A84562C5DB}" type="slidenum">
              <a:rPr lang="en-US" smtClean="0"/>
              <a:t>‹#›</a:t>
            </a:fld>
            <a:endParaRPr lang="en-US"/>
          </a:p>
        </p:txBody>
      </p:sp>
    </p:spTree>
    <p:extLst>
      <p:ext uri="{BB962C8B-B14F-4D97-AF65-F5344CB8AC3E}">
        <p14:creationId xmlns:p14="http://schemas.microsoft.com/office/powerpoint/2010/main" val="684090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45CEA22-7295-4758-9877-903BB3648D1C}" type="datetimeFigureOut">
              <a:rPr lang="en-US" smtClean="0"/>
              <a:t>9/4/2024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886F40-9EB2-4E7B-8D15-E1A84562C5DB}" type="slidenum">
              <a:rPr lang="en-US" smtClean="0"/>
              <a:t>‹#›</a:t>
            </a:fld>
            <a:endParaRPr lang="en-US"/>
          </a:p>
        </p:txBody>
      </p:sp>
    </p:spTree>
    <p:extLst>
      <p:ext uri="{BB962C8B-B14F-4D97-AF65-F5344CB8AC3E}">
        <p14:creationId xmlns:p14="http://schemas.microsoft.com/office/powerpoint/2010/main" val="2232361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5CEA22-7295-4758-9877-903BB3648D1C}" type="datetimeFigureOut">
              <a:rPr lang="en-US" smtClean="0"/>
              <a:t>9/4/2024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886F40-9EB2-4E7B-8D15-E1A84562C5DB}" type="slidenum">
              <a:rPr lang="en-US" smtClean="0"/>
              <a:t>‹#›</a:t>
            </a:fld>
            <a:endParaRPr lang="en-US"/>
          </a:p>
        </p:txBody>
      </p:sp>
    </p:spTree>
    <p:extLst>
      <p:ext uri="{BB962C8B-B14F-4D97-AF65-F5344CB8AC3E}">
        <p14:creationId xmlns:p14="http://schemas.microsoft.com/office/powerpoint/2010/main" val="2750650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45CEA22-7295-4758-9877-903BB3648D1C}" type="datetimeFigureOut">
              <a:rPr lang="en-US" smtClean="0"/>
              <a:t>9/4/2024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886F40-9EB2-4E7B-8D15-E1A84562C5DB}" type="slidenum">
              <a:rPr lang="en-US" smtClean="0"/>
              <a:t>‹#›</a:t>
            </a:fld>
            <a:endParaRPr lang="en-US"/>
          </a:p>
        </p:txBody>
      </p:sp>
    </p:spTree>
    <p:extLst>
      <p:ext uri="{BB962C8B-B14F-4D97-AF65-F5344CB8AC3E}">
        <p14:creationId xmlns:p14="http://schemas.microsoft.com/office/powerpoint/2010/main" val="1125527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45CEA22-7295-4758-9877-903BB3648D1C}" type="datetimeFigureOut">
              <a:rPr lang="en-US" smtClean="0"/>
              <a:t>9/4/2024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886F40-9EB2-4E7B-8D15-E1A84562C5DB}" type="slidenum">
              <a:rPr lang="en-US" smtClean="0"/>
              <a:t>‹#›</a:t>
            </a:fld>
            <a:endParaRPr lang="en-US"/>
          </a:p>
        </p:txBody>
      </p:sp>
    </p:spTree>
    <p:extLst>
      <p:ext uri="{BB962C8B-B14F-4D97-AF65-F5344CB8AC3E}">
        <p14:creationId xmlns:p14="http://schemas.microsoft.com/office/powerpoint/2010/main" val="924095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5CEA22-7295-4758-9877-903BB3648D1C}"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886F40-9EB2-4E7B-8D15-E1A84562C5DB}" type="slidenum">
              <a:rPr lang="en-US" smtClean="0"/>
              <a:t>‹#›</a:t>
            </a:fld>
            <a:endParaRPr lang="en-US"/>
          </a:p>
        </p:txBody>
      </p:sp>
    </p:spTree>
    <p:extLst>
      <p:ext uri="{BB962C8B-B14F-4D97-AF65-F5344CB8AC3E}">
        <p14:creationId xmlns:p14="http://schemas.microsoft.com/office/powerpoint/2010/main" val="1668173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5CEA22-7295-4758-9877-903BB3648D1C}"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886F40-9EB2-4E7B-8D15-E1A84562C5DB}" type="slidenum">
              <a:rPr lang="en-US" smtClean="0"/>
              <a:t>‹#›</a:t>
            </a:fld>
            <a:endParaRPr lang="en-US"/>
          </a:p>
        </p:txBody>
      </p:sp>
    </p:spTree>
    <p:extLst>
      <p:ext uri="{BB962C8B-B14F-4D97-AF65-F5344CB8AC3E}">
        <p14:creationId xmlns:p14="http://schemas.microsoft.com/office/powerpoint/2010/main" val="3107752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5CEA22-7295-4758-9877-903BB3648D1C}" type="datetimeFigureOut">
              <a:rPr lang="en-US" smtClean="0"/>
              <a:t>9/4/2024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886F40-9EB2-4E7B-8D15-E1A84562C5DB}" type="slidenum">
              <a:rPr lang="en-US" smtClean="0"/>
              <a:t>‹#›</a:t>
            </a:fld>
            <a:endParaRPr lang="en-US"/>
          </a:p>
        </p:txBody>
      </p:sp>
    </p:spTree>
    <p:extLst>
      <p:ext uri="{BB962C8B-B14F-4D97-AF65-F5344CB8AC3E}">
        <p14:creationId xmlns:p14="http://schemas.microsoft.com/office/powerpoint/2010/main" val="3346426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7.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7.xml"/><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population.un.org/wup/Publications/Files/WUP2018-KeyFacts.pdf" TargetMode="External"/><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7.xml"/><Relationship Id="rId4"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GB" dirty="0" smtClean="0"/>
              <a:t>Part</a:t>
            </a:r>
            <a:r>
              <a:rPr lang="en-GB" dirty="0" smtClean="0"/>
              <a:t>-1</a:t>
            </a:r>
            <a:endParaRPr lang="en-GB" dirty="0" smtClean="0"/>
          </a:p>
          <a:p>
            <a:r>
              <a:rPr lang="en-GB" dirty="0" smtClean="0"/>
              <a:t>POPULATION AND </a:t>
            </a:r>
            <a:r>
              <a:rPr lang="en-GB" dirty="0" smtClean="0"/>
              <a:t>DEVELOPMENT</a:t>
            </a:r>
            <a:endParaRPr lang="en-US" dirty="0"/>
          </a:p>
        </p:txBody>
      </p:sp>
    </p:spTree>
    <p:extLst>
      <p:ext uri="{BB962C8B-B14F-4D97-AF65-F5344CB8AC3E}">
        <p14:creationId xmlns:p14="http://schemas.microsoft.com/office/powerpoint/2010/main" val="4081529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2012" y="413886"/>
            <a:ext cx="11473313" cy="6217087"/>
          </a:xfrm>
          <a:prstGeom prst="rect">
            <a:avLst/>
          </a:prstGeom>
          <a:noFill/>
        </p:spPr>
        <p:txBody>
          <a:bodyPr wrap="square" rtlCol="0">
            <a:spAutoFit/>
          </a:bodyPr>
          <a:lstStyle/>
          <a:p>
            <a:r>
              <a:rPr lang="en-GB" sz="3200" b="1" dirty="0" smtClean="0"/>
              <a:t>Population growth</a:t>
            </a:r>
          </a:p>
          <a:p>
            <a:pPr>
              <a:spcAft>
                <a:spcPts val="600"/>
              </a:spcAft>
            </a:pPr>
            <a:r>
              <a:rPr lang="en-GB" sz="2400" dirty="0" smtClean="0"/>
              <a:t>Population growth is the net change in population within a specific period in a given area.</a:t>
            </a:r>
          </a:p>
          <a:p>
            <a:pPr>
              <a:spcAft>
                <a:spcPts val="600"/>
              </a:spcAft>
            </a:pPr>
            <a:r>
              <a:rPr lang="en-GB" sz="2400" dirty="0"/>
              <a:t>Population growth can be measured in a </a:t>
            </a:r>
            <a:r>
              <a:rPr lang="en-GB" sz="2400" dirty="0" smtClean="0"/>
              <a:t>neighbourhood</a:t>
            </a:r>
            <a:r>
              <a:rPr lang="en-GB" sz="2400" dirty="0"/>
              <a:t>, country, or even global level</a:t>
            </a:r>
            <a:r>
              <a:rPr lang="en-GB" sz="2400" dirty="0" smtClean="0"/>
              <a:t>!</a:t>
            </a:r>
          </a:p>
          <a:p>
            <a:pPr>
              <a:spcAft>
                <a:spcPts val="600"/>
              </a:spcAft>
            </a:pPr>
            <a:r>
              <a:rPr lang="en-GB" sz="2400" dirty="0" smtClean="0"/>
              <a:t>Population growth can be positive, can well be negative! It depends on the nett change in population over a specific time frame.</a:t>
            </a:r>
          </a:p>
          <a:p>
            <a:pPr>
              <a:spcAft>
                <a:spcPts val="600"/>
              </a:spcAft>
            </a:pPr>
            <a:r>
              <a:rPr lang="en-GB" sz="2400" dirty="0"/>
              <a:t>The three leading causes of population growth are births, deaths, and migration. Births and deaths are seen as natural causes of population change</a:t>
            </a:r>
            <a:r>
              <a:rPr lang="en-GB" sz="2400" dirty="0" smtClean="0"/>
              <a:t>.</a:t>
            </a:r>
          </a:p>
          <a:p>
            <a:pPr>
              <a:spcAft>
                <a:spcPts val="600"/>
              </a:spcAft>
            </a:pPr>
            <a:endParaRPr lang="en-GB" sz="1050" dirty="0" smtClean="0"/>
          </a:p>
          <a:p>
            <a:pPr>
              <a:spcAft>
                <a:spcPts val="600"/>
              </a:spcAft>
            </a:pPr>
            <a:r>
              <a:rPr lang="en-GB" sz="2800" dirty="0" smtClean="0"/>
              <a:t>Components of population growth</a:t>
            </a:r>
          </a:p>
          <a:p>
            <a:pPr>
              <a:spcAft>
                <a:spcPts val="600"/>
              </a:spcAft>
            </a:pPr>
            <a:r>
              <a:rPr lang="en-GB" sz="2400" dirty="0" smtClean="0"/>
              <a:t>Natural increase/decrease: Birth rate, death rate, infant mortality rate, life expectancy</a:t>
            </a:r>
          </a:p>
          <a:p>
            <a:pPr>
              <a:spcAft>
                <a:spcPts val="600"/>
              </a:spcAft>
            </a:pPr>
            <a:r>
              <a:rPr lang="en-GB" sz="2400" dirty="0" smtClean="0"/>
              <a:t>Net migration: Immigration, emigration, net migration rate</a:t>
            </a:r>
          </a:p>
          <a:p>
            <a:pPr>
              <a:spcAft>
                <a:spcPts val="600"/>
              </a:spcAft>
            </a:pPr>
            <a:r>
              <a:rPr lang="en-GB" sz="2400" dirty="0" smtClean="0"/>
              <a:t>Childbearing patterns: Total fertility rate, replacement level fertility</a:t>
            </a:r>
          </a:p>
          <a:p>
            <a:pPr>
              <a:spcAft>
                <a:spcPts val="600"/>
              </a:spcAft>
            </a:pPr>
            <a:r>
              <a:rPr lang="en-GB" sz="2400" dirty="0" smtClean="0"/>
              <a:t>Patterns related to death: Crude death rate, age-specific death rate</a:t>
            </a:r>
          </a:p>
          <a:p>
            <a:pPr>
              <a:spcAft>
                <a:spcPts val="600"/>
              </a:spcAft>
            </a:pPr>
            <a:r>
              <a:rPr lang="en-GB" sz="2400" dirty="0" smtClean="0"/>
              <a:t>Age structure (distribution of age groups): Dependency ratio, median age</a:t>
            </a:r>
          </a:p>
        </p:txBody>
      </p:sp>
    </p:spTree>
    <p:extLst>
      <p:ext uri="{BB962C8B-B14F-4D97-AF65-F5344CB8AC3E}">
        <p14:creationId xmlns:p14="http://schemas.microsoft.com/office/powerpoint/2010/main" val="3108494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2012" y="413886"/>
            <a:ext cx="11473313" cy="6063198"/>
          </a:xfrm>
          <a:prstGeom prst="rect">
            <a:avLst/>
          </a:prstGeom>
          <a:noFill/>
        </p:spPr>
        <p:txBody>
          <a:bodyPr wrap="square" rtlCol="0">
            <a:spAutoFit/>
          </a:bodyPr>
          <a:lstStyle/>
          <a:p>
            <a:r>
              <a:rPr lang="en-GB" sz="3200" b="1" dirty="0" smtClean="0"/>
              <a:t>Population growth and economic growth</a:t>
            </a:r>
          </a:p>
          <a:p>
            <a:pPr>
              <a:spcAft>
                <a:spcPts val="600"/>
              </a:spcAft>
            </a:pPr>
            <a:r>
              <a:rPr lang="en-GB" sz="2400" dirty="0" smtClean="0"/>
              <a:t>Population </a:t>
            </a:r>
            <a:r>
              <a:rPr lang="en-GB" sz="2400" dirty="0"/>
              <a:t>growth and economic growth are closely related to one another. For example, productivity is an important factor in economic growth. </a:t>
            </a:r>
            <a:endParaRPr lang="en-GB" sz="2400" dirty="0" smtClean="0"/>
          </a:p>
          <a:p>
            <a:pPr>
              <a:spcAft>
                <a:spcPts val="600"/>
              </a:spcAft>
            </a:pPr>
            <a:r>
              <a:rPr lang="en-GB" sz="2400" dirty="0" smtClean="0"/>
              <a:t>How </a:t>
            </a:r>
            <a:r>
              <a:rPr lang="en-GB" sz="2400" dirty="0"/>
              <a:t>might productivity be important to population growth</a:t>
            </a:r>
            <a:r>
              <a:rPr lang="en-GB" sz="2400" dirty="0" smtClean="0"/>
              <a:t>?</a:t>
            </a:r>
          </a:p>
          <a:p>
            <a:pPr>
              <a:spcAft>
                <a:spcPts val="600"/>
              </a:spcAft>
            </a:pPr>
            <a:r>
              <a:rPr lang="en-GB" sz="2400" dirty="0"/>
              <a:t>A greater population means that there is a larger workforce. A larger workforce means that there is potential for higher productivity to produce more goods — this results in greater output (GDP)! Not only is there a greater supply of workers, but there is also a greater demand for goods and services as well. Greater demand and supply will lead to an increase in overall economic growth</a:t>
            </a:r>
            <a:r>
              <a:rPr lang="en-GB" sz="2400" dirty="0" smtClean="0"/>
              <a:t>.</a:t>
            </a:r>
          </a:p>
          <a:p>
            <a:pPr>
              <a:spcAft>
                <a:spcPts val="600"/>
              </a:spcAft>
            </a:pPr>
            <a:r>
              <a:rPr lang="en-GB" sz="2400" dirty="0"/>
              <a:t>More people in a country will also result in higher tax revenues for the government. The government can use the increased tax revenue </a:t>
            </a:r>
            <a:r>
              <a:rPr lang="en-GB" sz="2400" dirty="0" smtClean="0"/>
              <a:t>to build </a:t>
            </a:r>
            <a:r>
              <a:rPr lang="en-GB" sz="2400" dirty="0"/>
              <a:t>infrastructure or </a:t>
            </a:r>
            <a:r>
              <a:rPr lang="en-GB" sz="2400" dirty="0" smtClean="0"/>
              <a:t>improve </a:t>
            </a:r>
            <a:r>
              <a:rPr lang="en-GB" sz="2400" dirty="0"/>
              <a:t>welfare programs. Lastly, a higher population increases the probability of innovation in the free market</a:t>
            </a:r>
            <a:r>
              <a:rPr lang="en-GB" sz="2400" dirty="0" smtClean="0"/>
              <a:t>.</a:t>
            </a:r>
          </a:p>
          <a:p>
            <a:pPr>
              <a:spcAft>
                <a:spcPts val="600"/>
              </a:spcAft>
            </a:pPr>
            <a:r>
              <a:rPr lang="en-GB" sz="2400" dirty="0" smtClean="0"/>
              <a:t>In brief, positive economic effects are: more people means more output, more tax revenue and innovation in market.</a:t>
            </a:r>
            <a:endParaRPr lang="en-US" sz="3200" dirty="0"/>
          </a:p>
        </p:txBody>
      </p:sp>
    </p:spTree>
    <p:extLst>
      <p:ext uri="{BB962C8B-B14F-4D97-AF65-F5344CB8AC3E}">
        <p14:creationId xmlns:p14="http://schemas.microsoft.com/office/powerpoint/2010/main" val="21394952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2012" y="413886"/>
            <a:ext cx="11473313" cy="6294031"/>
          </a:xfrm>
          <a:prstGeom prst="rect">
            <a:avLst/>
          </a:prstGeom>
          <a:noFill/>
        </p:spPr>
        <p:txBody>
          <a:bodyPr wrap="square" rtlCol="0">
            <a:spAutoFit/>
          </a:bodyPr>
          <a:lstStyle/>
          <a:p>
            <a:r>
              <a:rPr lang="en-GB" sz="3200" b="1" dirty="0" smtClean="0"/>
              <a:t>Population growth and economic growth: The darker side</a:t>
            </a:r>
          </a:p>
          <a:p>
            <a:pPr>
              <a:spcAft>
                <a:spcPts val="600"/>
              </a:spcAft>
            </a:pPr>
            <a:r>
              <a:rPr lang="en-GB" sz="2400" dirty="0"/>
              <a:t>Greater population growth may exacerbate the problem of resource scarcity. </a:t>
            </a:r>
            <a:endParaRPr lang="en-GB" sz="2400" dirty="0" smtClean="0"/>
          </a:p>
          <a:p>
            <a:pPr>
              <a:spcAft>
                <a:spcPts val="600"/>
              </a:spcAft>
            </a:pPr>
            <a:r>
              <a:rPr lang="en-GB" sz="2400" dirty="0" smtClean="0"/>
              <a:t>If </a:t>
            </a:r>
            <a:r>
              <a:rPr lang="en-GB" sz="2400" dirty="0"/>
              <a:t>a country is barely providing resources to its current population, </a:t>
            </a:r>
            <a:r>
              <a:rPr lang="en-GB" sz="2400" dirty="0" smtClean="0"/>
              <a:t>people </a:t>
            </a:r>
            <a:r>
              <a:rPr lang="en-GB" sz="2400" dirty="0"/>
              <a:t>will not be able to access resources since there will be too many people demanding too few resources. </a:t>
            </a:r>
            <a:endParaRPr lang="en-GB" sz="2400" dirty="0" smtClean="0"/>
          </a:p>
          <a:p>
            <a:pPr>
              <a:spcAft>
                <a:spcPts val="600"/>
              </a:spcAft>
            </a:pPr>
            <a:r>
              <a:rPr lang="en-GB" sz="2400" dirty="0" smtClean="0"/>
              <a:t>Population </a:t>
            </a:r>
            <a:r>
              <a:rPr lang="en-GB" sz="2400" dirty="0"/>
              <a:t>growth can also put pressure on certain areas where people migrate to, such as cities. Cities tend to have more people living in them as opposed to rural areas; as such, cities can become overburdened with too many people living in them. </a:t>
            </a:r>
            <a:endParaRPr lang="en-GB" sz="2400" dirty="0" smtClean="0"/>
          </a:p>
          <a:p>
            <a:pPr>
              <a:spcAft>
                <a:spcPts val="600"/>
              </a:spcAft>
            </a:pPr>
            <a:r>
              <a:rPr lang="en-GB" sz="2400" dirty="0" smtClean="0"/>
              <a:t>Traffic </a:t>
            </a:r>
            <a:r>
              <a:rPr lang="en-GB" sz="2400" dirty="0"/>
              <a:t>congestion and pollution are often problems in these areas</a:t>
            </a:r>
            <a:r>
              <a:rPr lang="en-GB" sz="2400" dirty="0" smtClean="0"/>
              <a:t>.</a:t>
            </a:r>
          </a:p>
          <a:p>
            <a:pPr>
              <a:spcAft>
                <a:spcPts val="600"/>
              </a:spcAft>
            </a:pPr>
            <a:r>
              <a:rPr lang="en-GB" sz="2400" dirty="0" smtClean="0"/>
              <a:t>Traffic congestion erodes productive time ……..results in fuel inefficiency….. Contributes to air pollution, thereby increasing externality.</a:t>
            </a:r>
          </a:p>
          <a:p>
            <a:pPr>
              <a:spcAft>
                <a:spcPts val="600"/>
              </a:spcAft>
            </a:pPr>
            <a:r>
              <a:rPr lang="en-GB" sz="2400" dirty="0" smtClean="0"/>
              <a:t>Population growth not only can adversely affect economic growth, can also contribute to environmental degradation.</a:t>
            </a:r>
            <a:br>
              <a:rPr lang="en-GB" sz="2400" dirty="0" smtClean="0"/>
            </a:br>
            <a:endParaRPr lang="en-GB" sz="2400" dirty="0" smtClean="0"/>
          </a:p>
          <a:p>
            <a:pPr>
              <a:spcAft>
                <a:spcPts val="600"/>
              </a:spcAft>
            </a:pPr>
            <a:r>
              <a:rPr lang="en-GB" sz="2400" dirty="0" smtClean="0"/>
              <a:t>What can be a nexus between population growth and agriculture?</a:t>
            </a:r>
          </a:p>
          <a:p>
            <a:pPr>
              <a:spcAft>
                <a:spcPts val="600"/>
              </a:spcAft>
            </a:pPr>
            <a:r>
              <a:rPr lang="en-GB" sz="2400" dirty="0"/>
              <a:t>	</a:t>
            </a:r>
            <a:r>
              <a:rPr lang="en-GB" sz="2400" dirty="0" smtClean="0"/>
              <a:t>								</a:t>
            </a:r>
            <a:r>
              <a:rPr lang="en-GB" sz="2400" b="1" dirty="0" smtClean="0">
                <a:solidFill>
                  <a:schemeClr val="bg1">
                    <a:lumMod val="85000"/>
                  </a:schemeClr>
                </a:solidFill>
              </a:rPr>
              <a:t>Discussion time</a:t>
            </a:r>
            <a:endParaRPr lang="en-US" sz="4400" b="1" dirty="0">
              <a:solidFill>
                <a:schemeClr val="bg1">
                  <a:lumMod val="85000"/>
                </a:schemeClr>
              </a:solidFill>
            </a:endParaRPr>
          </a:p>
        </p:txBody>
      </p:sp>
    </p:spTree>
    <p:extLst>
      <p:ext uri="{BB962C8B-B14F-4D97-AF65-F5344CB8AC3E}">
        <p14:creationId xmlns:p14="http://schemas.microsoft.com/office/powerpoint/2010/main" val="20177040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1760" y="3148193"/>
            <a:ext cx="11916076" cy="3637902"/>
          </a:xfrm>
          <a:prstGeom prst="rect">
            <a:avLst/>
          </a:prstGeom>
        </p:spPr>
      </p:pic>
      <p:pic>
        <p:nvPicPr>
          <p:cNvPr id="2" name="Picture 1"/>
          <p:cNvPicPr>
            <a:picLocks noChangeAspect="1"/>
          </p:cNvPicPr>
          <p:nvPr/>
        </p:nvPicPr>
        <p:blipFill>
          <a:blip r:embed="rId3"/>
          <a:stretch>
            <a:fillRect/>
          </a:stretch>
        </p:blipFill>
        <p:spPr>
          <a:xfrm>
            <a:off x="134753" y="36994"/>
            <a:ext cx="11964202" cy="3723008"/>
          </a:xfrm>
          <a:prstGeom prst="rect">
            <a:avLst/>
          </a:prstGeom>
        </p:spPr>
      </p:pic>
      <p:sp>
        <p:nvSpPr>
          <p:cNvPr id="3" name="Rounded Rectangle 2"/>
          <p:cNvSpPr/>
          <p:nvPr/>
        </p:nvSpPr>
        <p:spPr>
          <a:xfrm>
            <a:off x="9221002" y="365760"/>
            <a:ext cx="2695074" cy="3538627"/>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2800" y="355600"/>
            <a:ext cx="6746240" cy="523220"/>
          </a:xfrm>
          <a:prstGeom prst="rect">
            <a:avLst/>
          </a:prstGeom>
          <a:noFill/>
        </p:spPr>
        <p:txBody>
          <a:bodyPr wrap="square" rtlCol="0">
            <a:spAutoFit/>
          </a:bodyPr>
          <a:lstStyle/>
          <a:p>
            <a:r>
              <a:rPr lang="en-GB" sz="2800" b="1" dirty="0" smtClean="0"/>
              <a:t>Historical population growth at global scale</a:t>
            </a:r>
            <a:endParaRPr lang="en-US" sz="2800" b="1" dirty="0"/>
          </a:p>
        </p:txBody>
      </p:sp>
      <p:sp>
        <p:nvSpPr>
          <p:cNvPr id="6" name="TextBox 5"/>
          <p:cNvSpPr txBox="1"/>
          <p:nvPr/>
        </p:nvSpPr>
        <p:spPr>
          <a:xfrm>
            <a:off x="1635760" y="4978400"/>
            <a:ext cx="6543040" cy="307777"/>
          </a:xfrm>
          <a:prstGeom prst="rect">
            <a:avLst/>
          </a:prstGeom>
          <a:noFill/>
        </p:spPr>
        <p:txBody>
          <a:bodyPr wrap="square" rtlCol="0">
            <a:spAutoFit/>
          </a:bodyPr>
          <a:lstStyle/>
          <a:p>
            <a:r>
              <a:rPr lang="en-GB" sz="1400" b="1" i="1" dirty="0" smtClean="0"/>
              <a:t>Sources: </a:t>
            </a:r>
            <a:r>
              <a:rPr lang="en-GB" sz="1400" b="1" dirty="0" smtClean="0"/>
              <a:t>Clark, 1967; UNDP, 1974; FAO, 1980</a:t>
            </a:r>
            <a:endParaRPr lang="en-US" sz="1400" b="1" dirty="0"/>
          </a:p>
        </p:txBody>
      </p:sp>
    </p:spTree>
    <p:extLst>
      <p:ext uri="{BB962C8B-B14F-4D97-AF65-F5344CB8AC3E}">
        <p14:creationId xmlns:p14="http://schemas.microsoft.com/office/powerpoint/2010/main" val="17213892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4160" y="620553"/>
            <a:ext cx="6402258" cy="6116123"/>
          </a:xfrm>
          <a:prstGeom prst="rect">
            <a:avLst/>
          </a:prstGeom>
        </p:spPr>
      </p:pic>
      <p:sp>
        <p:nvSpPr>
          <p:cNvPr id="3" name="Right Arrow 2"/>
          <p:cNvSpPr/>
          <p:nvPr/>
        </p:nvSpPr>
        <p:spPr>
          <a:xfrm rot="10800000">
            <a:off x="2906489" y="4470400"/>
            <a:ext cx="1117600" cy="52832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827520" y="620553"/>
            <a:ext cx="4602480" cy="6063198"/>
          </a:xfrm>
          <a:prstGeom prst="rect">
            <a:avLst/>
          </a:prstGeom>
          <a:noFill/>
        </p:spPr>
        <p:txBody>
          <a:bodyPr wrap="square" rtlCol="0">
            <a:spAutoFit/>
          </a:bodyPr>
          <a:lstStyle/>
          <a:p>
            <a:pPr>
              <a:spcAft>
                <a:spcPts val="1200"/>
              </a:spcAft>
            </a:pPr>
            <a:r>
              <a:rPr lang="en-GB" sz="2800" dirty="0" smtClean="0"/>
              <a:t>Since mid-November 2022, global population has crossed </a:t>
            </a:r>
            <a:r>
              <a:rPr lang="en-GB" sz="2800" b="1" dirty="0" smtClean="0"/>
              <a:t>8 billion</a:t>
            </a:r>
            <a:r>
              <a:rPr lang="en-GB" sz="2800" dirty="0" smtClean="0"/>
              <a:t>!</a:t>
            </a:r>
          </a:p>
          <a:p>
            <a:pPr>
              <a:spcAft>
                <a:spcPts val="1200"/>
              </a:spcAft>
            </a:pPr>
            <a:r>
              <a:rPr lang="en-GB" sz="2800" dirty="0" smtClean="0"/>
              <a:t>It was 6 billion in 1998.</a:t>
            </a:r>
          </a:p>
          <a:p>
            <a:pPr>
              <a:spcAft>
                <a:spcPts val="1200"/>
              </a:spcAft>
            </a:pPr>
            <a:r>
              <a:rPr lang="en-GB" sz="2800" dirty="0" smtClean="0"/>
              <a:t>It was </a:t>
            </a:r>
            <a:r>
              <a:rPr lang="en-GB" sz="2800" b="1" dirty="0" smtClean="0"/>
              <a:t>7 billion in 2010</a:t>
            </a:r>
            <a:r>
              <a:rPr lang="en-GB" sz="2800" dirty="0" smtClean="0"/>
              <a:t>.</a:t>
            </a:r>
          </a:p>
          <a:p>
            <a:pPr>
              <a:spcAft>
                <a:spcPts val="1200"/>
              </a:spcAft>
            </a:pPr>
            <a:r>
              <a:rPr lang="en-GB" sz="2800" dirty="0" smtClean="0"/>
              <a:t>The population grew more than thrice in about 72 years!!</a:t>
            </a:r>
          </a:p>
          <a:p>
            <a:pPr>
              <a:spcAft>
                <a:spcPts val="1200"/>
              </a:spcAft>
            </a:pPr>
            <a:endParaRPr lang="en-GB" dirty="0"/>
          </a:p>
          <a:p>
            <a:pPr>
              <a:spcAft>
                <a:spcPts val="1200"/>
              </a:spcAft>
            </a:pPr>
            <a:r>
              <a:rPr lang="en-GB" sz="2800" dirty="0" smtClean="0"/>
              <a:t>The growth rate appears faster in recent decades.</a:t>
            </a:r>
          </a:p>
          <a:p>
            <a:pPr>
              <a:spcAft>
                <a:spcPts val="1200"/>
              </a:spcAft>
            </a:pPr>
            <a:endParaRPr lang="en-GB" sz="1400" dirty="0"/>
          </a:p>
          <a:p>
            <a:pPr>
              <a:spcAft>
                <a:spcPts val="1200"/>
              </a:spcAft>
            </a:pPr>
            <a:r>
              <a:rPr lang="en-GB" sz="2800" dirty="0" smtClean="0"/>
              <a:t>What actually happened?</a:t>
            </a:r>
            <a:endParaRPr lang="en-US" sz="2800" dirty="0"/>
          </a:p>
        </p:txBody>
      </p:sp>
    </p:spTree>
    <p:extLst>
      <p:ext uri="{BB962C8B-B14F-4D97-AF65-F5344CB8AC3E}">
        <p14:creationId xmlns:p14="http://schemas.microsoft.com/office/powerpoint/2010/main" val="3479907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2012" y="346511"/>
            <a:ext cx="11473313" cy="3485570"/>
          </a:xfrm>
          <a:prstGeom prst="rect">
            <a:avLst/>
          </a:prstGeom>
          <a:noFill/>
        </p:spPr>
        <p:txBody>
          <a:bodyPr wrap="square" rtlCol="0">
            <a:spAutoFit/>
          </a:bodyPr>
          <a:lstStyle/>
          <a:p>
            <a:r>
              <a:rPr lang="en-GB" sz="3200" b="1" dirty="0" smtClean="0"/>
              <a:t>Can we explain what happened to global population growth?</a:t>
            </a:r>
          </a:p>
          <a:p>
            <a:pPr>
              <a:spcAft>
                <a:spcPts val="600"/>
              </a:spcAft>
            </a:pPr>
            <a:endParaRPr lang="en-GB" sz="1050" dirty="0" smtClean="0"/>
          </a:p>
          <a:p>
            <a:pPr>
              <a:spcAft>
                <a:spcPts val="600"/>
              </a:spcAft>
            </a:pPr>
            <a:r>
              <a:rPr lang="en-GB" sz="2800" dirty="0" smtClean="0"/>
              <a:t>Components of population growth</a:t>
            </a:r>
          </a:p>
          <a:p>
            <a:pPr>
              <a:spcAft>
                <a:spcPts val="600"/>
              </a:spcAft>
            </a:pPr>
            <a:r>
              <a:rPr lang="en-GB" sz="2400" dirty="0" smtClean="0"/>
              <a:t>Natural increase/decrease: </a:t>
            </a:r>
            <a:r>
              <a:rPr lang="en-GB" sz="2400" b="1" dirty="0" smtClean="0"/>
              <a:t>Birth rate</a:t>
            </a:r>
            <a:r>
              <a:rPr lang="en-GB" sz="2400" dirty="0" smtClean="0"/>
              <a:t>, death rate, infant mortality rate, life expectancy</a:t>
            </a:r>
          </a:p>
          <a:p>
            <a:pPr>
              <a:spcAft>
                <a:spcPts val="600"/>
              </a:spcAft>
            </a:pPr>
            <a:r>
              <a:rPr lang="en-GB" sz="2400" dirty="0" smtClean="0"/>
              <a:t>Net migration: Immigration, emigration, net migration rate</a:t>
            </a:r>
          </a:p>
          <a:p>
            <a:pPr>
              <a:spcAft>
                <a:spcPts val="600"/>
              </a:spcAft>
            </a:pPr>
            <a:r>
              <a:rPr lang="en-GB" sz="2400" dirty="0" smtClean="0"/>
              <a:t>Childbearing patterns: </a:t>
            </a:r>
            <a:r>
              <a:rPr lang="en-GB" sz="2400" b="1" dirty="0" smtClean="0"/>
              <a:t>Total fertility rate</a:t>
            </a:r>
            <a:r>
              <a:rPr lang="en-GB" sz="2400" dirty="0" smtClean="0"/>
              <a:t>, replacement level fertility</a:t>
            </a:r>
          </a:p>
          <a:p>
            <a:pPr>
              <a:spcAft>
                <a:spcPts val="600"/>
              </a:spcAft>
            </a:pPr>
            <a:r>
              <a:rPr lang="en-GB" sz="2400" dirty="0" smtClean="0"/>
              <a:t>Patterns related to death: Crude death rate, </a:t>
            </a:r>
            <a:r>
              <a:rPr lang="en-GB" sz="2400" b="1" dirty="0" smtClean="0"/>
              <a:t>age-specific death rate</a:t>
            </a:r>
          </a:p>
          <a:p>
            <a:pPr>
              <a:spcAft>
                <a:spcPts val="600"/>
              </a:spcAft>
            </a:pPr>
            <a:r>
              <a:rPr lang="en-GB" sz="2400" dirty="0" smtClean="0"/>
              <a:t>Age structure (distribution of age groups): Dependency ratio, median age</a:t>
            </a:r>
          </a:p>
        </p:txBody>
      </p:sp>
      <p:sp>
        <p:nvSpPr>
          <p:cNvPr id="3" name="TextBox 2"/>
          <p:cNvSpPr txBox="1"/>
          <p:nvPr/>
        </p:nvSpPr>
        <p:spPr>
          <a:xfrm>
            <a:off x="462012" y="3965608"/>
            <a:ext cx="11473313" cy="2154436"/>
          </a:xfrm>
          <a:prstGeom prst="rect">
            <a:avLst/>
          </a:prstGeom>
          <a:noFill/>
        </p:spPr>
        <p:txBody>
          <a:bodyPr wrap="square" rtlCol="0">
            <a:spAutoFit/>
          </a:bodyPr>
          <a:lstStyle/>
          <a:p>
            <a:r>
              <a:rPr lang="en-GB" sz="3200" b="1" dirty="0" smtClean="0"/>
              <a:t>What are the underlying causes of the rapid increase in global population since the Industrial Revolution?</a:t>
            </a:r>
          </a:p>
          <a:p>
            <a:endParaRPr lang="en-GB" sz="2000" b="1" dirty="0" smtClean="0"/>
          </a:p>
          <a:p>
            <a:r>
              <a:rPr lang="en-GB" sz="3200" b="1" dirty="0" smtClean="0"/>
              <a:t>Can we explain the implications of rapid population growth?</a:t>
            </a:r>
          </a:p>
          <a:p>
            <a:endParaRPr lang="en-US" dirty="0"/>
          </a:p>
        </p:txBody>
      </p:sp>
    </p:spTree>
    <p:extLst>
      <p:ext uri="{BB962C8B-B14F-4D97-AF65-F5344CB8AC3E}">
        <p14:creationId xmlns:p14="http://schemas.microsoft.com/office/powerpoint/2010/main" val="961846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4004" y="317634"/>
            <a:ext cx="11964202" cy="6494085"/>
          </a:xfrm>
          <a:prstGeom prst="rect">
            <a:avLst/>
          </a:prstGeom>
          <a:noFill/>
        </p:spPr>
        <p:txBody>
          <a:bodyPr wrap="square" rtlCol="0">
            <a:spAutoFit/>
          </a:bodyPr>
          <a:lstStyle/>
          <a:p>
            <a:pPr>
              <a:spcAft>
                <a:spcPts val="1200"/>
              </a:spcAft>
            </a:pPr>
            <a:r>
              <a:rPr lang="en-GB" sz="3200" dirty="0" smtClean="0"/>
              <a:t>Effects of population growth on economic development &amp; environment</a:t>
            </a:r>
          </a:p>
          <a:p>
            <a:pPr>
              <a:spcAft>
                <a:spcPts val="1200"/>
              </a:spcAft>
            </a:pPr>
            <a:r>
              <a:rPr lang="en-GB" sz="2600" dirty="0" smtClean="0"/>
              <a:t>Early days of PG: Access to resources (labour mobilization), value addition (commodities, industrial products) and economic growth.</a:t>
            </a:r>
          </a:p>
          <a:p>
            <a:pPr>
              <a:spcAft>
                <a:spcPts val="1200"/>
              </a:spcAft>
            </a:pPr>
            <a:r>
              <a:rPr lang="en-GB" sz="2600" dirty="0" smtClean="0"/>
              <a:t>Higher birth rate plus immigration have led to population growth.</a:t>
            </a:r>
          </a:p>
          <a:p>
            <a:pPr>
              <a:spcAft>
                <a:spcPts val="1200"/>
              </a:spcAft>
            </a:pPr>
            <a:r>
              <a:rPr lang="en-GB" sz="2600" b="1" i="1" dirty="0" smtClean="0"/>
              <a:t>Industrial revolution.</a:t>
            </a:r>
          </a:p>
          <a:p>
            <a:pPr>
              <a:spcAft>
                <a:spcPts val="1200"/>
              </a:spcAft>
            </a:pPr>
            <a:r>
              <a:rPr lang="en-GB" sz="2600" dirty="0" smtClean="0"/>
              <a:t>Consequence: Large-scale labour migration, leading to urbanization.</a:t>
            </a:r>
          </a:p>
          <a:p>
            <a:pPr>
              <a:spcAft>
                <a:spcPts val="1200"/>
              </a:spcAft>
            </a:pPr>
            <a:r>
              <a:rPr lang="en-GB" sz="2800" b="1" i="1" u="sng" dirty="0" smtClean="0"/>
              <a:t>Urbanization</a:t>
            </a:r>
          </a:p>
          <a:p>
            <a:pPr>
              <a:spcAft>
                <a:spcPts val="600"/>
              </a:spcAft>
            </a:pPr>
            <a:r>
              <a:rPr lang="en-GB" sz="2600" dirty="0" smtClean="0"/>
              <a:t>The Romans founded </a:t>
            </a:r>
            <a:r>
              <a:rPr lang="en-GB" sz="2600" b="1" dirty="0" smtClean="0"/>
              <a:t>London</a:t>
            </a:r>
            <a:r>
              <a:rPr lang="en-GB" sz="2600" dirty="0" smtClean="0"/>
              <a:t> about 50 AD. The Bank of England was founded in 1694.</a:t>
            </a:r>
          </a:p>
          <a:p>
            <a:pPr>
              <a:spcAft>
                <a:spcPts val="600"/>
              </a:spcAft>
            </a:pPr>
            <a:r>
              <a:rPr lang="en-GB" sz="2600" b="1" dirty="0" smtClean="0"/>
              <a:t>Paris</a:t>
            </a:r>
            <a:r>
              <a:rPr lang="en-GB" sz="2600" dirty="0" smtClean="0"/>
              <a:t> was founded in 259 BC. It was a mere fishing village then for the </a:t>
            </a:r>
            <a:r>
              <a:rPr lang="en-GB" sz="2600" dirty="0" err="1" smtClean="0"/>
              <a:t>Parisii</a:t>
            </a:r>
            <a:r>
              <a:rPr lang="en-GB" sz="2600" dirty="0" smtClean="0"/>
              <a:t>, a Celtic tribe. The Romans conquered the </a:t>
            </a:r>
            <a:r>
              <a:rPr lang="en-GB" sz="2600" dirty="0" err="1" smtClean="0"/>
              <a:t>Parisii</a:t>
            </a:r>
            <a:r>
              <a:rPr lang="en-GB" sz="2600" dirty="0" smtClean="0"/>
              <a:t> in 52 AD. In 1528 King Francois I moved his court to Paris. </a:t>
            </a:r>
            <a:r>
              <a:rPr lang="en-GB" sz="2600" dirty="0"/>
              <a:t>King Henry IV began building great public buildings in Paris</a:t>
            </a:r>
            <a:r>
              <a:rPr lang="en-GB" sz="2600" dirty="0" smtClean="0"/>
              <a:t>. </a:t>
            </a:r>
            <a:r>
              <a:rPr lang="en-GB" sz="2600" dirty="0"/>
              <a:t>The </a:t>
            </a:r>
            <a:r>
              <a:rPr lang="en-GB" sz="2600" dirty="0" err="1"/>
              <a:t>Palais</a:t>
            </a:r>
            <a:r>
              <a:rPr lang="en-GB" sz="2600" dirty="0"/>
              <a:t> Royal was built in 1629 by Cardinal Richelieu</a:t>
            </a:r>
            <a:r>
              <a:rPr lang="en-GB" sz="2600" dirty="0" smtClean="0"/>
              <a:t>.</a:t>
            </a:r>
          </a:p>
          <a:p>
            <a:pPr>
              <a:spcAft>
                <a:spcPts val="600"/>
              </a:spcAft>
            </a:pPr>
            <a:r>
              <a:rPr lang="en-GB" sz="2600" dirty="0" smtClean="0"/>
              <a:t>The French Revolution broke out in 1789.</a:t>
            </a:r>
            <a:endParaRPr lang="en-US" sz="2600" dirty="0"/>
          </a:p>
        </p:txBody>
      </p:sp>
    </p:spTree>
    <p:extLst>
      <p:ext uri="{BB962C8B-B14F-4D97-AF65-F5344CB8AC3E}">
        <p14:creationId xmlns:p14="http://schemas.microsoft.com/office/powerpoint/2010/main" val="19720989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8012" y="163634"/>
            <a:ext cx="11559941" cy="5940088"/>
          </a:xfrm>
          <a:prstGeom prst="rect">
            <a:avLst/>
          </a:prstGeom>
          <a:noFill/>
        </p:spPr>
        <p:txBody>
          <a:bodyPr wrap="square" rtlCol="0">
            <a:spAutoFit/>
          </a:bodyPr>
          <a:lstStyle/>
          <a:p>
            <a:pPr>
              <a:spcAft>
                <a:spcPts val="1200"/>
              </a:spcAft>
            </a:pPr>
            <a:r>
              <a:rPr lang="en-GB" sz="2800" b="1" i="1" u="sng" dirty="0" smtClean="0"/>
              <a:t>Urbanization</a:t>
            </a:r>
            <a:r>
              <a:rPr lang="en-GB" sz="2800" b="1" i="1" dirty="0" smtClean="0"/>
              <a:t>                                                                                              </a:t>
            </a:r>
            <a:r>
              <a:rPr lang="en-GB" b="1" i="1" dirty="0" smtClean="0"/>
              <a:t>(Contd.)</a:t>
            </a:r>
          </a:p>
          <a:p>
            <a:pPr>
              <a:spcAft>
                <a:spcPts val="600"/>
              </a:spcAft>
            </a:pPr>
            <a:r>
              <a:rPr lang="en-GB" sz="2600" dirty="0" smtClean="0"/>
              <a:t>The </a:t>
            </a:r>
            <a:r>
              <a:rPr lang="en-GB" sz="2600" dirty="0"/>
              <a:t>history of Berlin starts with its foundation in </a:t>
            </a:r>
            <a:r>
              <a:rPr lang="en-GB" sz="2600" b="1" dirty="0"/>
              <a:t>the </a:t>
            </a:r>
            <a:r>
              <a:rPr lang="en-GB" sz="2600" b="1" dirty="0" smtClean="0"/>
              <a:t>13th </a:t>
            </a:r>
            <a:r>
              <a:rPr lang="en-GB" sz="2600" b="1" dirty="0"/>
              <a:t>century</a:t>
            </a:r>
            <a:r>
              <a:rPr lang="en-GB" sz="2600" dirty="0"/>
              <a:t>. It became the capital of the </a:t>
            </a:r>
            <a:r>
              <a:rPr lang="en-GB" sz="2600" dirty="0" err="1"/>
              <a:t>Margraviate</a:t>
            </a:r>
            <a:r>
              <a:rPr lang="en-GB" sz="2600" dirty="0"/>
              <a:t> of Brandenburg in </a:t>
            </a:r>
            <a:r>
              <a:rPr lang="en-GB" sz="2600" dirty="0" smtClean="0"/>
              <a:t>1417.</a:t>
            </a:r>
          </a:p>
          <a:p>
            <a:pPr>
              <a:spcAft>
                <a:spcPts val="600"/>
              </a:spcAft>
            </a:pPr>
            <a:r>
              <a:rPr lang="en-GB" sz="2600" dirty="0"/>
              <a:t>In 1763, </a:t>
            </a:r>
            <a:r>
              <a:rPr lang="en-GB" sz="2600" dirty="0" smtClean="0"/>
              <a:t>Frederick the Great (Prussia’s King) founded </a:t>
            </a:r>
            <a:r>
              <a:rPr lang="en-GB" sz="2600" dirty="0"/>
              <a:t>the </a:t>
            </a:r>
            <a:r>
              <a:rPr lang="en-GB" sz="2600" dirty="0" err="1"/>
              <a:t>Königliche</a:t>
            </a:r>
            <a:r>
              <a:rPr lang="en-GB" sz="2600" dirty="0"/>
              <a:t> </a:t>
            </a:r>
            <a:r>
              <a:rPr lang="en-GB" sz="2600" dirty="0" err="1"/>
              <a:t>Porzellan-Manufaktur</a:t>
            </a:r>
            <a:r>
              <a:rPr lang="en-GB" sz="2600" dirty="0"/>
              <a:t> Berlin (Royal Porcelain Manufacture</a:t>
            </a:r>
            <a:r>
              <a:rPr lang="en-GB" sz="2600" dirty="0" smtClean="0"/>
              <a:t>).</a:t>
            </a:r>
          </a:p>
          <a:p>
            <a:pPr>
              <a:spcAft>
                <a:spcPts val="600"/>
              </a:spcAft>
            </a:pPr>
            <a:endParaRPr lang="en-GB" sz="2600" dirty="0"/>
          </a:p>
          <a:p>
            <a:pPr>
              <a:spcAft>
                <a:spcPts val="600"/>
              </a:spcAft>
            </a:pPr>
            <a:r>
              <a:rPr lang="en-GB" sz="2600" dirty="0"/>
              <a:t>New York City traces its origins to Fort Amsterdam and </a:t>
            </a:r>
            <a:r>
              <a:rPr lang="en-GB" sz="2600" b="1" dirty="0"/>
              <a:t>a trading post</a:t>
            </a:r>
            <a:r>
              <a:rPr lang="en-GB" sz="2600" dirty="0"/>
              <a:t> founded on the southern tip of Manhattan Island by Dutch colonists in approximately 1624.</a:t>
            </a:r>
            <a:endParaRPr lang="en-GB" sz="2600" dirty="0" smtClean="0"/>
          </a:p>
          <a:p>
            <a:pPr>
              <a:spcAft>
                <a:spcPts val="600"/>
              </a:spcAft>
            </a:pPr>
            <a:r>
              <a:rPr lang="en-GB" sz="2600" dirty="0"/>
              <a:t>In 1664, the English took control of the area and renamed it New York</a:t>
            </a:r>
            <a:r>
              <a:rPr lang="en-GB" sz="2600" dirty="0" smtClean="0"/>
              <a:t>.</a:t>
            </a:r>
          </a:p>
          <a:p>
            <a:pPr>
              <a:spcAft>
                <a:spcPts val="600"/>
              </a:spcAft>
            </a:pPr>
            <a:r>
              <a:rPr lang="en-GB" sz="2600" dirty="0"/>
              <a:t>Between 1892 and 1954, </a:t>
            </a:r>
            <a:r>
              <a:rPr lang="en-GB" sz="2600" b="1" dirty="0"/>
              <a:t>millions of immigrants arrived</a:t>
            </a:r>
            <a:r>
              <a:rPr lang="en-GB" sz="2600" dirty="0"/>
              <a:t> in New York </a:t>
            </a:r>
            <a:r>
              <a:rPr lang="en-GB" sz="2600" dirty="0" err="1" smtClean="0"/>
              <a:t>Harbor</a:t>
            </a:r>
            <a:r>
              <a:rPr lang="en-GB" sz="2600" dirty="0" smtClean="0"/>
              <a:t>.</a:t>
            </a:r>
          </a:p>
          <a:p>
            <a:pPr>
              <a:spcAft>
                <a:spcPts val="600"/>
              </a:spcAft>
            </a:pPr>
            <a:r>
              <a:rPr lang="en-GB" sz="2600" dirty="0"/>
              <a:t>New York City was the first capital of the United States after the Constitution was ratified in 1788. On April 30, 1789, George Washington was inaugurated as the nation’s first president at Federal Hall, located on Wall Street</a:t>
            </a:r>
            <a:r>
              <a:rPr lang="en-GB" sz="2600" dirty="0" smtClean="0"/>
              <a:t>.</a:t>
            </a:r>
            <a:endParaRPr lang="en-GB" sz="2600" dirty="0"/>
          </a:p>
        </p:txBody>
      </p:sp>
    </p:spTree>
    <p:extLst>
      <p:ext uri="{BB962C8B-B14F-4D97-AF65-F5344CB8AC3E}">
        <p14:creationId xmlns:p14="http://schemas.microsoft.com/office/powerpoint/2010/main" val="2582069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997" y="428324"/>
            <a:ext cx="2000250" cy="22860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9533" y="500515"/>
            <a:ext cx="2952314" cy="2144076"/>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98129" y="3889848"/>
            <a:ext cx="4495800" cy="261823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8389" y="2897204"/>
            <a:ext cx="6218454" cy="3727463"/>
          </a:xfrm>
          <a:prstGeom prst="rect">
            <a:avLst/>
          </a:prstGeom>
        </p:spPr>
      </p:pic>
      <p:grpSp>
        <p:nvGrpSpPr>
          <p:cNvPr id="9" name="Group 8"/>
          <p:cNvGrpSpPr/>
          <p:nvPr/>
        </p:nvGrpSpPr>
        <p:grpSpPr>
          <a:xfrm>
            <a:off x="7198129" y="173255"/>
            <a:ext cx="4761297" cy="3570973"/>
            <a:chOff x="7198129" y="173255"/>
            <a:chExt cx="4761297" cy="3570973"/>
          </a:xfrm>
        </p:grpSpPr>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98129" y="173255"/>
              <a:ext cx="4761297" cy="3570973"/>
            </a:xfrm>
            <a:prstGeom prst="rect">
              <a:avLst/>
            </a:prstGeom>
          </p:spPr>
        </p:pic>
        <p:sp>
          <p:nvSpPr>
            <p:cNvPr id="7" name="Rounded Rectangle 6"/>
            <p:cNvSpPr/>
            <p:nvPr/>
          </p:nvSpPr>
          <p:spPr>
            <a:xfrm>
              <a:off x="8200724" y="1703672"/>
              <a:ext cx="490889" cy="1010652"/>
            </a:xfrm>
            <a:prstGeom prst="roundRect">
              <a:avLst/>
            </a:prstGeom>
            <a:noFill/>
            <a:ln w="5715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0876547" y="336884"/>
              <a:ext cx="519765" cy="2377440"/>
            </a:xfrm>
            <a:prstGeom prst="roundRect">
              <a:avLst/>
            </a:prstGeom>
            <a:noFill/>
            <a:ln w="7620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a:off x="1703672" y="2868329"/>
            <a:ext cx="4004109" cy="490889"/>
            <a:chOff x="1703672" y="2868329"/>
            <a:chExt cx="4004109" cy="490889"/>
          </a:xfrm>
        </p:grpSpPr>
        <p:sp>
          <p:nvSpPr>
            <p:cNvPr id="10" name="TextBox 9"/>
            <p:cNvSpPr txBox="1"/>
            <p:nvPr/>
          </p:nvSpPr>
          <p:spPr>
            <a:xfrm>
              <a:off x="1703672" y="2897204"/>
              <a:ext cx="1913944" cy="423512"/>
            </a:xfrm>
            <a:prstGeom prst="rect">
              <a:avLst/>
            </a:prstGeom>
            <a:noFill/>
            <a:ln w="76200">
              <a:solidFill>
                <a:srgbClr val="FFC000"/>
              </a:solidFill>
            </a:ln>
          </p:spPr>
          <p:txBody>
            <a:bodyPr wrap="square" rtlCol="0">
              <a:spAutoFit/>
            </a:bodyPr>
            <a:lstStyle/>
            <a:p>
              <a:endParaRPr lang="en-US" dirty="0"/>
            </a:p>
          </p:txBody>
        </p:sp>
        <p:sp>
          <p:nvSpPr>
            <p:cNvPr id="11" name="Rounded Rectangle 10"/>
            <p:cNvSpPr/>
            <p:nvPr/>
          </p:nvSpPr>
          <p:spPr>
            <a:xfrm>
              <a:off x="3763478" y="2868329"/>
              <a:ext cx="1944303" cy="490889"/>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790913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05809" y="353325"/>
            <a:ext cx="4479234" cy="5121076"/>
          </a:xfrm>
          <a:prstGeom prst="rect">
            <a:avLst/>
          </a:prstGeom>
        </p:spPr>
      </p:pic>
    </p:spTree>
    <p:extLst>
      <p:ext uri="{BB962C8B-B14F-4D97-AF65-F5344CB8AC3E}">
        <p14:creationId xmlns:p14="http://schemas.microsoft.com/office/powerpoint/2010/main" val="852270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03579" y="520728"/>
            <a:ext cx="3856384" cy="5756785"/>
          </a:xfrm>
          <a:prstGeom prst="rect">
            <a:avLst/>
          </a:prstGeom>
        </p:spPr>
      </p:pic>
      <p:pic>
        <p:nvPicPr>
          <p:cNvPr id="4" name="Picture 3"/>
          <p:cNvPicPr>
            <a:picLocks noChangeAspect="1"/>
          </p:cNvPicPr>
          <p:nvPr/>
        </p:nvPicPr>
        <p:blipFill>
          <a:blip r:embed="rId3"/>
          <a:stretch>
            <a:fillRect/>
          </a:stretch>
        </p:blipFill>
        <p:spPr>
          <a:xfrm>
            <a:off x="6175513" y="347049"/>
            <a:ext cx="4399724" cy="6225609"/>
          </a:xfrm>
          <a:prstGeom prst="rect">
            <a:avLst/>
          </a:prstGeom>
        </p:spPr>
      </p:pic>
    </p:spTree>
    <p:extLst>
      <p:ext uri="{BB962C8B-B14F-4D97-AF65-F5344CB8AC3E}">
        <p14:creationId xmlns:p14="http://schemas.microsoft.com/office/powerpoint/2010/main" val="1094670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49287" y="346554"/>
            <a:ext cx="8454887" cy="6343872"/>
          </a:xfrm>
          <a:prstGeom prst="rect">
            <a:avLst/>
          </a:prstGeom>
        </p:spPr>
      </p:pic>
    </p:spTree>
    <p:extLst>
      <p:ext uri="{BB962C8B-B14F-4D97-AF65-F5344CB8AC3E}">
        <p14:creationId xmlns:p14="http://schemas.microsoft.com/office/powerpoint/2010/main" val="4264933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64974" y="590385"/>
            <a:ext cx="9573592" cy="5744154"/>
          </a:xfrm>
          <a:prstGeom prst="rect">
            <a:avLst/>
          </a:prstGeom>
        </p:spPr>
      </p:pic>
    </p:spTree>
    <p:extLst>
      <p:ext uri="{BB962C8B-B14F-4D97-AF65-F5344CB8AC3E}">
        <p14:creationId xmlns:p14="http://schemas.microsoft.com/office/powerpoint/2010/main" val="1334121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40904" y="421278"/>
            <a:ext cx="10203197" cy="5953018"/>
          </a:xfrm>
          <a:prstGeom prst="rect">
            <a:avLst/>
          </a:prstGeom>
        </p:spPr>
      </p:pic>
    </p:spTree>
    <p:extLst>
      <p:ext uri="{BB962C8B-B14F-4D97-AF65-F5344CB8AC3E}">
        <p14:creationId xmlns:p14="http://schemas.microsoft.com/office/powerpoint/2010/main" val="3366093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5504" y="211759"/>
            <a:ext cx="12076496" cy="6247864"/>
          </a:xfrm>
          <a:prstGeom prst="rect">
            <a:avLst/>
          </a:prstGeom>
          <a:noFill/>
        </p:spPr>
        <p:txBody>
          <a:bodyPr wrap="square" rtlCol="0">
            <a:spAutoFit/>
          </a:bodyPr>
          <a:lstStyle/>
          <a:p>
            <a:pPr>
              <a:spcAft>
                <a:spcPts val="1200"/>
              </a:spcAft>
            </a:pPr>
            <a:r>
              <a:rPr lang="en-GB" sz="3000" dirty="0" smtClean="0"/>
              <a:t>Effects of population growth on economic development &amp; environment </a:t>
            </a:r>
            <a:r>
              <a:rPr lang="en-GB" dirty="0" smtClean="0"/>
              <a:t>(Contd.)</a:t>
            </a:r>
            <a:endParaRPr lang="en-GB" sz="3000" dirty="0" smtClean="0"/>
          </a:p>
          <a:p>
            <a:pPr>
              <a:spcAft>
                <a:spcPts val="1200"/>
              </a:spcAft>
            </a:pPr>
            <a:r>
              <a:rPr lang="en-GB" sz="2800" dirty="0" smtClean="0"/>
              <a:t>Early days of PG: Access to resources (labour mobilization), value addition (commodities, industrial products) and economic growth.</a:t>
            </a:r>
          </a:p>
          <a:p>
            <a:pPr>
              <a:spcAft>
                <a:spcPts val="1200"/>
              </a:spcAft>
            </a:pPr>
            <a:r>
              <a:rPr lang="en-GB" sz="2800" dirty="0" smtClean="0"/>
              <a:t>Higher birth rate plus immigration have led to population growth.</a:t>
            </a:r>
          </a:p>
          <a:p>
            <a:pPr>
              <a:spcAft>
                <a:spcPts val="1200"/>
              </a:spcAft>
            </a:pPr>
            <a:r>
              <a:rPr lang="en-GB" sz="2800" b="1" i="1" dirty="0" smtClean="0"/>
              <a:t>Industrial revolution.</a:t>
            </a:r>
          </a:p>
          <a:p>
            <a:pPr>
              <a:spcAft>
                <a:spcPts val="1200"/>
              </a:spcAft>
            </a:pPr>
            <a:r>
              <a:rPr lang="en-GB" sz="2800" dirty="0" smtClean="0"/>
              <a:t>Consequence: Large-scale labour migration, leading to urbanization.</a:t>
            </a:r>
          </a:p>
          <a:p>
            <a:pPr>
              <a:spcAft>
                <a:spcPts val="1200"/>
              </a:spcAft>
            </a:pPr>
            <a:r>
              <a:rPr lang="en-GB" sz="2800" b="1" i="1" dirty="0" smtClean="0"/>
              <a:t>Innovation and technological advancements.</a:t>
            </a:r>
          </a:p>
          <a:p>
            <a:pPr>
              <a:spcAft>
                <a:spcPts val="1200"/>
              </a:spcAft>
            </a:pPr>
            <a:r>
              <a:rPr lang="en-GB" sz="2800" dirty="0" smtClean="0"/>
              <a:t>High population density and demand for food and services – colonization.</a:t>
            </a:r>
          </a:p>
          <a:p>
            <a:pPr>
              <a:spcAft>
                <a:spcPts val="1200"/>
              </a:spcAft>
            </a:pPr>
            <a:r>
              <a:rPr lang="en-GB" sz="2800" dirty="0" smtClean="0"/>
              <a:t>Further exploitation of resources, exacerbating economic growth.</a:t>
            </a:r>
          </a:p>
          <a:p>
            <a:pPr>
              <a:spcAft>
                <a:spcPts val="1200"/>
              </a:spcAft>
            </a:pPr>
            <a:r>
              <a:rPr lang="en-GB" sz="2800" dirty="0" smtClean="0"/>
              <a:t>Consumption behaviour – redefining “more”, looking beyond natural sources!</a:t>
            </a:r>
          </a:p>
          <a:p>
            <a:pPr>
              <a:spcAft>
                <a:spcPts val="1200"/>
              </a:spcAft>
            </a:pPr>
            <a:r>
              <a:rPr lang="en-GB" sz="2800" dirty="0" smtClean="0"/>
              <a:t>Behavioural change leading to unprecedented exploitations and externalities.</a:t>
            </a:r>
            <a:endParaRPr lang="en-US" sz="2800" dirty="0"/>
          </a:p>
        </p:txBody>
      </p:sp>
    </p:spTree>
    <p:extLst>
      <p:ext uri="{BB962C8B-B14F-4D97-AF65-F5344CB8AC3E}">
        <p14:creationId xmlns:p14="http://schemas.microsoft.com/office/powerpoint/2010/main" val="6017254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6933" y="294051"/>
            <a:ext cx="4044793" cy="262897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263" y="2951296"/>
            <a:ext cx="3965609" cy="2182026"/>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7687" y="82967"/>
            <a:ext cx="4730129" cy="6622181"/>
          </a:xfrm>
          <a:prstGeom prst="rect">
            <a:avLst/>
          </a:prstGeom>
        </p:spPr>
      </p:pic>
      <p:sp>
        <p:nvSpPr>
          <p:cNvPr id="5" name="TextBox 4"/>
          <p:cNvSpPr txBox="1"/>
          <p:nvPr/>
        </p:nvSpPr>
        <p:spPr>
          <a:xfrm>
            <a:off x="240632" y="5130270"/>
            <a:ext cx="6708808" cy="1692771"/>
          </a:xfrm>
          <a:prstGeom prst="rect">
            <a:avLst/>
          </a:prstGeom>
          <a:noFill/>
        </p:spPr>
        <p:txBody>
          <a:bodyPr wrap="square" rtlCol="0">
            <a:spAutoFit/>
          </a:bodyPr>
          <a:lstStyle/>
          <a:p>
            <a:r>
              <a:rPr lang="en-GB" sz="2600" dirty="0" smtClean="0"/>
              <a:t>Technological innovation has allowed (industrial scale) mobilization of slaves, immigrants and labour, even transportation of labour from urban centres to workplaces.</a:t>
            </a:r>
            <a:endParaRPr lang="en-US" sz="2600" dirty="0"/>
          </a:p>
        </p:txBody>
      </p:sp>
    </p:spTree>
    <p:extLst>
      <p:ext uri="{BB962C8B-B14F-4D97-AF65-F5344CB8AC3E}">
        <p14:creationId xmlns:p14="http://schemas.microsoft.com/office/powerpoint/2010/main" val="20248814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106" y="115499"/>
            <a:ext cx="12066019" cy="5607150"/>
          </a:xfrm>
          <a:prstGeom prst="rect">
            <a:avLst/>
          </a:prstGeom>
        </p:spPr>
      </p:pic>
      <p:pic>
        <p:nvPicPr>
          <p:cNvPr id="3" name="Picture 2"/>
          <p:cNvPicPr>
            <a:picLocks noChangeAspect="1"/>
          </p:cNvPicPr>
          <p:nvPr/>
        </p:nvPicPr>
        <p:blipFill>
          <a:blip r:embed="rId3"/>
          <a:stretch>
            <a:fillRect/>
          </a:stretch>
        </p:blipFill>
        <p:spPr>
          <a:xfrm>
            <a:off x="125981" y="5120248"/>
            <a:ext cx="2853175" cy="1603387"/>
          </a:xfrm>
          <a:prstGeom prst="rect">
            <a:avLst/>
          </a:prstGeom>
        </p:spPr>
      </p:pic>
    </p:spTree>
    <p:extLst>
      <p:ext uri="{BB962C8B-B14F-4D97-AF65-F5344CB8AC3E}">
        <p14:creationId xmlns:p14="http://schemas.microsoft.com/office/powerpoint/2010/main" val="40628402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0779" y="0"/>
            <a:ext cx="9710442" cy="6858000"/>
          </a:xfrm>
          <a:prstGeom prst="rect">
            <a:avLst/>
          </a:prstGeom>
        </p:spPr>
      </p:pic>
      <p:grpSp>
        <p:nvGrpSpPr>
          <p:cNvPr id="6" name="Group 5"/>
          <p:cNvGrpSpPr/>
          <p:nvPr/>
        </p:nvGrpSpPr>
        <p:grpSpPr>
          <a:xfrm>
            <a:off x="3599848" y="1001027"/>
            <a:ext cx="7247824" cy="5476775"/>
            <a:chOff x="3599848" y="1001027"/>
            <a:chExt cx="7247824" cy="5476775"/>
          </a:xfrm>
        </p:grpSpPr>
        <p:sp>
          <p:nvSpPr>
            <p:cNvPr id="4" name="TextBox 3"/>
            <p:cNvSpPr txBox="1"/>
            <p:nvPr/>
          </p:nvSpPr>
          <p:spPr>
            <a:xfrm>
              <a:off x="3599848" y="5370897"/>
              <a:ext cx="2310064" cy="1106905"/>
            </a:xfrm>
            <a:prstGeom prst="rect">
              <a:avLst/>
            </a:prstGeom>
            <a:noFill/>
            <a:ln w="76200">
              <a:solidFill>
                <a:srgbClr val="0000CC"/>
              </a:solidFill>
            </a:ln>
          </p:spPr>
          <p:txBody>
            <a:bodyPr wrap="square" rtlCol="0">
              <a:spAutoFit/>
            </a:bodyPr>
            <a:lstStyle/>
            <a:p>
              <a:endParaRPr lang="en-US" dirty="0"/>
            </a:p>
          </p:txBody>
        </p:sp>
        <p:sp>
          <p:nvSpPr>
            <p:cNvPr id="5" name="TextBox 4"/>
            <p:cNvSpPr txBox="1"/>
            <p:nvPr/>
          </p:nvSpPr>
          <p:spPr>
            <a:xfrm>
              <a:off x="8104472" y="1001027"/>
              <a:ext cx="2743200" cy="5476775"/>
            </a:xfrm>
            <a:prstGeom prst="rect">
              <a:avLst/>
            </a:prstGeom>
            <a:noFill/>
            <a:ln w="76200">
              <a:solidFill>
                <a:srgbClr val="FF0000"/>
              </a:solidFill>
            </a:ln>
          </p:spPr>
          <p:txBody>
            <a:bodyPr wrap="square" rtlCol="0">
              <a:spAutoFit/>
            </a:bodyPr>
            <a:lstStyle/>
            <a:p>
              <a:endParaRPr lang="en-US" dirty="0"/>
            </a:p>
          </p:txBody>
        </p:sp>
      </p:gr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56847" y="1176689"/>
            <a:ext cx="4136457" cy="3640082"/>
          </a:xfrm>
          <a:prstGeom prst="rect">
            <a:avLst/>
          </a:prstGeom>
        </p:spPr>
      </p:pic>
    </p:spTree>
    <p:extLst>
      <p:ext uri="{BB962C8B-B14F-4D97-AF65-F5344CB8AC3E}">
        <p14:creationId xmlns:p14="http://schemas.microsoft.com/office/powerpoint/2010/main" val="25679577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ounded Rectangle 2"/>
          <p:cNvSpPr/>
          <p:nvPr/>
        </p:nvSpPr>
        <p:spPr>
          <a:xfrm>
            <a:off x="6535554" y="1443789"/>
            <a:ext cx="1809549" cy="3359217"/>
          </a:xfrm>
          <a:prstGeom prst="round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633663" y="2300437"/>
            <a:ext cx="2533049" cy="3801979"/>
          </a:xfrm>
          <a:prstGeom prst="round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2704699" y="356135"/>
            <a:ext cx="1819175" cy="1193532"/>
          </a:xfrm>
          <a:prstGeom prst="round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523874" y="4013735"/>
            <a:ext cx="1645920" cy="523220"/>
          </a:xfrm>
          <a:prstGeom prst="rect">
            <a:avLst/>
          </a:prstGeom>
          <a:noFill/>
        </p:spPr>
        <p:txBody>
          <a:bodyPr wrap="square" rtlCol="0">
            <a:spAutoFit/>
          </a:bodyPr>
          <a:lstStyle/>
          <a:p>
            <a:r>
              <a:rPr lang="en-GB" sz="2800" b="1" dirty="0" smtClean="0">
                <a:solidFill>
                  <a:srgbClr val="FFFF00"/>
                </a:solidFill>
              </a:rPr>
              <a:t>AFRICA</a:t>
            </a:r>
            <a:endParaRPr lang="en-US" sz="2800" b="1" dirty="0">
              <a:solidFill>
                <a:srgbClr val="FFFF00"/>
              </a:solidFill>
            </a:endParaRPr>
          </a:p>
        </p:txBody>
      </p:sp>
      <p:sp>
        <p:nvSpPr>
          <p:cNvPr id="7" name="Oval 6"/>
          <p:cNvSpPr/>
          <p:nvPr/>
        </p:nvSpPr>
        <p:spPr>
          <a:xfrm>
            <a:off x="3792354" y="1799924"/>
            <a:ext cx="1848050" cy="1588169"/>
          </a:xfrm>
          <a:prstGeom prst="ellipse">
            <a:avLst/>
          </a:prstGeom>
          <a:noFill/>
          <a:ln w="7620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192128" y="134754"/>
            <a:ext cx="2903621" cy="6740307"/>
          </a:xfrm>
          <a:prstGeom prst="rect">
            <a:avLst/>
          </a:prstGeom>
          <a:noFill/>
        </p:spPr>
        <p:txBody>
          <a:bodyPr wrap="square" rtlCol="0">
            <a:spAutoFit/>
          </a:bodyPr>
          <a:lstStyle/>
          <a:p>
            <a:r>
              <a:rPr lang="en-GB" sz="2400" dirty="0"/>
              <a:t>Rapid growth has led to uncontrolled </a:t>
            </a:r>
            <a:r>
              <a:rPr lang="en-GB" sz="2400" b="1" dirty="0">
                <a:solidFill>
                  <a:srgbClr val="0000CC"/>
                </a:solidFill>
              </a:rPr>
              <a:t>urbanization</a:t>
            </a:r>
            <a:r>
              <a:rPr lang="en-GB" sz="2400" dirty="0"/>
              <a:t>, which has produced overcrowding, destitution, crime, pollution, and political turmoil. </a:t>
            </a:r>
            <a:endParaRPr lang="en-GB" sz="2400" dirty="0" smtClean="0"/>
          </a:p>
          <a:p>
            <a:endParaRPr lang="en-GB" sz="1400" dirty="0"/>
          </a:p>
          <a:p>
            <a:r>
              <a:rPr lang="en-GB" sz="2400" dirty="0" smtClean="0"/>
              <a:t>Rapid </a:t>
            </a:r>
            <a:r>
              <a:rPr lang="en-GB" sz="2400" dirty="0"/>
              <a:t>growth has outstripped increases in food production, and population pressure has led to the overuse of arable </a:t>
            </a:r>
            <a:r>
              <a:rPr lang="en-GB" sz="2400" dirty="0" smtClean="0"/>
              <a:t>land, forests, </a:t>
            </a:r>
            <a:r>
              <a:rPr lang="en-GB" sz="2400" dirty="0"/>
              <a:t>and </a:t>
            </a:r>
            <a:r>
              <a:rPr lang="en-GB" sz="2400" dirty="0" smtClean="0"/>
              <a:t>destruction of these resources.</a:t>
            </a:r>
            <a:endParaRPr lang="en-US" sz="2400" dirty="0"/>
          </a:p>
        </p:txBody>
      </p:sp>
    </p:spTree>
    <p:extLst>
      <p:ext uri="{BB962C8B-B14F-4D97-AF65-F5344CB8AC3E}">
        <p14:creationId xmlns:p14="http://schemas.microsoft.com/office/powerpoint/2010/main" val="21727898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596913" cy="6858000"/>
          </a:xfrm>
          <a:prstGeom prst="rect">
            <a:avLst/>
          </a:prstGeom>
        </p:spPr>
      </p:pic>
      <p:sp>
        <p:nvSpPr>
          <p:cNvPr id="3" name="TextBox 2"/>
          <p:cNvSpPr txBox="1"/>
          <p:nvPr/>
        </p:nvSpPr>
        <p:spPr>
          <a:xfrm>
            <a:off x="279133" y="5188017"/>
            <a:ext cx="12185583" cy="1692771"/>
          </a:xfrm>
          <a:prstGeom prst="rect">
            <a:avLst/>
          </a:prstGeom>
          <a:noFill/>
        </p:spPr>
        <p:txBody>
          <a:bodyPr wrap="square" rtlCol="0">
            <a:spAutoFit/>
          </a:bodyPr>
          <a:lstStyle/>
          <a:p>
            <a:r>
              <a:rPr lang="en-GB" sz="2600" dirty="0"/>
              <a:t>The rise in the number of megacities is the most visible evidence of the accelerating global trend towards urbanization. In 1950, </a:t>
            </a:r>
            <a:r>
              <a:rPr lang="en-GB" sz="2600" dirty="0">
                <a:hlinkClick r:id="rId3"/>
              </a:rPr>
              <a:t>cities were home to 751 million people</a:t>
            </a:r>
            <a:r>
              <a:rPr lang="en-GB" sz="2600" dirty="0"/>
              <a:t>, less than one-third of the global population. Just two (New York and Tokyo) had more than 10 million inhabitants. Today, 55% of us </a:t>
            </a:r>
            <a:r>
              <a:rPr lang="en-GB" sz="2600" dirty="0" smtClean="0"/>
              <a:t>(</a:t>
            </a:r>
            <a:r>
              <a:rPr lang="en-GB" sz="2600" dirty="0" err="1" smtClean="0"/>
              <a:t>i.e</a:t>
            </a:r>
            <a:r>
              <a:rPr lang="en-GB" sz="2600" dirty="0" smtClean="0"/>
              <a:t>, 4.2 </a:t>
            </a:r>
            <a:r>
              <a:rPr lang="en-GB" sz="2600" dirty="0" err="1" smtClean="0"/>
              <a:t>Bn</a:t>
            </a:r>
            <a:r>
              <a:rPr lang="en-GB" sz="2600" dirty="0" smtClean="0"/>
              <a:t>) live </a:t>
            </a:r>
            <a:r>
              <a:rPr lang="en-GB" sz="2600" dirty="0"/>
              <a:t>in urban </a:t>
            </a:r>
            <a:r>
              <a:rPr lang="en-GB" sz="2600" dirty="0" smtClean="0"/>
              <a:t>areas.</a:t>
            </a:r>
            <a:endParaRPr lang="en-US" sz="2600" dirty="0"/>
          </a:p>
        </p:txBody>
      </p:sp>
    </p:spTree>
    <p:extLst>
      <p:ext uri="{BB962C8B-B14F-4D97-AF65-F5344CB8AC3E}">
        <p14:creationId xmlns:p14="http://schemas.microsoft.com/office/powerpoint/2010/main" val="88449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141" y="0"/>
            <a:ext cx="7676866" cy="6858000"/>
          </a:xfrm>
          <a:prstGeom prst="rect">
            <a:avLst/>
          </a:prstGeom>
        </p:spPr>
      </p:pic>
      <p:sp>
        <p:nvSpPr>
          <p:cNvPr id="3" name="TextBox 2"/>
          <p:cNvSpPr txBox="1"/>
          <p:nvPr/>
        </p:nvSpPr>
        <p:spPr>
          <a:xfrm>
            <a:off x="7777213" y="144379"/>
            <a:ext cx="4129238" cy="1384995"/>
          </a:xfrm>
          <a:prstGeom prst="rect">
            <a:avLst/>
          </a:prstGeom>
          <a:noFill/>
        </p:spPr>
        <p:txBody>
          <a:bodyPr wrap="square" rtlCol="0">
            <a:spAutoFit/>
          </a:bodyPr>
          <a:lstStyle/>
          <a:p>
            <a:r>
              <a:rPr lang="en-GB" sz="2800" b="1" dirty="0" smtClean="0"/>
              <a:t>68% of global projected population will live in urban areas by 2050!</a:t>
            </a:r>
            <a:endParaRPr lang="en-US" sz="2800" b="1" dirty="0"/>
          </a:p>
        </p:txBody>
      </p:sp>
      <p:sp>
        <p:nvSpPr>
          <p:cNvPr id="4" name="TextBox 3"/>
          <p:cNvSpPr txBox="1"/>
          <p:nvPr/>
        </p:nvSpPr>
        <p:spPr>
          <a:xfrm>
            <a:off x="6198669" y="2367822"/>
            <a:ext cx="5707782" cy="3108543"/>
          </a:xfrm>
          <a:prstGeom prst="rect">
            <a:avLst/>
          </a:prstGeom>
          <a:noFill/>
        </p:spPr>
        <p:txBody>
          <a:bodyPr wrap="square" rtlCol="0">
            <a:spAutoFit/>
          </a:bodyPr>
          <a:lstStyle/>
          <a:p>
            <a:r>
              <a:rPr lang="en-GB" sz="2800" dirty="0" smtClean="0"/>
              <a:t>Five biggest challenges are likely to be confronted by future urban growth.</a:t>
            </a:r>
          </a:p>
          <a:p>
            <a:pPr marL="514350" indent="-514350">
              <a:buAutoNum type="arabicPeriod"/>
            </a:pPr>
            <a:r>
              <a:rPr lang="en-GB" sz="2800" dirty="0" smtClean="0"/>
              <a:t>Environmental threats</a:t>
            </a:r>
          </a:p>
          <a:p>
            <a:pPr marL="514350" indent="-514350">
              <a:buAutoNum type="arabicPeriod"/>
            </a:pPr>
            <a:r>
              <a:rPr lang="en-GB" sz="2800" dirty="0" smtClean="0"/>
              <a:t>Resources (water, food, energy)</a:t>
            </a:r>
          </a:p>
          <a:p>
            <a:pPr marL="514350" indent="-514350">
              <a:buAutoNum type="arabicPeriod"/>
            </a:pPr>
            <a:r>
              <a:rPr lang="en-GB" sz="2800" dirty="0" smtClean="0"/>
              <a:t>Inequality</a:t>
            </a:r>
          </a:p>
          <a:p>
            <a:pPr marL="514350" indent="-514350">
              <a:buAutoNum type="arabicPeriod"/>
            </a:pPr>
            <a:r>
              <a:rPr lang="en-GB" sz="2800" dirty="0" smtClean="0"/>
              <a:t>Technology (mobility)</a:t>
            </a:r>
          </a:p>
          <a:p>
            <a:pPr marL="514350" indent="-514350">
              <a:buAutoNum type="arabicPeriod"/>
            </a:pPr>
            <a:r>
              <a:rPr lang="en-GB" sz="2800" dirty="0" smtClean="0"/>
              <a:t>Governance</a:t>
            </a:r>
            <a:endParaRPr lang="en-US" sz="2800" dirty="0"/>
          </a:p>
        </p:txBody>
      </p:sp>
      <p:sp>
        <p:nvSpPr>
          <p:cNvPr id="5" name="TextBox 4"/>
          <p:cNvSpPr txBox="1"/>
          <p:nvPr/>
        </p:nvSpPr>
        <p:spPr>
          <a:xfrm>
            <a:off x="4340994" y="5476365"/>
            <a:ext cx="7565457" cy="1384995"/>
          </a:xfrm>
          <a:prstGeom prst="rect">
            <a:avLst/>
          </a:prstGeom>
          <a:noFill/>
        </p:spPr>
        <p:txBody>
          <a:bodyPr wrap="square" rtlCol="0">
            <a:spAutoFit/>
          </a:bodyPr>
          <a:lstStyle/>
          <a:p>
            <a:r>
              <a:rPr lang="en-GB" sz="2800" dirty="0" smtClean="0"/>
              <a:t>Cities are growing much faster than the rate of integration of innovative solutions towards addressing the above-mentioned challenges.</a:t>
            </a:r>
            <a:r>
              <a:rPr lang="en-GB" dirty="0" smtClean="0"/>
              <a:t> </a:t>
            </a:r>
            <a:endParaRPr lang="en-US" dirty="0"/>
          </a:p>
        </p:txBody>
      </p:sp>
    </p:spTree>
    <p:extLst>
      <p:ext uri="{BB962C8B-B14F-4D97-AF65-F5344CB8AC3E}">
        <p14:creationId xmlns:p14="http://schemas.microsoft.com/office/powerpoint/2010/main" val="846642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4900" y="2839962"/>
            <a:ext cx="6667099" cy="4018038"/>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82075"/>
            <a:ext cx="4985886" cy="3275925"/>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7122695" cy="3606428"/>
          </a:xfrm>
          <a:prstGeom prst="rect">
            <a:avLst/>
          </a:prstGeom>
        </p:spPr>
      </p:pic>
      <p:sp>
        <p:nvSpPr>
          <p:cNvPr id="6" name="TextBox 5"/>
          <p:cNvSpPr txBox="1"/>
          <p:nvPr/>
        </p:nvSpPr>
        <p:spPr>
          <a:xfrm>
            <a:off x="7218947" y="115503"/>
            <a:ext cx="4899259" cy="2677656"/>
          </a:xfrm>
          <a:prstGeom prst="rect">
            <a:avLst/>
          </a:prstGeom>
          <a:noFill/>
        </p:spPr>
        <p:txBody>
          <a:bodyPr wrap="square" rtlCol="0">
            <a:spAutoFit/>
          </a:bodyPr>
          <a:lstStyle/>
          <a:p>
            <a:r>
              <a:rPr lang="en-GB" sz="2800" dirty="0" smtClean="0"/>
              <a:t>Urban development must occur at a rate faster than the needs of goods and services exerted by the population growth.</a:t>
            </a:r>
          </a:p>
          <a:p>
            <a:r>
              <a:rPr lang="en-GB" sz="2800" dirty="0" smtClean="0"/>
              <a:t>Are there examples of slowing down of rate of urbanization?</a:t>
            </a:r>
            <a:endParaRPr lang="en-US" sz="2800" dirty="0"/>
          </a:p>
        </p:txBody>
      </p:sp>
    </p:spTree>
    <p:extLst>
      <p:ext uri="{BB962C8B-B14F-4D97-AF65-F5344CB8AC3E}">
        <p14:creationId xmlns:p14="http://schemas.microsoft.com/office/powerpoint/2010/main" val="2019745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1927</TotalTime>
  <Words>1032</Words>
  <Application>Microsoft Office PowerPoint</Application>
  <PresentationFormat>Widescreen</PresentationFormat>
  <Paragraphs>93</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C-503: EMERGING ISSUES IN ENVIRONMENTAL ECONOMICS</dc:title>
  <dc:creator>User</dc:creator>
  <cp:lastModifiedBy>ADMIN</cp:lastModifiedBy>
  <cp:revision>33</cp:revision>
  <dcterms:created xsi:type="dcterms:W3CDTF">2023-09-16T13:25:17Z</dcterms:created>
  <dcterms:modified xsi:type="dcterms:W3CDTF">2024-09-04T02:53:59Z</dcterms:modified>
</cp:coreProperties>
</file>