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04" r:id="rId3"/>
    <p:sldId id="306" r:id="rId4"/>
    <p:sldId id="257" r:id="rId5"/>
    <p:sldId id="276" r:id="rId6"/>
    <p:sldId id="307" r:id="rId7"/>
    <p:sldId id="308" r:id="rId8"/>
    <p:sldId id="309" r:id="rId9"/>
    <p:sldId id="310" r:id="rId10"/>
    <p:sldId id="305" r:id="rId11"/>
    <p:sldId id="283" r:id="rId12"/>
    <p:sldId id="284" r:id="rId13"/>
    <p:sldId id="285" r:id="rId14"/>
    <p:sldId id="298" r:id="rId15"/>
    <p:sldId id="299" r:id="rId16"/>
    <p:sldId id="300" r:id="rId17"/>
    <p:sldId id="301" r:id="rId18"/>
    <p:sldId id="302" r:id="rId19"/>
    <p:sldId id="303" r:id="rId20"/>
    <p:sldId id="297" r:id="rId21"/>
    <p:sldId id="273" r:id="rId22"/>
    <p:sldId id="274"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613F0E-CC94-4BC4-AFA7-5CCE526F346E}"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613F0E-CC94-4BC4-AFA7-5CCE526F346E}"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A613F0E-CC94-4BC4-AFA7-5CCE526F346E}"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613F0E-CC94-4BC4-AFA7-5CCE526F346E}"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613F0E-CC94-4BC4-AFA7-5CCE526F346E}" type="datetimeFigureOut">
              <a:rPr lang="en-US" smtClean="0"/>
              <a:t>9/4/2024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613F0E-CC94-4BC4-AFA7-5CCE526F346E}" type="datetimeFigureOut">
              <a:rPr lang="en-US" smtClean="0"/>
              <a:t>9/4/2024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13F0E-CC94-4BC4-AFA7-5CCE526F346E}" type="datetimeFigureOut">
              <a:rPr lang="en-US" smtClean="0"/>
              <a:t>9/4/2024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613F0E-CC94-4BC4-AFA7-5CCE526F346E}"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613F0E-CC94-4BC4-AFA7-5CCE526F346E}" type="datetimeFigureOut">
              <a:rPr lang="en-US" smtClean="0"/>
              <a:t>9/4/2024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613F0E-CC94-4BC4-AFA7-5CCE526F346E}"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613F0E-CC94-4BC4-AFA7-5CCE526F346E}" type="datetimeFigureOut">
              <a:rPr lang="en-US" smtClean="0"/>
              <a:t>9/4/2024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9C1E14-3734-41A5-AC62-F986366A36A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613F0E-CC94-4BC4-AFA7-5CCE526F346E}" type="datetimeFigureOut">
              <a:rPr lang="en-US" smtClean="0"/>
              <a:t>9/4/2024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9C1E14-3734-41A5-AC62-F986366A36A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a:spLocks noGrp="1"/>
          </p:cNvSpPr>
          <p:nvPr>
            <p:ph type="subTitle" idx="1"/>
          </p:nvPr>
        </p:nvSpPr>
        <p:spPr>
          <a:xfrm>
            <a:off x="1524000" y="3602038"/>
            <a:ext cx="9144000" cy="1655762"/>
          </a:xfrm>
        </p:spPr>
        <p:txBody>
          <a:bodyPr/>
          <a:lstStyle/>
          <a:p>
            <a:r>
              <a:rPr lang="en-GB" dirty="0" smtClean="0"/>
              <a:t>Class-2</a:t>
            </a:r>
            <a:endParaRPr lang="en-GB" dirty="0" smtClean="0"/>
          </a:p>
          <a:p>
            <a:r>
              <a:rPr lang="en-GB" dirty="0" smtClean="0"/>
              <a:t>POPULATION AND </a:t>
            </a:r>
            <a:r>
              <a:rPr lang="en-GB" dirty="0" smtClean="0"/>
              <a:t>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758" y="259882"/>
            <a:ext cx="11742821" cy="5386090"/>
          </a:xfrm>
          <a:prstGeom prst="rect">
            <a:avLst/>
          </a:prstGeom>
          <a:noFill/>
        </p:spPr>
        <p:txBody>
          <a:bodyPr wrap="square" rtlCol="0">
            <a:spAutoFit/>
          </a:bodyPr>
          <a:lstStyle/>
          <a:p>
            <a:r>
              <a:rPr lang="en-GB" sz="3600" b="1" dirty="0" smtClean="0"/>
              <a:t>RECAP</a:t>
            </a:r>
          </a:p>
          <a:p>
            <a:r>
              <a:rPr lang="en-GB" sz="2800" dirty="0" smtClean="0"/>
              <a:t>Population growth (PG): Concept and definition</a:t>
            </a:r>
          </a:p>
          <a:p>
            <a:pPr marL="457200" indent="-457200">
              <a:buFont typeface="Arial" panose="020B0604020202020204" pitchFamily="34" charset="0"/>
              <a:buChar char="•"/>
            </a:pPr>
            <a:r>
              <a:rPr lang="en-GB" sz="2800" dirty="0" smtClean="0"/>
              <a:t>Population growth and economic growth: positive relationship</a:t>
            </a:r>
          </a:p>
          <a:p>
            <a:pPr marL="457200" indent="-457200">
              <a:buFont typeface="Arial" panose="020B0604020202020204" pitchFamily="34" charset="0"/>
              <a:buChar char="•"/>
            </a:pPr>
            <a:r>
              <a:rPr lang="en-GB" sz="2800" dirty="0"/>
              <a:t>Population growth and economic growth: </a:t>
            </a:r>
            <a:r>
              <a:rPr lang="en-GB" sz="2800" dirty="0" smtClean="0"/>
              <a:t>negative relationship</a:t>
            </a:r>
          </a:p>
          <a:p>
            <a:r>
              <a:rPr lang="en-GB" sz="2800" dirty="0" smtClean="0"/>
              <a:t>Historical PG: how did it take place?</a:t>
            </a:r>
          </a:p>
          <a:p>
            <a:r>
              <a:rPr lang="en-GB" sz="2800" dirty="0" smtClean="0"/>
              <a:t>Causes of rapid growth since the Industrial Revolution?</a:t>
            </a:r>
          </a:p>
          <a:p>
            <a:r>
              <a:rPr lang="en-GB" sz="2800" u="sng" dirty="0" smtClean="0"/>
              <a:t>Consequences of rapid PG</a:t>
            </a:r>
          </a:p>
          <a:p>
            <a:r>
              <a:rPr lang="en-GB" sz="2800" dirty="0" smtClean="0"/>
              <a:t>Industrialization</a:t>
            </a:r>
          </a:p>
          <a:p>
            <a:r>
              <a:rPr lang="en-GB" sz="2800" dirty="0" smtClean="0"/>
              <a:t>Urbanization</a:t>
            </a:r>
          </a:p>
          <a:p>
            <a:pPr marL="342900" indent="-342900">
              <a:buFont typeface="Arial" panose="020B0604020202020204" pitchFamily="34" charset="0"/>
              <a:buChar char="•"/>
            </a:pPr>
            <a:r>
              <a:rPr lang="en-GB" sz="2400" dirty="0" smtClean="0"/>
              <a:t>From local to global phenomenon</a:t>
            </a:r>
          </a:p>
          <a:p>
            <a:pPr marL="342900" indent="-342900">
              <a:buFont typeface="Arial" panose="020B0604020202020204" pitchFamily="34" charset="0"/>
              <a:buChar char="•"/>
            </a:pPr>
            <a:r>
              <a:rPr lang="en-GB" sz="2400" dirty="0" smtClean="0"/>
              <a:t>Hotspots: Asia, Advanced Economies, Emerging hotspots</a:t>
            </a:r>
          </a:p>
          <a:p>
            <a:r>
              <a:rPr lang="en-GB" sz="2800" dirty="0" smtClean="0"/>
              <a:t>Environmental Externalities</a:t>
            </a:r>
            <a:endParaRPr lang="en-US" sz="2800" dirty="0"/>
          </a:p>
        </p:txBody>
      </p:sp>
    </p:spTree>
    <p:extLst>
      <p:ext uri="{BB962C8B-B14F-4D97-AF65-F5344CB8AC3E}">
        <p14:creationId xmlns:p14="http://schemas.microsoft.com/office/powerpoint/2010/main" val="2676578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8383" y="288758"/>
            <a:ext cx="11665819" cy="1877437"/>
          </a:xfrm>
          <a:prstGeom prst="rect">
            <a:avLst/>
          </a:prstGeom>
          <a:noFill/>
        </p:spPr>
        <p:txBody>
          <a:bodyPr wrap="square" rtlCol="0">
            <a:spAutoFit/>
          </a:bodyPr>
          <a:lstStyle/>
          <a:p>
            <a:r>
              <a:rPr lang="en-GB" sz="3200" b="1" dirty="0" smtClean="0"/>
              <a:t>Factors affecting the distribution of population</a:t>
            </a:r>
          </a:p>
          <a:p>
            <a:pPr marL="457200" indent="-225425">
              <a:buFont typeface="Arial" panose="020B0604020202020204" pitchFamily="34" charset="0"/>
              <a:buChar char="•"/>
            </a:pPr>
            <a:r>
              <a:rPr lang="en-GB" sz="2800" dirty="0" smtClean="0"/>
              <a:t>Geographical factors</a:t>
            </a:r>
          </a:p>
          <a:p>
            <a:pPr marL="457200" indent="-225425">
              <a:buFont typeface="Arial" panose="020B0604020202020204" pitchFamily="34" charset="0"/>
              <a:buChar char="•"/>
            </a:pPr>
            <a:r>
              <a:rPr lang="en-GB" sz="2800" dirty="0" smtClean="0"/>
              <a:t>Economic factors</a:t>
            </a:r>
            <a:endParaRPr lang="en-GB" sz="2800" dirty="0"/>
          </a:p>
          <a:p>
            <a:pPr marL="457200" indent="-225425">
              <a:buFont typeface="Arial" panose="020B0604020202020204" pitchFamily="34" charset="0"/>
              <a:buChar char="•"/>
            </a:pPr>
            <a:r>
              <a:rPr lang="en-GB" sz="2800" dirty="0" smtClean="0"/>
              <a:t>Social and cultural factors</a:t>
            </a:r>
            <a:endParaRPr lang="en-US" sz="2800" dirty="0"/>
          </a:p>
        </p:txBody>
      </p:sp>
      <p:sp>
        <p:nvSpPr>
          <p:cNvPr id="3" name="TextBox 2"/>
          <p:cNvSpPr txBox="1"/>
          <p:nvPr/>
        </p:nvSpPr>
        <p:spPr>
          <a:xfrm>
            <a:off x="298381" y="2367815"/>
            <a:ext cx="7180448" cy="2185214"/>
          </a:xfrm>
          <a:prstGeom prst="rect">
            <a:avLst/>
          </a:prstGeom>
          <a:noFill/>
        </p:spPr>
        <p:txBody>
          <a:bodyPr wrap="square" rtlCol="0">
            <a:spAutoFit/>
          </a:bodyPr>
          <a:lstStyle/>
          <a:p>
            <a:r>
              <a:rPr lang="en-GB" sz="3200" dirty="0" smtClean="0"/>
              <a:t>Geographical factors</a:t>
            </a:r>
          </a:p>
          <a:p>
            <a:pPr marL="457200" indent="-225425">
              <a:buFont typeface="Wingdings" panose="05000000000000000000" pitchFamily="2" charset="2"/>
              <a:buChar char="§"/>
            </a:pPr>
            <a:r>
              <a:rPr lang="en-GB" sz="2600" dirty="0" smtClean="0"/>
              <a:t>Access to water	  </a:t>
            </a:r>
            <a:r>
              <a:rPr lang="en-GB" sz="2600" i="1" dirty="0" smtClean="0"/>
              <a:t>Sustenance of life</a:t>
            </a:r>
            <a:r>
              <a:rPr lang="en-GB" sz="2600" dirty="0" smtClean="0"/>
              <a:t> </a:t>
            </a:r>
          </a:p>
          <a:p>
            <a:pPr marL="457200" indent="-225425">
              <a:buFont typeface="Wingdings" panose="05000000000000000000" pitchFamily="2" charset="2"/>
              <a:buChar char="§"/>
            </a:pPr>
            <a:r>
              <a:rPr lang="en-GB" sz="2600" dirty="0" smtClean="0"/>
              <a:t>Landform		  </a:t>
            </a:r>
            <a:r>
              <a:rPr lang="en-GB" sz="2600" i="1" dirty="0" smtClean="0"/>
              <a:t>Terrain suitability</a:t>
            </a:r>
          </a:p>
          <a:p>
            <a:pPr marL="457200" indent="-225425">
              <a:buFont typeface="Wingdings" panose="05000000000000000000" pitchFamily="2" charset="2"/>
              <a:buChar char="§"/>
            </a:pPr>
            <a:r>
              <a:rPr lang="en-GB" sz="2600" dirty="0" smtClean="0"/>
              <a:t>Climate		  </a:t>
            </a:r>
            <a:r>
              <a:rPr lang="en-GB" sz="2600" i="1" dirty="0" smtClean="0"/>
              <a:t>Suitable for food production</a:t>
            </a:r>
          </a:p>
          <a:p>
            <a:pPr marL="457200" indent="-225425">
              <a:buFont typeface="Wingdings" panose="05000000000000000000" pitchFamily="2" charset="2"/>
              <a:buChar char="§"/>
            </a:pPr>
            <a:r>
              <a:rPr lang="en-GB" sz="2600" dirty="0" smtClean="0"/>
              <a:t>Soil (quality)	  </a:t>
            </a:r>
            <a:r>
              <a:rPr lang="en-GB" sz="2600" i="1" dirty="0" smtClean="0"/>
              <a:t>Suitable for food production</a:t>
            </a:r>
            <a:endParaRPr lang="en-US" sz="2600" i="1" dirty="0"/>
          </a:p>
        </p:txBody>
      </p:sp>
      <p:sp>
        <p:nvSpPr>
          <p:cNvPr id="4" name="TextBox 3"/>
          <p:cNvSpPr txBox="1"/>
          <p:nvPr/>
        </p:nvSpPr>
        <p:spPr>
          <a:xfrm>
            <a:off x="298381" y="4553029"/>
            <a:ext cx="6179420" cy="1785104"/>
          </a:xfrm>
          <a:prstGeom prst="rect">
            <a:avLst/>
          </a:prstGeom>
          <a:noFill/>
        </p:spPr>
        <p:txBody>
          <a:bodyPr wrap="square" rtlCol="0">
            <a:spAutoFit/>
          </a:bodyPr>
          <a:lstStyle/>
          <a:p>
            <a:r>
              <a:rPr lang="en-GB" sz="3200" dirty="0" smtClean="0"/>
              <a:t>Economic factors</a:t>
            </a:r>
          </a:p>
          <a:p>
            <a:pPr marL="457200" indent="-225425">
              <a:buFont typeface="Wingdings" panose="05000000000000000000" pitchFamily="2" charset="2"/>
              <a:buChar char="§"/>
            </a:pPr>
            <a:r>
              <a:rPr lang="en-GB" sz="2600" dirty="0" smtClean="0"/>
              <a:t>Minerals		  </a:t>
            </a:r>
            <a:r>
              <a:rPr lang="en-GB" sz="2600" i="1" dirty="0" smtClean="0"/>
              <a:t>Access to resources</a:t>
            </a:r>
            <a:r>
              <a:rPr lang="en-GB" sz="2600" dirty="0" smtClean="0"/>
              <a:t> </a:t>
            </a:r>
          </a:p>
          <a:p>
            <a:pPr marL="457200" indent="-225425">
              <a:buFont typeface="Wingdings" panose="05000000000000000000" pitchFamily="2" charset="2"/>
              <a:buChar char="§"/>
            </a:pPr>
            <a:r>
              <a:rPr lang="en-GB" sz="2600" dirty="0" smtClean="0"/>
              <a:t>Urbanization	  </a:t>
            </a:r>
            <a:r>
              <a:rPr lang="en-GB" sz="2600" i="1" dirty="0" smtClean="0"/>
              <a:t>Where people live</a:t>
            </a:r>
          </a:p>
          <a:p>
            <a:pPr marL="457200" indent="-225425">
              <a:buFont typeface="Wingdings" panose="05000000000000000000" pitchFamily="2" charset="2"/>
              <a:buChar char="§"/>
            </a:pPr>
            <a:r>
              <a:rPr lang="en-GB" sz="2600" dirty="0" smtClean="0"/>
              <a:t>Industrialization	  </a:t>
            </a:r>
            <a:r>
              <a:rPr lang="en-GB" sz="2600" i="1" dirty="0" smtClean="0"/>
              <a:t>Access to employment</a:t>
            </a:r>
            <a:endParaRPr lang="en-US" sz="2600" i="1" dirty="0"/>
          </a:p>
        </p:txBody>
      </p:sp>
      <p:sp>
        <p:nvSpPr>
          <p:cNvPr id="5" name="TextBox 4"/>
          <p:cNvSpPr txBox="1"/>
          <p:nvPr/>
        </p:nvSpPr>
        <p:spPr>
          <a:xfrm>
            <a:off x="6206688" y="4553029"/>
            <a:ext cx="5853767" cy="1908215"/>
          </a:xfrm>
          <a:prstGeom prst="rect">
            <a:avLst/>
          </a:prstGeom>
          <a:noFill/>
        </p:spPr>
        <p:txBody>
          <a:bodyPr wrap="square" rtlCol="0">
            <a:spAutoFit/>
          </a:bodyPr>
          <a:lstStyle/>
          <a:p>
            <a:pPr>
              <a:spcAft>
                <a:spcPts val="800"/>
              </a:spcAft>
            </a:pPr>
            <a:r>
              <a:rPr lang="en-GB" sz="3000" dirty="0" smtClean="0"/>
              <a:t>Social, cultural &amp; governance factors</a:t>
            </a:r>
          </a:p>
          <a:p>
            <a:pPr marL="457200" indent="-225425">
              <a:buFont typeface="Wingdings" panose="05000000000000000000" pitchFamily="2" charset="2"/>
              <a:buChar char="§"/>
            </a:pPr>
            <a:r>
              <a:rPr lang="en-GB" sz="2600" dirty="0" smtClean="0"/>
              <a:t>Religious centres</a:t>
            </a:r>
          </a:p>
          <a:p>
            <a:pPr marL="457200" indent="-225425">
              <a:buFont typeface="Wingdings" panose="05000000000000000000" pitchFamily="2" charset="2"/>
              <a:buChar char="§"/>
            </a:pPr>
            <a:r>
              <a:rPr lang="en-GB" sz="2600" dirty="0" smtClean="0"/>
              <a:t>Cultural heritage</a:t>
            </a:r>
            <a:endParaRPr lang="en-GB" sz="2600" i="1" dirty="0" smtClean="0"/>
          </a:p>
          <a:p>
            <a:pPr marL="457200" indent="-225425">
              <a:buFont typeface="Wingdings" panose="05000000000000000000" pitchFamily="2" charset="2"/>
              <a:buChar char="§"/>
            </a:pPr>
            <a:r>
              <a:rPr lang="en-GB" sz="2600" dirty="0" smtClean="0"/>
              <a:t>Political driven decisions</a:t>
            </a:r>
            <a:endParaRPr lang="en-US" sz="2600" i="1" dirty="0"/>
          </a:p>
        </p:txBody>
      </p:sp>
    </p:spTree>
    <p:extLst>
      <p:ext uri="{BB962C8B-B14F-4D97-AF65-F5344CB8AC3E}">
        <p14:creationId xmlns:p14="http://schemas.microsoft.com/office/powerpoint/2010/main" val="1822810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grpSp>
        <p:nvGrpSpPr>
          <p:cNvPr id="8" name="Group 7"/>
          <p:cNvGrpSpPr/>
          <p:nvPr/>
        </p:nvGrpSpPr>
        <p:grpSpPr>
          <a:xfrm>
            <a:off x="0" y="654523"/>
            <a:ext cx="11744960" cy="6740307"/>
            <a:chOff x="0" y="654523"/>
            <a:chExt cx="11744960" cy="6740307"/>
          </a:xfrm>
        </p:grpSpPr>
        <p:sp>
          <p:nvSpPr>
            <p:cNvPr id="3" name="TextBox 2"/>
            <p:cNvSpPr txBox="1"/>
            <p:nvPr/>
          </p:nvSpPr>
          <p:spPr>
            <a:xfrm>
              <a:off x="8178800" y="5435600"/>
              <a:ext cx="3566160" cy="307777"/>
            </a:xfrm>
            <a:prstGeom prst="rect">
              <a:avLst/>
            </a:prstGeom>
            <a:noFill/>
          </p:spPr>
          <p:txBody>
            <a:bodyPr wrap="square" rtlCol="0">
              <a:spAutoFit/>
            </a:bodyPr>
            <a:lstStyle/>
            <a:p>
              <a:r>
                <a:rPr lang="en-GB" sz="1400" b="1" i="1" dirty="0" smtClean="0"/>
                <a:t>Source: Ritchie &amp; Mathieu, 2019</a:t>
              </a:r>
              <a:endParaRPr lang="en-US" sz="1400" b="1" i="1" dirty="0"/>
            </a:p>
          </p:txBody>
        </p:sp>
        <p:sp>
          <p:nvSpPr>
            <p:cNvPr id="6" name="Rectangle 5"/>
            <p:cNvSpPr/>
            <p:nvPr/>
          </p:nvSpPr>
          <p:spPr>
            <a:xfrm>
              <a:off x="0" y="741145"/>
              <a:ext cx="5082139" cy="57366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82880" y="654523"/>
              <a:ext cx="4899259" cy="6740307"/>
            </a:xfrm>
            <a:prstGeom prst="rect">
              <a:avLst/>
            </a:prstGeom>
            <a:noFill/>
          </p:spPr>
          <p:txBody>
            <a:bodyPr wrap="square" rtlCol="0">
              <a:spAutoFit/>
            </a:bodyPr>
            <a:lstStyle/>
            <a:p>
              <a:pPr>
                <a:spcAft>
                  <a:spcPts val="1200"/>
                </a:spcAft>
              </a:pPr>
              <a:r>
                <a:rPr lang="en-GB" sz="2400" b="1" dirty="0" smtClean="0">
                  <a:solidFill>
                    <a:srgbClr val="FF0000"/>
                  </a:solidFill>
                </a:rPr>
                <a:t>Population density</a:t>
              </a:r>
              <a:r>
                <a:rPr lang="en-GB" sz="2400" b="1" dirty="0" smtClean="0"/>
                <a:t> is a measure of how densely populated an area is.</a:t>
              </a:r>
            </a:p>
            <a:p>
              <a:pPr>
                <a:spcAft>
                  <a:spcPts val="1200"/>
                </a:spcAft>
              </a:pPr>
              <a:r>
                <a:rPr lang="en-GB" sz="2400" b="1" dirty="0" smtClean="0"/>
                <a:t>It is calculated by dividing the total population of an area by its total land area.</a:t>
              </a:r>
            </a:p>
            <a:p>
              <a:pPr>
                <a:spcAft>
                  <a:spcPts val="1200"/>
                </a:spcAft>
              </a:pPr>
              <a:r>
                <a:rPr lang="en-GB" sz="2400" b="1" dirty="0" smtClean="0"/>
                <a:t>The current global average is about 62 people/</a:t>
              </a:r>
              <a:r>
                <a:rPr lang="en-GB" sz="2400" b="1" dirty="0" err="1" smtClean="0"/>
                <a:t>sq</a:t>
              </a:r>
              <a:r>
                <a:rPr lang="en-GB" sz="2400" b="1" dirty="0" smtClean="0"/>
                <a:t> Km.</a:t>
              </a:r>
            </a:p>
            <a:p>
              <a:pPr>
                <a:spcAft>
                  <a:spcPts val="1200"/>
                </a:spcAft>
              </a:pPr>
              <a:r>
                <a:rPr lang="en-GB" sz="2400" b="1" dirty="0" smtClean="0"/>
                <a:t>Spatial differences are striking!</a:t>
              </a:r>
            </a:p>
            <a:p>
              <a:pPr>
                <a:spcAft>
                  <a:spcPts val="1200"/>
                </a:spcAft>
              </a:pPr>
              <a:r>
                <a:rPr lang="en-GB" sz="2400" b="1" dirty="0" smtClean="0"/>
                <a:t>The case of city states (Macao, Monaco, Singapore, Hong Kong, and Gibraltar).</a:t>
              </a:r>
            </a:p>
            <a:p>
              <a:pPr>
                <a:spcAft>
                  <a:spcPts val="1200"/>
                </a:spcAft>
              </a:pPr>
              <a:r>
                <a:rPr lang="en-GB" sz="2400" b="1" dirty="0" smtClean="0"/>
                <a:t>Bangladesh  (1,330);  Rwanda  (571); S. Korea (531); Lebanon (523) &amp; the Netherlands (517).</a:t>
              </a:r>
            </a:p>
            <a:p>
              <a:endParaRPr lang="en-GB" b="1" dirty="0" smtClean="0"/>
            </a:p>
            <a:p>
              <a:endParaRPr lang="en-US" b="1"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557462" y="-38500"/>
            <a:ext cx="11083633" cy="6951086"/>
            <a:chOff x="557462" y="-38500"/>
            <a:chExt cx="11083633" cy="6951086"/>
          </a:xfrm>
        </p:grpSpPr>
        <p:grpSp>
          <p:nvGrpSpPr>
            <p:cNvPr id="5" name="Group 4"/>
            <p:cNvGrpSpPr/>
            <p:nvPr/>
          </p:nvGrpSpPr>
          <p:grpSpPr>
            <a:xfrm>
              <a:off x="557462" y="-38500"/>
              <a:ext cx="11076167" cy="3470954"/>
              <a:chOff x="490086" y="1760376"/>
              <a:chExt cx="11076167" cy="3470954"/>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0086" y="1760376"/>
                <a:ext cx="3716143" cy="3470954"/>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6229" y="1760376"/>
                <a:ext cx="3674120" cy="3470954"/>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0349" y="1760376"/>
                <a:ext cx="3685904" cy="3470954"/>
              </a:xfrm>
              <a:prstGeom prst="rect">
                <a:avLst/>
              </a:prstGeom>
            </p:spPr>
          </p:pic>
        </p:grpSp>
        <p:grpSp>
          <p:nvGrpSpPr>
            <p:cNvPr id="9" name="Group 8"/>
            <p:cNvGrpSpPr/>
            <p:nvPr/>
          </p:nvGrpSpPr>
          <p:grpSpPr>
            <a:xfrm>
              <a:off x="560926" y="3385783"/>
              <a:ext cx="11080169" cy="3526803"/>
              <a:chOff x="560926" y="3385783"/>
              <a:chExt cx="11080169" cy="3526803"/>
            </a:xfrm>
          </p:grpSpPr>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0926" y="3411830"/>
                <a:ext cx="3703054" cy="3500756"/>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54355" y="3385783"/>
                <a:ext cx="3712620" cy="3497001"/>
              </a:xfrm>
              <a:prstGeom prst="rect">
                <a:avLst/>
              </a:prstGeom>
            </p:spPr>
          </p:pic>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47726" y="3407108"/>
                <a:ext cx="3693369" cy="3475676"/>
              </a:xfrm>
              <a:prstGeom prst="rect">
                <a:avLst/>
              </a:prstGeom>
            </p:spPr>
          </p:pic>
        </p:grpSp>
        <p:sp>
          <p:nvSpPr>
            <p:cNvPr id="10" name="TextBox 9"/>
            <p:cNvSpPr txBox="1"/>
            <p:nvPr/>
          </p:nvSpPr>
          <p:spPr>
            <a:xfrm>
              <a:off x="2492951" y="2069434"/>
              <a:ext cx="7295950" cy="461665"/>
            </a:xfrm>
            <a:prstGeom prst="rect">
              <a:avLst/>
            </a:prstGeom>
            <a:noFill/>
          </p:spPr>
          <p:txBody>
            <a:bodyPr wrap="square" rtlCol="0">
              <a:spAutoFit/>
            </a:bodyPr>
            <a:lstStyle/>
            <a:p>
              <a:pPr algn="ctr"/>
              <a:r>
                <a:rPr lang="en-GB" sz="2400" b="1" dirty="0" smtClean="0">
                  <a:solidFill>
                    <a:srgbClr val="FF0000"/>
                  </a:solidFill>
                </a:rPr>
                <a:t>Population density: the historical build-up</a:t>
              </a:r>
              <a:endParaRPr lang="en-US" b="1" dirty="0">
                <a:solidFill>
                  <a:srgbClr val="FF0000"/>
                </a:solidFill>
              </a:endParaRPr>
            </a:p>
          </p:txBody>
        </p:sp>
      </p:grpSp>
      <p:grpSp>
        <p:nvGrpSpPr>
          <p:cNvPr id="14" name="Group 13"/>
          <p:cNvGrpSpPr/>
          <p:nvPr/>
        </p:nvGrpSpPr>
        <p:grpSpPr>
          <a:xfrm>
            <a:off x="5563402" y="818147"/>
            <a:ext cx="1626670" cy="847024"/>
            <a:chOff x="5563402" y="818147"/>
            <a:chExt cx="1626670" cy="847024"/>
          </a:xfrm>
        </p:grpSpPr>
        <p:sp>
          <p:nvSpPr>
            <p:cNvPr id="12" name="Oval 11"/>
            <p:cNvSpPr/>
            <p:nvPr/>
          </p:nvSpPr>
          <p:spPr>
            <a:xfrm>
              <a:off x="6468177" y="924025"/>
              <a:ext cx="721895" cy="74114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1255029">
              <a:off x="5563402" y="818147"/>
              <a:ext cx="904775" cy="452388"/>
            </a:xfrm>
            <a:prstGeom prst="ellipse">
              <a:avLst/>
            </a:prstGeom>
            <a:no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1828788" y="4215521"/>
            <a:ext cx="1626670" cy="847024"/>
            <a:chOff x="5563402" y="818147"/>
            <a:chExt cx="1626670" cy="847024"/>
          </a:xfrm>
        </p:grpSpPr>
        <p:sp>
          <p:nvSpPr>
            <p:cNvPr id="16" name="Oval 15"/>
            <p:cNvSpPr/>
            <p:nvPr/>
          </p:nvSpPr>
          <p:spPr>
            <a:xfrm>
              <a:off x="6468177" y="924025"/>
              <a:ext cx="721895" cy="74114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1255029">
              <a:off x="5563402" y="818147"/>
              <a:ext cx="904775" cy="452388"/>
            </a:xfrm>
            <a:prstGeom prst="ellipse">
              <a:avLst/>
            </a:prstGeom>
            <a:no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Oval 17"/>
          <p:cNvSpPr/>
          <p:nvPr/>
        </p:nvSpPr>
        <p:spPr>
          <a:xfrm>
            <a:off x="1905801" y="4653472"/>
            <a:ext cx="423499" cy="48642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p:cNvGrpSpPr/>
          <p:nvPr/>
        </p:nvGrpSpPr>
        <p:grpSpPr>
          <a:xfrm>
            <a:off x="269507" y="182880"/>
            <a:ext cx="3474720" cy="2086659"/>
            <a:chOff x="269507" y="182880"/>
            <a:chExt cx="3474720" cy="2086659"/>
          </a:xfrm>
        </p:grpSpPr>
        <p:sp>
          <p:nvSpPr>
            <p:cNvPr id="19" name="TextBox 18"/>
            <p:cNvSpPr txBox="1"/>
            <p:nvPr/>
          </p:nvSpPr>
          <p:spPr>
            <a:xfrm>
              <a:off x="269507" y="1530875"/>
              <a:ext cx="1193533" cy="369332"/>
            </a:xfrm>
            <a:prstGeom prst="rect">
              <a:avLst/>
            </a:prstGeom>
            <a:noFill/>
          </p:spPr>
          <p:txBody>
            <a:bodyPr wrap="square" rtlCol="0">
              <a:spAutoFit/>
            </a:bodyPr>
            <a:lstStyle/>
            <a:p>
              <a:r>
                <a:rPr lang="en-GB" b="1" dirty="0" smtClean="0"/>
                <a:t>Vast land</a:t>
              </a:r>
              <a:endParaRPr lang="en-US" b="1" dirty="0"/>
            </a:p>
          </p:txBody>
        </p:sp>
        <p:cxnSp>
          <p:nvCxnSpPr>
            <p:cNvPr id="21" name="Straight Arrow Connector 20"/>
            <p:cNvCxnSpPr/>
            <p:nvPr/>
          </p:nvCxnSpPr>
          <p:spPr>
            <a:xfrm flipV="1">
              <a:off x="365760" y="1044341"/>
              <a:ext cx="866274" cy="486534"/>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433137" y="1417139"/>
              <a:ext cx="1896163" cy="113736"/>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963559" y="1900207"/>
              <a:ext cx="1780668" cy="369332"/>
            </a:xfrm>
            <a:prstGeom prst="rect">
              <a:avLst/>
            </a:prstGeom>
            <a:noFill/>
          </p:spPr>
          <p:txBody>
            <a:bodyPr wrap="square" rtlCol="0">
              <a:spAutoFit/>
            </a:bodyPr>
            <a:lstStyle/>
            <a:p>
              <a:r>
                <a:rPr lang="en-GB" b="1" dirty="0" smtClean="0"/>
                <a:t>Agricultural land</a:t>
              </a:r>
              <a:endParaRPr lang="en-US" b="1" dirty="0"/>
            </a:p>
          </p:txBody>
        </p:sp>
        <p:cxnSp>
          <p:nvCxnSpPr>
            <p:cNvPr id="26" name="Straight Arrow Connector 25"/>
            <p:cNvCxnSpPr/>
            <p:nvPr/>
          </p:nvCxnSpPr>
          <p:spPr>
            <a:xfrm flipV="1">
              <a:off x="2733563" y="1212783"/>
              <a:ext cx="173266" cy="687424"/>
            </a:xfrm>
            <a:prstGeom prst="straightConnector1">
              <a:avLst/>
            </a:prstGeom>
            <a:ln w="571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2589196" y="1212783"/>
              <a:ext cx="144367" cy="687424"/>
            </a:xfrm>
            <a:prstGeom prst="straightConnector1">
              <a:avLst/>
            </a:prstGeom>
            <a:ln w="57150">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589196" y="182880"/>
              <a:ext cx="1001027" cy="369332"/>
            </a:xfrm>
            <a:prstGeom prst="rect">
              <a:avLst/>
            </a:prstGeom>
            <a:noFill/>
          </p:spPr>
          <p:txBody>
            <a:bodyPr wrap="square" rtlCol="0">
              <a:spAutoFit/>
            </a:bodyPr>
            <a:lstStyle/>
            <a:p>
              <a:r>
                <a:rPr lang="en-GB" b="1" dirty="0" smtClean="0"/>
                <a:t>Forest</a:t>
              </a:r>
              <a:endParaRPr lang="en-US" b="1" dirty="0"/>
            </a:p>
          </p:txBody>
        </p:sp>
        <p:cxnSp>
          <p:nvCxnSpPr>
            <p:cNvPr id="31" name="Straight Arrow Connector 30"/>
            <p:cNvCxnSpPr>
              <a:stCxn id="29" idx="1"/>
            </p:cNvCxnSpPr>
            <p:nvPr/>
          </p:nvCxnSpPr>
          <p:spPr>
            <a:xfrm flipH="1">
              <a:off x="1578543" y="367546"/>
              <a:ext cx="1010653" cy="129762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589196" y="367546"/>
              <a:ext cx="317633" cy="55647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7634" y="144380"/>
            <a:ext cx="11434812" cy="646331"/>
          </a:xfrm>
          <a:prstGeom prst="rect">
            <a:avLst/>
          </a:prstGeom>
          <a:noFill/>
        </p:spPr>
        <p:txBody>
          <a:bodyPr wrap="square" rtlCol="0">
            <a:spAutoFit/>
          </a:bodyPr>
          <a:lstStyle/>
          <a:p>
            <a:r>
              <a:rPr lang="en-GB" sz="3600" b="1" dirty="0" smtClean="0"/>
              <a:t>Where on earth population has been growing fast?</a:t>
            </a:r>
            <a:endParaRPr lang="en-US" sz="36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523" y="704082"/>
            <a:ext cx="7342965" cy="5638965"/>
          </a:xfrm>
          <a:prstGeom prst="rect">
            <a:avLst/>
          </a:prstGeom>
        </p:spPr>
      </p:pic>
      <p:sp>
        <p:nvSpPr>
          <p:cNvPr id="6" name="Rectangle 5"/>
          <p:cNvSpPr/>
          <p:nvPr/>
        </p:nvSpPr>
        <p:spPr>
          <a:xfrm>
            <a:off x="4600876" y="1347537"/>
            <a:ext cx="1694046" cy="37731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4781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3631" y="346509"/>
            <a:ext cx="11922493" cy="6186309"/>
          </a:xfrm>
          <a:prstGeom prst="rect">
            <a:avLst/>
          </a:prstGeom>
          <a:noFill/>
        </p:spPr>
        <p:txBody>
          <a:bodyPr wrap="square" rtlCol="0">
            <a:spAutoFit/>
          </a:bodyPr>
          <a:lstStyle/>
          <a:p>
            <a:r>
              <a:rPr lang="en-GB" sz="3200" b="1" dirty="0" smtClean="0"/>
              <a:t>Why the global population has been growing so fast?</a:t>
            </a:r>
          </a:p>
          <a:p>
            <a:r>
              <a:rPr lang="en-GB" sz="2800" dirty="0" smtClean="0"/>
              <a:t>Innovation enabled people to find an increasing number of suitable places to live.</a:t>
            </a:r>
          </a:p>
          <a:p>
            <a:r>
              <a:rPr lang="en-GB" sz="2800" dirty="0" smtClean="0"/>
              <a:t>Efforts to have increased harvest.</a:t>
            </a:r>
          </a:p>
          <a:p>
            <a:r>
              <a:rPr lang="en-GB" sz="2800" dirty="0" smtClean="0"/>
              <a:t>Change in life expectancy – triggered by advancement in </a:t>
            </a:r>
            <a:r>
              <a:rPr lang="en-GB" sz="2800" dirty="0" err="1" smtClean="0"/>
              <a:t>medicare</a:t>
            </a:r>
            <a:r>
              <a:rPr lang="en-GB" sz="2800" dirty="0" smtClean="0"/>
              <a:t> facilities.</a:t>
            </a:r>
          </a:p>
          <a:p>
            <a:r>
              <a:rPr lang="en-GB" sz="2800" dirty="0"/>
              <a:t> </a:t>
            </a:r>
            <a:r>
              <a:rPr lang="en-GB" sz="2800" dirty="0" smtClean="0"/>
              <a:t>    Arrest of mortality rates.</a:t>
            </a:r>
          </a:p>
          <a:p>
            <a:r>
              <a:rPr lang="en-GB" sz="2800" dirty="0"/>
              <a:t> </a:t>
            </a:r>
            <a:r>
              <a:rPr lang="en-GB" sz="2800" dirty="0" smtClean="0"/>
              <a:t>    Live longer than average longevity.</a:t>
            </a:r>
          </a:p>
          <a:p>
            <a:r>
              <a:rPr lang="en-GB" sz="2800" dirty="0" smtClean="0"/>
              <a:t>Use of science and technology</a:t>
            </a:r>
          </a:p>
          <a:p>
            <a:r>
              <a:rPr lang="en-GB" sz="2800" dirty="0"/>
              <a:t> </a:t>
            </a:r>
            <a:r>
              <a:rPr lang="en-GB" sz="2800" dirty="0" smtClean="0"/>
              <a:t>    Increased accessibility to resources (such as potable water)</a:t>
            </a:r>
          </a:p>
          <a:p>
            <a:r>
              <a:rPr lang="en-GB" sz="2800" dirty="0"/>
              <a:t> </a:t>
            </a:r>
            <a:r>
              <a:rPr lang="en-GB" sz="2800" dirty="0" smtClean="0"/>
              <a:t>    Ability to change suitability (</a:t>
            </a:r>
            <a:r>
              <a:rPr lang="en-GB" sz="2800" dirty="0" err="1" smtClean="0"/>
              <a:t>e.g</a:t>
            </a:r>
            <a:r>
              <a:rPr lang="en-GB" sz="2800" dirty="0" smtClean="0"/>
              <a:t>, addressing water scarcity)</a:t>
            </a:r>
          </a:p>
          <a:p>
            <a:r>
              <a:rPr lang="en-GB" sz="2800" dirty="0" smtClean="0"/>
              <a:t>Socioeconomic factor – Financial ability and willingness to increase family size</a:t>
            </a:r>
          </a:p>
          <a:p>
            <a:r>
              <a:rPr lang="en-GB" sz="2800" dirty="0" smtClean="0"/>
              <a:t>Political and other aspects/realities (</a:t>
            </a:r>
            <a:r>
              <a:rPr lang="en-GB" sz="2800" dirty="0" err="1" smtClean="0"/>
              <a:t>e.g</a:t>
            </a:r>
            <a:r>
              <a:rPr lang="en-GB" sz="2800" dirty="0" smtClean="0"/>
              <a:t>, war-related deaths and uncertainties)</a:t>
            </a:r>
          </a:p>
          <a:p>
            <a:endParaRPr lang="en-GB" sz="2800" dirty="0"/>
          </a:p>
          <a:p>
            <a:r>
              <a:rPr lang="en-GB" sz="2800" dirty="0" smtClean="0"/>
              <a:t>Whither urbanization?</a:t>
            </a:r>
          </a:p>
          <a:p>
            <a:r>
              <a:rPr lang="en-GB" sz="2800" dirty="0" smtClean="0"/>
              <a:t>Realities around poverty.</a:t>
            </a:r>
            <a:endParaRPr lang="en-US" sz="2800" dirty="0"/>
          </a:p>
        </p:txBody>
      </p:sp>
    </p:spTree>
    <p:extLst>
      <p:ext uri="{BB962C8B-B14F-4D97-AF65-F5344CB8AC3E}">
        <p14:creationId xmlns:p14="http://schemas.microsoft.com/office/powerpoint/2010/main" val="1586689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3718722" y="3361197"/>
            <a:ext cx="5059518" cy="3780747"/>
            <a:chOff x="3718722" y="3320715"/>
            <a:chExt cx="5099482" cy="3821230"/>
          </a:xfrm>
        </p:grpSpPr>
        <p:pic>
          <p:nvPicPr>
            <p:cNvPr id="5" name="Picture 4"/>
            <p:cNvPicPr>
              <a:picLocks noChangeAspect="1"/>
            </p:cNvPicPr>
            <p:nvPr/>
          </p:nvPicPr>
          <p:blipFill>
            <a:blip r:embed="rId2"/>
            <a:stretch>
              <a:fillRect/>
            </a:stretch>
          </p:blipFill>
          <p:spPr>
            <a:xfrm>
              <a:off x="3718722" y="3320715"/>
              <a:ext cx="5099482" cy="3821230"/>
            </a:xfrm>
            <a:prstGeom prst="rect">
              <a:avLst/>
            </a:prstGeom>
          </p:spPr>
        </p:pic>
        <p:sp>
          <p:nvSpPr>
            <p:cNvPr id="6" name="TextBox 5"/>
            <p:cNvSpPr txBox="1"/>
            <p:nvPr/>
          </p:nvSpPr>
          <p:spPr>
            <a:xfrm>
              <a:off x="5505651" y="6352674"/>
              <a:ext cx="2550694" cy="276999"/>
            </a:xfrm>
            <a:prstGeom prst="rect">
              <a:avLst/>
            </a:prstGeom>
            <a:noFill/>
          </p:spPr>
          <p:txBody>
            <a:bodyPr wrap="square" rtlCol="0">
              <a:spAutoFit/>
            </a:bodyPr>
            <a:lstStyle/>
            <a:p>
              <a:r>
                <a:rPr lang="en-GB" sz="1200" b="1" i="1" dirty="0" smtClean="0"/>
                <a:t>Source: theconversation.com</a:t>
              </a:r>
              <a:endParaRPr lang="en-US" sz="1200" b="1" i="1" dirty="0"/>
            </a:p>
          </p:txBody>
        </p:sp>
      </p:grpSp>
      <p:grpSp>
        <p:nvGrpSpPr>
          <p:cNvPr id="9" name="Group 8"/>
          <p:cNvGrpSpPr/>
          <p:nvPr/>
        </p:nvGrpSpPr>
        <p:grpSpPr>
          <a:xfrm>
            <a:off x="309762" y="322948"/>
            <a:ext cx="5911528" cy="3276900"/>
            <a:chOff x="309762" y="322948"/>
            <a:chExt cx="5911528" cy="327690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762" y="322948"/>
              <a:ext cx="5911528" cy="3276900"/>
            </a:xfrm>
            <a:prstGeom prst="rect">
              <a:avLst/>
            </a:prstGeom>
          </p:spPr>
        </p:pic>
        <p:sp>
          <p:nvSpPr>
            <p:cNvPr id="8" name="TextBox 7"/>
            <p:cNvSpPr txBox="1"/>
            <p:nvPr/>
          </p:nvSpPr>
          <p:spPr>
            <a:xfrm>
              <a:off x="590186" y="3012938"/>
              <a:ext cx="1424056" cy="307777"/>
            </a:xfrm>
            <a:prstGeom prst="rect">
              <a:avLst/>
            </a:prstGeom>
            <a:noFill/>
          </p:spPr>
          <p:txBody>
            <a:bodyPr wrap="square" rtlCol="0">
              <a:spAutoFit/>
            </a:bodyPr>
            <a:lstStyle/>
            <a:p>
              <a:r>
                <a:rPr lang="en-GB" sz="1400" b="1" i="1" dirty="0" smtClean="0"/>
                <a:t>Source: Waugh</a:t>
              </a:r>
              <a:endParaRPr lang="en-US" b="1" i="1" dirty="0"/>
            </a:p>
          </p:txBody>
        </p:sp>
      </p:grpSp>
      <p:grpSp>
        <p:nvGrpSpPr>
          <p:cNvPr id="11" name="Group 10"/>
          <p:cNvGrpSpPr/>
          <p:nvPr/>
        </p:nvGrpSpPr>
        <p:grpSpPr>
          <a:xfrm>
            <a:off x="210141" y="3593682"/>
            <a:ext cx="3495585" cy="3041476"/>
            <a:chOff x="210141" y="3593682"/>
            <a:chExt cx="3495585" cy="3041476"/>
          </a:xfrm>
        </p:grpSpPr>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141" y="3593682"/>
              <a:ext cx="3495585" cy="3041476"/>
            </a:xfrm>
            <a:prstGeom prst="rect">
              <a:avLst/>
            </a:prstGeom>
          </p:spPr>
        </p:pic>
        <p:sp>
          <p:nvSpPr>
            <p:cNvPr id="10" name="TextBox 9"/>
            <p:cNvSpPr txBox="1"/>
            <p:nvPr/>
          </p:nvSpPr>
          <p:spPr>
            <a:xfrm>
              <a:off x="1039528" y="6183396"/>
              <a:ext cx="2464068" cy="307777"/>
            </a:xfrm>
            <a:prstGeom prst="rect">
              <a:avLst/>
            </a:prstGeom>
            <a:noFill/>
          </p:spPr>
          <p:txBody>
            <a:bodyPr wrap="square" rtlCol="0">
              <a:spAutoFit/>
            </a:bodyPr>
            <a:lstStyle/>
            <a:p>
              <a:pPr algn="r"/>
              <a:r>
                <a:rPr lang="en-GB" sz="1400" b="1" i="1" dirty="0" smtClean="0"/>
                <a:t>Source: J.A. </a:t>
              </a:r>
              <a:r>
                <a:rPr lang="en-GB" sz="1400" b="1" i="1" dirty="0" err="1" smtClean="0"/>
                <a:t>Carr</a:t>
              </a:r>
              <a:r>
                <a:rPr lang="en-GB" sz="1400" b="1" i="1" dirty="0" smtClean="0"/>
                <a:t> </a:t>
              </a:r>
              <a:endParaRPr lang="en-US" b="1" i="1" dirty="0"/>
            </a:p>
          </p:txBody>
        </p:sp>
      </p:gr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20911" y="115503"/>
            <a:ext cx="4598068" cy="3245695"/>
          </a:xfrm>
          <a:prstGeom prst="rect">
            <a:avLst/>
          </a:prstGeom>
        </p:spPr>
      </p:pic>
      <p:sp>
        <p:nvSpPr>
          <p:cNvPr id="13" name="Rounded Rectangle 12"/>
          <p:cNvSpPr/>
          <p:nvPr/>
        </p:nvSpPr>
        <p:spPr>
          <a:xfrm>
            <a:off x="8056345" y="683394"/>
            <a:ext cx="1193533" cy="2329544"/>
          </a:xfrm>
          <a:prstGeom prst="roundRect">
            <a:avLst/>
          </a:prstGeom>
          <a:noFill/>
          <a:ln w="571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801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0" y="46683"/>
            <a:ext cx="10106526" cy="7205953"/>
            <a:chOff x="0" y="46683"/>
            <a:chExt cx="10106526" cy="7205953"/>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6683"/>
              <a:ext cx="10106526" cy="7205953"/>
            </a:xfrm>
            <a:prstGeom prst="rect">
              <a:avLst/>
            </a:prstGeom>
          </p:spPr>
        </p:pic>
        <p:sp>
          <p:nvSpPr>
            <p:cNvPr id="3" name="TextBox 2"/>
            <p:cNvSpPr txBox="1"/>
            <p:nvPr/>
          </p:nvSpPr>
          <p:spPr>
            <a:xfrm>
              <a:off x="7190072" y="6679933"/>
              <a:ext cx="2050181" cy="276999"/>
            </a:xfrm>
            <a:prstGeom prst="rect">
              <a:avLst/>
            </a:prstGeom>
            <a:noFill/>
          </p:spPr>
          <p:txBody>
            <a:bodyPr wrap="square" rtlCol="0">
              <a:spAutoFit/>
            </a:bodyPr>
            <a:lstStyle/>
            <a:p>
              <a:pPr algn="r"/>
              <a:r>
                <a:rPr lang="en-GB" sz="1200" b="1" i="1" dirty="0" smtClean="0"/>
                <a:t>Source: </a:t>
              </a:r>
              <a:r>
                <a:rPr lang="en-GB" sz="1200" b="1" i="1" dirty="0" err="1" smtClean="0"/>
                <a:t>Roser</a:t>
              </a:r>
              <a:r>
                <a:rPr lang="en-GB" sz="1200" b="1" i="1" dirty="0" smtClean="0"/>
                <a:t>, M., 2019</a:t>
              </a:r>
              <a:endParaRPr lang="en-US" b="1" i="1" dirty="0"/>
            </a:p>
          </p:txBody>
        </p:sp>
        <p:sp>
          <p:nvSpPr>
            <p:cNvPr id="4" name="TextBox 3"/>
            <p:cNvSpPr txBox="1"/>
            <p:nvPr/>
          </p:nvSpPr>
          <p:spPr>
            <a:xfrm>
              <a:off x="4774131" y="1828800"/>
              <a:ext cx="798897" cy="230832"/>
            </a:xfrm>
            <a:prstGeom prst="rect">
              <a:avLst/>
            </a:prstGeom>
            <a:noFill/>
          </p:spPr>
          <p:txBody>
            <a:bodyPr wrap="square" rtlCol="0">
              <a:spAutoFit/>
            </a:bodyPr>
            <a:lstStyle/>
            <a:p>
              <a:r>
                <a:rPr lang="en-GB" sz="900" b="1" dirty="0" smtClean="0"/>
                <a:t>Bangladesh</a:t>
              </a:r>
              <a:endParaRPr lang="en-US" b="1" dirty="0"/>
            </a:p>
          </p:txBody>
        </p:sp>
        <p:pic>
          <p:nvPicPr>
            <p:cNvPr id="5" name="Picture 4"/>
            <p:cNvPicPr>
              <a:picLocks noChangeAspect="1"/>
            </p:cNvPicPr>
            <p:nvPr/>
          </p:nvPicPr>
          <p:blipFill>
            <a:blip r:embed="rId3"/>
            <a:stretch>
              <a:fillRect/>
            </a:stretch>
          </p:blipFill>
          <p:spPr>
            <a:xfrm>
              <a:off x="4374934" y="3790722"/>
              <a:ext cx="798645" cy="256054"/>
            </a:xfrm>
            <a:prstGeom prst="rect">
              <a:avLst/>
            </a:prstGeom>
          </p:spPr>
        </p:pic>
      </p:grpSp>
    </p:spTree>
    <p:extLst>
      <p:ext uri="{BB962C8B-B14F-4D97-AF65-F5344CB8AC3E}">
        <p14:creationId xmlns:p14="http://schemas.microsoft.com/office/powerpoint/2010/main" val="237231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8383" y="105880"/>
            <a:ext cx="9942897" cy="2446824"/>
          </a:xfrm>
          <a:prstGeom prst="rect">
            <a:avLst/>
          </a:prstGeom>
          <a:noFill/>
        </p:spPr>
        <p:txBody>
          <a:bodyPr wrap="square" rtlCol="0">
            <a:spAutoFit/>
          </a:bodyPr>
          <a:lstStyle/>
          <a:p>
            <a:pPr>
              <a:spcAft>
                <a:spcPts val="600"/>
              </a:spcAft>
            </a:pPr>
            <a:r>
              <a:rPr lang="en-GB" sz="2800" b="1" dirty="0" smtClean="0"/>
              <a:t>Components of population growth  (revisiting)</a:t>
            </a:r>
          </a:p>
          <a:p>
            <a:pPr>
              <a:spcAft>
                <a:spcPts val="300"/>
              </a:spcAft>
            </a:pPr>
            <a:r>
              <a:rPr lang="en-GB" sz="2200" dirty="0" smtClean="0"/>
              <a:t>Natural increase/decrease: Birth rate, death rate, infant mortality rate, life expectancy</a:t>
            </a:r>
          </a:p>
          <a:p>
            <a:pPr>
              <a:spcAft>
                <a:spcPts val="300"/>
              </a:spcAft>
            </a:pPr>
            <a:r>
              <a:rPr lang="en-GB" sz="2200" dirty="0" smtClean="0"/>
              <a:t>Net migration: Immigration, emigration, net migration rate</a:t>
            </a:r>
          </a:p>
          <a:p>
            <a:pPr>
              <a:spcAft>
                <a:spcPts val="300"/>
              </a:spcAft>
            </a:pPr>
            <a:r>
              <a:rPr lang="en-GB" sz="2200" dirty="0" smtClean="0"/>
              <a:t>Childbearing patterns: Total fertility rate, replacement level fertility</a:t>
            </a:r>
          </a:p>
          <a:p>
            <a:pPr>
              <a:spcAft>
                <a:spcPts val="300"/>
              </a:spcAft>
            </a:pPr>
            <a:r>
              <a:rPr lang="en-GB" sz="2200" dirty="0" smtClean="0"/>
              <a:t>Patterns related to death: Crude death rate, age-specific death rate</a:t>
            </a:r>
          </a:p>
          <a:p>
            <a:pPr>
              <a:spcAft>
                <a:spcPts val="300"/>
              </a:spcAft>
            </a:pPr>
            <a:r>
              <a:rPr lang="en-GB" sz="2200" dirty="0" smtClean="0"/>
              <a:t>Age structure (distribution of age groups): Dependency ratio, median age</a:t>
            </a:r>
          </a:p>
        </p:txBody>
      </p:sp>
      <p:sp>
        <p:nvSpPr>
          <p:cNvPr id="3" name="TextBox 2"/>
          <p:cNvSpPr txBox="1"/>
          <p:nvPr/>
        </p:nvSpPr>
        <p:spPr>
          <a:xfrm>
            <a:off x="298383" y="2550699"/>
            <a:ext cx="5438274" cy="4308872"/>
          </a:xfrm>
          <a:prstGeom prst="rect">
            <a:avLst/>
          </a:prstGeom>
          <a:noFill/>
        </p:spPr>
        <p:txBody>
          <a:bodyPr wrap="square" rtlCol="0">
            <a:spAutoFit/>
          </a:bodyPr>
          <a:lstStyle/>
          <a:p>
            <a:pPr>
              <a:spcAft>
                <a:spcPts val="600"/>
              </a:spcAft>
            </a:pPr>
            <a:r>
              <a:rPr lang="en-GB" sz="2400" b="1" u="sng" dirty="0"/>
              <a:t>Definitions</a:t>
            </a:r>
          </a:p>
          <a:p>
            <a:pPr>
              <a:spcAft>
                <a:spcPts val="600"/>
              </a:spcAft>
            </a:pPr>
            <a:r>
              <a:rPr lang="en-GB" sz="2400" b="1" dirty="0"/>
              <a:t>Birth rate</a:t>
            </a:r>
            <a:r>
              <a:rPr lang="en-GB" sz="2400" dirty="0"/>
              <a:t>: Birth rate, also known as </a:t>
            </a:r>
            <a:r>
              <a:rPr lang="en-GB" sz="2400" i="1" dirty="0" err="1"/>
              <a:t>natality</a:t>
            </a:r>
            <a:r>
              <a:rPr lang="en-GB" sz="2400" dirty="0"/>
              <a:t>, is the total number of live human births per 1,000 population for a given period divided by the length of the period in years.</a:t>
            </a:r>
          </a:p>
          <a:p>
            <a:pPr>
              <a:spcAft>
                <a:spcPts val="600"/>
              </a:spcAft>
            </a:pPr>
            <a:r>
              <a:rPr lang="en-GB" sz="2400" b="1" dirty="0"/>
              <a:t>Death rate</a:t>
            </a:r>
            <a:r>
              <a:rPr lang="en-GB" sz="2400" dirty="0"/>
              <a:t>: Death rate or mortality rate is a measure of the number of deaths (in general, or due to a specific cause) in a particular population, scaled to the size of that population, per unit of time</a:t>
            </a:r>
            <a:r>
              <a:rPr lang="en-GB" sz="2400" dirty="0" smtClean="0"/>
              <a:t>.</a:t>
            </a:r>
            <a:endParaRPr lang="en-GB"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7927" y="2531442"/>
            <a:ext cx="7062302" cy="3625315"/>
          </a:xfrm>
          <a:prstGeom prst="rect">
            <a:avLst/>
          </a:prstGeom>
        </p:spPr>
      </p:pic>
      <p:grpSp>
        <p:nvGrpSpPr>
          <p:cNvPr id="8" name="Group 7"/>
          <p:cNvGrpSpPr/>
          <p:nvPr/>
        </p:nvGrpSpPr>
        <p:grpSpPr>
          <a:xfrm>
            <a:off x="6535553" y="2723949"/>
            <a:ext cx="5419024" cy="1212783"/>
            <a:chOff x="6535553" y="2723949"/>
            <a:chExt cx="5419024" cy="1212783"/>
          </a:xfrm>
        </p:grpSpPr>
        <p:sp>
          <p:nvSpPr>
            <p:cNvPr id="5" name="Oval 4"/>
            <p:cNvSpPr/>
            <p:nvPr/>
          </p:nvSpPr>
          <p:spPr>
            <a:xfrm>
              <a:off x="6535553" y="3214837"/>
              <a:ext cx="1414914" cy="721895"/>
            </a:xfrm>
            <a:prstGeom prst="ellipse">
              <a:avLst/>
            </a:prstGeom>
            <a:noFill/>
            <a:ln w="571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662737" y="3041582"/>
              <a:ext cx="1001027" cy="644893"/>
            </a:xfrm>
            <a:prstGeom prst="ellipse">
              <a:avLst/>
            </a:prstGeom>
            <a:noFill/>
            <a:ln w="571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9509760" y="2723949"/>
              <a:ext cx="2444817" cy="640079"/>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6530316" y="5472490"/>
            <a:ext cx="5457524" cy="1200329"/>
          </a:xfrm>
          <a:prstGeom prst="rect">
            <a:avLst/>
          </a:prstGeom>
          <a:noFill/>
        </p:spPr>
        <p:txBody>
          <a:bodyPr wrap="square" rtlCol="0">
            <a:spAutoFit/>
          </a:bodyPr>
          <a:lstStyle/>
          <a:p>
            <a:r>
              <a:rPr lang="en-GB" sz="2400" dirty="0" smtClean="0">
                <a:solidFill>
                  <a:srgbClr val="FF0000"/>
                </a:solidFill>
              </a:rPr>
              <a:t>Why the mortality rates in advanced economies are higher than that in South Asian countries?</a:t>
            </a:r>
            <a:endParaRPr lang="en-US" sz="2400" dirty="0">
              <a:solidFill>
                <a:srgbClr val="FF0000"/>
              </a:solidFill>
            </a:endParaRPr>
          </a:p>
        </p:txBody>
      </p:sp>
    </p:spTree>
    <p:extLst>
      <p:ext uri="{BB962C8B-B14F-4D97-AF65-F5344CB8AC3E}">
        <p14:creationId xmlns:p14="http://schemas.microsoft.com/office/powerpoint/2010/main" val="284685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134" y="105882"/>
            <a:ext cx="8566480" cy="584775"/>
          </a:xfrm>
          <a:prstGeom prst="rect">
            <a:avLst/>
          </a:prstGeom>
          <a:noFill/>
        </p:spPr>
        <p:txBody>
          <a:bodyPr wrap="square" rtlCol="0">
            <a:spAutoFit/>
          </a:bodyPr>
          <a:lstStyle/>
          <a:p>
            <a:r>
              <a:rPr lang="en-GB" sz="3200" b="1" dirty="0" smtClean="0"/>
              <a:t>Reducing Death Rates: Fighting against diseases</a:t>
            </a:r>
          </a:p>
        </p:txBody>
      </p:sp>
      <p:sp>
        <p:nvSpPr>
          <p:cNvPr id="3" name="TextBox 2"/>
          <p:cNvSpPr txBox="1"/>
          <p:nvPr/>
        </p:nvSpPr>
        <p:spPr>
          <a:xfrm>
            <a:off x="125133" y="691418"/>
            <a:ext cx="5216888" cy="6124754"/>
          </a:xfrm>
          <a:prstGeom prst="rect">
            <a:avLst/>
          </a:prstGeom>
          <a:noFill/>
        </p:spPr>
        <p:txBody>
          <a:bodyPr wrap="square" rtlCol="0">
            <a:spAutoFit/>
          </a:bodyPr>
          <a:lstStyle/>
          <a:p>
            <a:r>
              <a:rPr lang="en-GB" sz="2800" dirty="0" smtClean="0"/>
              <a:t>Death rates have been declining across regions due to advancements in knowledge, technology, improvements in healthcare, etc. </a:t>
            </a:r>
          </a:p>
          <a:p>
            <a:endParaRPr lang="en-GB" sz="2800" dirty="0" smtClean="0"/>
          </a:p>
          <a:p>
            <a:r>
              <a:rPr lang="en-GB" sz="2800" dirty="0" smtClean="0"/>
              <a:t>That </a:t>
            </a:r>
            <a:r>
              <a:rPr lang="en-GB" sz="2800" dirty="0"/>
              <a:t>power has so far eradicated two infectious diseases: smallpox </a:t>
            </a:r>
            <a:r>
              <a:rPr lang="en-GB" sz="2800" dirty="0" smtClean="0"/>
              <a:t>(1980) and rinderpest (2011). </a:t>
            </a:r>
            <a:r>
              <a:rPr lang="en-GB" sz="2800" dirty="0"/>
              <a:t>We are also getting closer to eradicating polio and Guinea worm disease. </a:t>
            </a:r>
            <a:endParaRPr lang="en-GB" sz="2800" dirty="0" smtClean="0"/>
          </a:p>
          <a:p>
            <a:r>
              <a:rPr lang="en-GB" sz="2800" dirty="0" smtClean="0"/>
              <a:t>But </a:t>
            </a:r>
            <a:r>
              <a:rPr lang="en-GB" sz="2800" dirty="0"/>
              <a:t>can we eradicate </a:t>
            </a:r>
            <a:r>
              <a:rPr lang="en-GB" sz="2800" i="1" dirty="0"/>
              <a:t>all</a:t>
            </a:r>
            <a:r>
              <a:rPr lang="en-GB" sz="2800" dirty="0"/>
              <a:t> </a:t>
            </a:r>
            <a:r>
              <a:rPr lang="en-GB" sz="2800" dirty="0" smtClean="0"/>
              <a:t>infections </a:t>
            </a:r>
            <a:r>
              <a:rPr lang="en-GB" sz="2800" dirty="0"/>
              <a:t>from the world</a:t>
            </a:r>
            <a:r>
              <a:rPr lang="en-GB" sz="2800" dirty="0" smtClean="0"/>
              <a:t>?</a:t>
            </a:r>
          </a:p>
        </p:txBody>
      </p:sp>
      <p:grpSp>
        <p:nvGrpSpPr>
          <p:cNvPr id="8" name="Group 7"/>
          <p:cNvGrpSpPr/>
          <p:nvPr/>
        </p:nvGrpSpPr>
        <p:grpSpPr>
          <a:xfrm>
            <a:off x="5207267" y="2223436"/>
            <a:ext cx="6882890" cy="4312117"/>
            <a:chOff x="5544273" y="2685448"/>
            <a:chExt cx="6545884" cy="3850105"/>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2133" y="2685448"/>
              <a:ext cx="6478024" cy="3850105"/>
            </a:xfrm>
            <a:prstGeom prst="rect">
              <a:avLst/>
            </a:prstGeom>
          </p:spPr>
        </p:pic>
        <p:sp>
          <p:nvSpPr>
            <p:cNvPr id="6" name="TextBox 5"/>
            <p:cNvSpPr txBox="1"/>
            <p:nvPr/>
          </p:nvSpPr>
          <p:spPr>
            <a:xfrm rot="16200000">
              <a:off x="5103859" y="5214545"/>
              <a:ext cx="1188606" cy="307777"/>
            </a:xfrm>
            <a:prstGeom prst="rect">
              <a:avLst/>
            </a:prstGeom>
            <a:noFill/>
          </p:spPr>
          <p:txBody>
            <a:bodyPr wrap="square" rtlCol="0">
              <a:spAutoFit/>
            </a:bodyPr>
            <a:lstStyle/>
            <a:p>
              <a:r>
                <a:rPr lang="en-GB" sz="1400" b="1" dirty="0" smtClean="0"/>
                <a:t>Annual costs</a:t>
              </a:r>
              <a:endParaRPr lang="en-US" sz="1400" b="1" dirty="0"/>
            </a:p>
          </p:txBody>
        </p:sp>
        <p:sp>
          <p:nvSpPr>
            <p:cNvPr id="7" name="TextBox 6"/>
            <p:cNvSpPr txBox="1"/>
            <p:nvPr/>
          </p:nvSpPr>
          <p:spPr>
            <a:xfrm>
              <a:off x="7603959" y="6135991"/>
              <a:ext cx="779647" cy="341810"/>
            </a:xfrm>
            <a:prstGeom prst="rect">
              <a:avLst/>
            </a:prstGeom>
            <a:noFill/>
          </p:spPr>
          <p:txBody>
            <a:bodyPr wrap="square" rtlCol="0">
              <a:spAutoFit/>
            </a:bodyPr>
            <a:lstStyle/>
            <a:p>
              <a:r>
                <a:rPr lang="en-GB" sz="1600" b="1" dirty="0" smtClean="0"/>
                <a:t>Time</a:t>
              </a:r>
              <a:endParaRPr lang="en-US" sz="1600" b="1" dirty="0"/>
            </a:p>
          </p:txBody>
        </p:sp>
      </p:grpSp>
      <p:sp>
        <p:nvSpPr>
          <p:cNvPr id="9" name="TextBox 8"/>
          <p:cNvSpPr txBox="1"/>
          <p:nvPr/>
        </p:nvSpPr>
        <p:spPr>
          <a:xfrm>
            <a:off x="5612134" y="644896"/>
            <a:ext cx="6024810" cy="1384995"/>
          </a:xfrm>
          <a:prstGeom prst="rect">
            <a:avLst/>
          </a:prstGeom>
          <a:noFill/>
        </p:spPr>
        <p:txBody>
          <a:bodyPr wrap="square" rtlCol="0">
            <a:spAutoFit/>
          </a:bodyPr>
          <a:lstStyle/>
          <a:p>
            <a:r>
              <a:rPr lang="en-GB" sz="2800" dirty="0"/>
              <a:t>Louis Pasteur once said that “</a:t>
            </a:r>
            <a:r>
              <a:rPr lang="en-GB" sz="2800" i="1" dirty="0"/>
              <a:t>it is within the power of man to eradicate infection from the earth</a:t>
            </a:r>
            <a:r>
              <a:rPr lang="en-GB" sz="2800" dirty="0" smtClean="0"/>
              <a:t>”.</a:t>
            </a:r>
            <a:endParaRPr lang="en-GB" sz="2800" dirty="0"/>
          </a:p>
        </p:txBody>
      </p:sp>
      <p:sp>
        <p:nvSpPr>
          <p:cNvPr id="10" name="TextBox 9"/>
          <p:cNvSpPr txBox="1"/>
          <p:nvPr/>
        </p:nvSpPr>
        <p:spPr>
          <a:xfrm>
            <a:off x="7263985" y="2813069"/>
            <a:ext cx="4552629" cy="830997"/>
          </a:xfrm>
          <a:prstGeom prst="rect">
            <a:avLst/>
          </a:prstGeom>
          <a:noFill/>
        </p:spPr>
        <p:txBody>
          <a:bodyPr wrap="square" rtlCol="0">
            <a:spAutoFit/>
          </a:bodyPr>
          <a:lstStyle/>
          <a:p>
            <a:r>
              <a:rPr lang="en-GB" sz="2400" b="1" dirty="0" smtClean="0"/>
              <a:t>Smallpox: From vaccine to eradication took 200 years!</a:t>
            </a:r>
            <a:endParaRPr lang="en-US" sz="2400"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133" y="105882"/>
            <a:ext cx="11848693" cy="584775"/>
          </a:xfrm>
          <a:prstGeom prst="rect">
            <a:avLst/>
          </a:prstGeom>
          <a:noFill/>
        </p:spPr>
        <p:txBody>
          <a:bodyPr wrap="square" rtlCol="0">
            <a:spAutoFit/>
          </a:bodyPr>
          <a:lstStyle/>
          <a:p>
            <a:r>
              <a:rPr lang="en-GB" sz="3200" b="1" dirty="0" smtClean="0"/>
              <a:t>Fighting against diseases: Learning from the case of smallpox</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974" y="2069432"/>
            <a:ext cx="6587089" cy="4649710"/>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2786" y="1821235"/>
            <a:ext cx="6801852" cy="4801307"/>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133" y="105882"/>
            <a:ext cx="11848693" cy="584775"/>
          </a:xfrm>
          <a:prstGeom prst="rect">
            <a:avLst/>
          </a:prstGeom>
          <a:noFill/>
        </p:spPr>
        <p:txBody>
          <a:bodyPr wrap="square" rtlCol="0">
            <a:spAutoFit/>
          </a:bodyPr>
          <a:lstStyle/>
          <a:p>
            <a:r>
              <a:rPr lang="en-GB" sz="3200" b="1" dirty="0" smtClean="0"/>
              <a:t>Fighting against diseases: Learning from the case of polio eradication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133" y="2589196"/>
            <a:ext cx="5788392" cy="408592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9725" y="3024086"/>
            <a:ext cx="4079599" cy="3747285"/>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35699" y="611825"/>
            <a:ext cx="4796543" cy="3137301"/>
          </a:xfrm>
          <a:prstGeom prst="rect">
            <a:avLst/>
          </a:prstGeom>
        </p:spPr>
      </p:pic>
      <p:sp>
        <p:nvSpPr>
          <p:cNvPr id="8" name="TextBox 7"/>
          <p:cNvSpPr txBox="1"/>
          <p:nvPr/>
        </p:nvSpPr>
        <p:spPr>
          <a:xfrm>
            <a:off x="250257" y="1155034"/>
            <a:ext cx="3885442" cy="1384995"/>
          </a:xfrm>
          <a:prstGeom prst="rect">
            <a:avLst/>
          </a:prstGeom>
          <a:noFill/>
        </p:spPr>
        <p:txBody>
          <a:bodyPr wrap="square" rtlCol="0">
            <a:spAutoFit/>
          </a:bodyPr>
          <a:lstStyle/>
          <a:p>
            <a:r>
              <a:rPr lang="en-GB" sz="2800" dirty="0" smtClean="0"/>
              <a:t>A global-scale eradication process is costly; it also takes time.</a:t>
            </a:r>
            <a:endParaRPr lang="en-US" sz="2800" dirty="0"/>
          </a:p>
        </p:txBody>
      </p:sp>
      <p:sp>
        <p:nvSpPr>
          <p:cNvPr id="9" name="TextBox 8"/>
          <p:cNvSpPr txBox="1"/>
          <p:nvPr/>
        </p:nvSpPr>
        <p:spPr>
          <a:xfrm>
            <a:off x="8009725" y="947429"/>
            <a:ext cx="3885442" cy="1815882"/>
          </a:xfrm>
          <a:prstGeom prst="rect">
            <a:avLst/>
          </a:prstGeom>
          <a:noFill/>
        </p:spPr>
        <p:txBody>
          <a:bodyPr wrap="square" rtlCol="0">
            <a:spAutoFit/>
          </a:bodyPr>
          <a:lstStyle/>
          <a:p>
            <a:pPr algn="r"/>
            <a:r>
              <a:rPr lang="en-GB" sz="2800" dirty="0" smtClean="0"/>
              <a:t>There has been a gradual build-up of annual contributions for the cause.</a:t>
            </a:r>
            <a:endParaRPr lang="en-US" sz="2800" dirty="0"/>
          </a:p>
        </p:txBody>
      </p:sp>
      <p:sp>
        <p:nvSpPr>
          <p:cNvPr id="10" name="TextBox 9"/>
          <p:cNvSpPr txBox="1"/>
          <p:nvPr/>
        </p:nvSpPr>
        <p:spPr>
          <a:xfrm>
            <a:off x="4244741" y="3975234"/>
            <a:ext cx="3465095" cy="1384995"/>
          </a:xfrm>
          <a:prstGeom prst="rect">
            <a:avLst/>
          </a:prstGeom>
          <a:noFill/>
        </p:spPr>
        <p:txBody>
          <a:bodyPr wrap="square" rtlCol="0">
            <a:spAutoFit/>
          </a:bodyPr>
          <a:lstStyle/>
          <a:p>
            <a:r>
              <a:rPr lang="en-GB" sz="2800" dirty="0" smtClean="0"/>
              <a:t>There are still a few cases of polio per year.</a:t>
            </a:r>
            <a:endParaRPr lang="en-US" sz="2800" dirty="0"/>
          </a:p>
        </p:txBody>
      </p:sp>
      <p:cxnSp>
        <p:nvCxnSpPr>
          <p:cNvPr id="12" name="Straight Arrow Connector 11"/>
          <p:cNvCxnSpPr/>
          <p:nvPr/>
        </p:nvCxnSpPr>
        <p:spPr>
          <a:xfrm flipH="1" flipV="1">
            <a:off x="7074568" y="3262964"/>
            <a:ext cx="134754" cy="981777"/>
          </a:xfrm>
          <a:prstGeom prst="straightConnector1">
            <a:avLst/>
          </a:prstGeom>
          <a:ln w="7620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668253" y="4427621"/>
            <a:ext cx="2473692" cy="1232034"/>
          </a:xfrm>
          <a:prstGeom prst="straightConnector1">
            <a:avLst/>
          </a:prstGeom>
          <a:ln w="76200">
            <a:solidFill>
              <a:srgbClr val="0000C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5"/>
            <a:ext cx="12192000" cy="6860450"/>
          </a:xfrm>
          <a:prstGeom prst="rect">
            <a:avLst/>
          </a:prstGeom>
        </p:spPr>
      </p:pic>
      <p:sp>
        <p:nvSpPr>
          <p:cNvPr id="2" name="TextBox 1"/>
          <p:cNvSpPr txBox="1"/>
          <p:nvPr/>
        </p:nvSpPr>
        <p:spPr>
          <a:xfrm>
            <a:off x="587142" y="221381"/>
            <a:ext cx="11011300" cy="830997"/>
          </a:xfrm>
          <a:prstGeom prst="rect">
            <a:avLst/>
          </a:prstGeom>
          <a:noFill/>
        </p:spPr>
        <p:txBody>
          <a:bodyPr wrap="square" rtlCol="0">
            <a:spAutoFit/>
          </a:bodyPr>
          <a:lstStyle/>
          <a:p>
            <a:pPr algn="ctr"/>
            <a:r>
              <a:rPr lang="en-GB" sz="4800" b="1" dirty="0" smtClean="0">
                <a:solidFill>
                  <a:schemeClr val="accent4">
                    <a:lumMod val="20000"/>
                    <a:lumOff val="80000"/>
                  </a:schemeClr>
                </a:solidFill>
              </a:rPr>
              <a:t>POPULATION GROWTH IN BANGLADESH</a:t>
            </a:r>
            <a:endParaRPr lang="en-US" sz="4800" b="1" dirty="0">
              <a:solidFill>
                <a:schemeClr val="accent4">
                  <a:lumMod val="20000"/>
                  <a:lumOff val="8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734" y="1645921"/>
            <a:ext cx="8794482" cy="5049066"/>
          </a:xfrm>
          <a:prstGeom prst="rect">
            <a:avLst/>
          </a:prstGeom>
        </p:spPr>
      </p:pic>
      <p:cxnSp>
        <p:nvCxnSpPr>
          <p:cNvPr id="4" name="Straight Connector 3"/>
          <p:cNvCxnSpPr/>
          <p:nvPr/>
        </p:nvCxnSpPr>
        <p:spPr>
          <a:xfrm flipV="1">
            <a:off x="1559293" y="2849078"/>
            <a:ext cx="1771048" cy="1790299"/>
          </a:xfrm>
          <a:prstGeom prst="line">
            <a:avLst/>
          </a:prstGeom>
          <a:ln w="381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 name="Down Arrow 4"/>
          <p:cNvSpPr/>
          <p:nvPr/>
        </p:nvSpPr>
        <p:spPr>
          <a:xfrm>
            <a:off x="1915427" y="3965609"/>
            <a:ext cx="356135" cy="673768"/>
          </a:xfrm>
          <a:prstGeom prst="down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wn Arrow 5"/>
          <p:cNvSpPr/>
          <p:nvPr/>
        </p:nvSpPr>
        <p:spPr>
          <a:xfrm>
            <a:off x="2828222" y="2962977"/>
            <a:ext cx="356135" cy="673768"/>
          </a:xfrm>
          <a:prstGeom prst="down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7377" y="240632"/>
            <a:ext cx="12124623" cy="2062103"/>
          </a:xfrm>
          <a:prstGeom prst="rect">
            <a:avLst/>
          </a:prstGeom>
          <a:noFill/>
        </p:spPr>
        <p:txBody>
          <a:bodyPr wrap="square" rtlCol="0">
            <a:spAutoFit/>
          </a:bodyPr>
          <a:lstStyle/>
          <a:p>
            <a:r>
              <a:rPr lang="en-GB" sz="3200" dirty="0" smtClean="0"/>
              <a:t>There has been a fivefold increase in population during the past century.</a:t>
            </a:r>
          </a:p>
          <a:p>
            <a:r>
              <a:rPr lang="en-GB" sz="3200" dirty="0" smtClean="0"/>
              <a:t>The growth took a dramatic turn in the 1950s.</a:t>
            </a:r>
          </a:p>
          <a:p>
            <a:r>
              <a:rPr lang="en-GB" sz="3200" dirty="0" smtClean="0"/>
              <a:t>The growth rate has started to fall in the 1970s, following the independence.</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0067" y="777240"/>
            <a:ext cx="7620000" cy="5715000"/>
          </a:xfrm>
          <a:prstGeom prst="rect">
            <a:avLst/>
          </a:prstGeom>
        </p:spPr>
      </p:pic>
      <p:sp>
        <p:nvSpPr>
          <p:cNvPr id="3" name="TextBox 2"/>
          <p:cNvSpPr txBox="1"/>
          <p:nvPr/>
        </p:nvSpPr>
        <p:spPr>
          <a:xfrm>
            <a:off x="7757965" y="6420055"/>
            <a:ext cx="2791326" cy="461665"/>
          </a:xfrm>
          <a:prstGeom prst="rect">
            <a:avLst/>
          </a:prstGeom>
          <a:noFill/>
        </p:spPr>
        <p:txBody>
          <a:bodyPr wrap="square" rtlCol="0">
            <a:spAutoFit/>
          </a:bodyPr>
          <a:lstStyle/>
          <a:p>
            <a:r>
              <a:rPr lang="en-GB" sz="2400" b="1" dirty="0" smtClean="0"/>
              <a:t>Age group</a:t>
            </a:r>
            <a:endParaRPr lang="en-US" sz="2400" b="1" dirty="0"/>
          </a:p>
        </p:txBody>
      </p:sp>
      <p:sp>
        <p:nvSpPr>
          <p:cNvPr id="4" name="Rounded Rectangle 3"/>
          <p:cNvSpPr/>
          <p:nvPr/>
        </p:nvSpPr>
        <p:spPr>
          <a:xfrm>
            <a:off x="6477802" y="5861781"/>
            <a:ext cx="4504623" cy="259882"/>
          </a:xfrm>
          <a:prstGeom prst="round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111015" y="3782728"/>
            <a:ext cx="3157086" cy="481264"/>
          </a:xfrm>
          <a:prstGeom prst="round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26" y="413886"/>
            <a:ext cx="4462867" cy="450943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726532"/>
            <a:ext cx="3628724" cy="2131467"/>
          </a:xfrm>
          <a:prstGeom prst="rect">
            <a:avLst/>
          </a:prstGeom>
        </p:spPr>
      </p:pic>
      <p:cxnSp>
        <p:nvCxnSpPr>
          <p:cNvPr id="9" name="Straight Arrow Connector 8"/>
          <p:cNvCxnSpPr/>
          <p:nvPr/>
        </p:nvCxnSpPr>
        <p:spPr>
          <a:xfrm>
            <a:off x="914400" y="5014765"/>
            <a:ext cx="2714325" cy="827773"/>
          </a:xfrm>
          <a:prstGeom prst="straightConnector1">
            <a:avLst/>
          </a:prstGeom>
          <a:ln w="76200">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477802" y="3869357"/>
            <a:ext cx="712270" cy="369332"/>
          </a:xfrm>
          <a:prstGeom prst="rect">
            <a:avLst/>
          </a:prstGeom>
          <a:noFill/>
        </p:spPr>
        <p:txBody>
          <a:bodyPr wrap="square" rtlCol="0">
            <a:spAutoFit/>
          </a:bodyPr>
          <a:lstStyle/>
          <a:p>
            <a:r>
              <a:rPr lang="en-GB" b="1" dirty="0" smtClean="0">
                <a:solidFill>
                  <a:srgbClr val="FFFF00"/>
                </a:solidFill>
              </a:rPr>
              <a:t>64%</a:t>
            </a:r>
            <a:endParaRPr lang="en-US" b="1" dirty="0">
              <a:solidFill>
                <a:srgbClr val="FFFF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0" y="173254"/>
            <a:ext cx="12206096" cy="6428455"/>
            <a:chOff x="-14096" y="413886"/>
            <a:chExt cx="12206096" cy="6428455"/>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6" y="413886"/>
              <a:ext cx="12206096" cy="642845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1411" y="3034429"/>
              <a:ext cx="5842534" cy="2976546"/>
            </a:xfrm>
            <a:prstGeom prst="rect">
              <a:avLst/>
            </a:prstGeom>
          </p:spPr>
        </p:pic>
      </p:grpSp>
      <p:sp>
        <p:nvSpPr>
          <p:cNvPr id="6" name="Rectangle 5"/>
          <p:cNvSpPr/>
          <p:nvPr/>
        </p:nvSpPr>
        <p:spPr>
          <a:xfrm>
            <a:off x="6333423" y="1751798"/>
            <a:ext cx="2300438" cy="721895"/>
          </a:xfrm>
          <a:prstGeom prst="rect">
            <a:avLst/>
          </a:prstGeom>
          <a:noFill/>
          <a:ln w="571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058782" y="587145"/>
            <a:ext cx="10693667" cy="1077218"/>
          </a:xfrm>
          <a:prstGeom prst="rect">
            <a:avLst/>
          </a:prstGeom>
          <a:noFill/>
        </p:spPr>
        <p:txBody>
          <a:bodyPr wrap="square" rtlCol="0">
            <a:spAutoFit/>
          </a:bodyPr>
          <a:lstStyle/>
          <a:p>
            <a:r>
              <a:rPr lang="en-GB" sz="3200" dirty="0" smtClean="0"/>
              <a:t>Bangladesh’s population is projected to increase until the 2050s, when the peak will arrive. Then it will start to decline.</a:t>
            </a:r>
            <a:endParaRPr lang="en-US" sz="3200" dirty="0"/>
          </a:p>
        </p:txBody>
      </p:sp>
      <p:sp>
        <p:nvSpPr>
          <p:cNvPr id="8" name="TextBox 7"/>
          <p:cNvSpPr txBox="1"/>
          <p:nvPr/>
        </p:nvSpPr>
        <p:spPr>
          <a:xfrm>
            <a:off x="1058782" y="1577739"/>
            <a:ext cx="4610498" cy="4401205"/>
          </a:xfrm>
          <a:prstGeom prst="rect">
            <a:avLst/>
          </a:prstGeom>
          <a:noFill/>
        </p:spPr>
        <p:txBody>
          <a:bodyPr wrap="square" rtlCol="0">
            <a:spAutoFit/>
          </a:bodyPr>
          <a:lstStyle/>
          <a:p>
            <a:r>
              <a:rPr lang="en-GB" sz="2800" dirty="0" smtClean="0"/>
              <a:t>All throughout these years till the peaking, we shall have an abundance of young population. The challenge is to keep them healthy, provide good living environment, enhance their skills through quality education – so that they become both productive and competitive.</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27084" y="643088"/>
            <a:ext cx="8096250" cy="4686300"/>
          </a:xfrm>
          <a:prstGeom prst="rect">
            <a:avLst/>
          </a:prstGeom>
        </p:spPr>
      </p:pic>
      <p:sp>
        <p:nvSpPr>
          <p:cNvPr id="3" name="TextBox 2"/>
          <p:cNvSpPr txBox="1"/>
          <p:nvPr/>
        </p:nvSpPr>
        <p:spPr>
          <a:xfrm>
            <a:off x="471638" y="115503"/>
            <a:ext cx="8210349" cy="461665"/>
          </a:xfrm>
          <a:prstGeom prst="rect">
            <a:avLst/>
          </a:prstGeom>
          <a:noFill/>
        </p:spPr>
        <p:txBody>
          <a:bodyPr wrap="square" rtlCol="0">
            <a:spAutoFit/>
          </a:bodyPr>
          <a:lstStyle/>
          <a:p>
            <a:r>
              <a:rPr lang="en-GB" sz="2400" b="1" dirty="0" smtClean="0"/>
              <a:t>Rural and Urban Population Growth Trends in Bangladesh</a:t>
            </a:r>
            <a:endParaRPr lang="en-US" sz="2400" b="1" dirty="0"/>
          </a:p>
        </p:txBody>
      </p:sp>
      <p:sp>
        <p:nvSpPr>
          <p:cNvPr id="4" name="TextBox 3"/>
          <p:cNvSpPr txBox="1"/>
          <p:nvPr/>
        </p:nvSpPr>
        <p:spPr>
          <a:xfrm>
            <a:off x="539017" y="5091761"/>
            <a:ext cx="1799924" cy="261610"/>
          </a:xfrm>
          <a:prstGeom prst="rect">
            <a:avLst/>
          </a:prstGeom>
          <a:noFill/>
        </p:spPr>
        <p:txBody>
          <a:bodyPr wrap="square" rtlCol="0">
            <a:spAutoFit/>
          </a:bodyPr>
          <a:lstStyle/>
          <a:p>
            <a:r>
              <a:rPr lang="en-GB" sz="1100" b="1" dirty="0" smtClean="0"/>
              <a:t>Source: Ahmed, S., 2014</a:t>
            </a:r>
            <a:endParaRPr lang="en-US" sz="1600" b="1" dirty="0"/>
          </a:p>
        </p:txBody>
      </p:sp>
      <p:sp>
        <p:nvSpPr>
          <p:cNvPr id="5" name="Rounded Rectangle 4"/>
          <p:cNvSpPr/>
          <p:nvPr/>
        </p:nvSpPr>
        <p:spPr>
          <a:xfrm>
            <a:off x="6737684" y="4061861"/>
            <a:ext cx="596767" cy="64489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737684" y="3224463"/>
            <a:ext cx="818148" cy="62564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681987" y="508338"/>
            <a:ext cx="3416969" cy="4893647"/>
          </a:xfrm>
          <a:prstGeom prst="rect">
            <a:avLst/>
          </a:prstGeom>
          <a:noFill/>
        </p:spPr>
        <p:txBody>
          <a:bodyPr wrap="square" rtlCol="0">
            <a:spAutoFit/>
          </a:bodyPr>
          <a:lstStyle/>
          <a:p>
            <a:r>
              <a:rPr lang="en-GB" sz="2400" dirty="0" smtClean="0"/>
              <a:t>From now on, the increment in population will be observed in urban areas, since rural PGR has declined to net zero.</a:t>
            </a:r>
          </a:p>
          <a:p>
            <a:r>
              <a:rPr lang="en-GB" sz="2400" dirty="0" smtClean="0"/>
              <a:t>Emergence of a few more megacities is on the cards! </a:t>
            </a:r>
          </a:p>
          <a:p>
            <a:r>
              <a:rPr lang="en-GB" sz="2400" dirty="0" smtClean="0"/>
              <a:t>Are our cities ready for accommodating the additional 33 million people in about 3 decades?</a:t>
            </a:r>
            <a:endParaRPr 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4042612" y="1251287"/>
            <a:ext cx="365760" cy="394635"/>
          </a:xfrm>
          <a:prstGeom prst="ellipse">
            <a:avLst/>
          </a:prstGeom>
          <a:noFill/>
          <a:ln w="3810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a:off x="4042612" y="2435191"/>
            <a:ext cx="365760" cy="558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0" y="-2"/>
            <a:ext cx="12192000" cy="6858002"/>
            <a:chOff x="0" y="-2"/>
            <a:chExt cx="12192000" cy="6858002"/>
          </a:xfrm>
        </p:grpSpPr>
        <p:pic>
          <p:nvPicPr>
            <p:cNvPr id="9" name="Picture 8"/>
            <p:cNvPicPr>
              <a:picLocks noChangeAspect="1"/>
            </p:cNvPicPr>
            <p:nvPr/>
          </p:nvPicPr>
          <p:blipFill>
            <a:blip r:embed="rId2"/>
            <a:stretch>
              <a:fillRect/>
            </a:stretch>
          </p:blipFill>
          <p:spPr>
            <a:xfrm>
              <a:off x="6590753" y="-2"/>
              <a:ext cx="5059120" cy="3638351"/>
            </a:xfrm>
            <a:prstGeom prst="rect">
              <a:avLst/>
            </a:prstGeom>
          </p:spPr>
        </p:pic>
        <p:pic>
          <p:nvPicPr>
            <p:cNvPr id="2" name="Picture 1"/>
            <p:cNvPicPr>
              <a:picLocks noChangeAspect="1"/>
            </p:cNvPicPr>
            <p:nvPr/>
          </p:nvPicPr>
          <p:blipFill>
            <a:blip r:embed="rId3"/>
            <a:stretch>
              <a:fillRect/>
            </a:stretch>
          </p:blipFill>
          <p:spPr>
            <a:xfrm>
              <a:off x="5284270" y="2913230"/>
              <a:ext cx="6907730" cy="3944769"/>
            </a:xfrm>
            <a:prstGeom prst="rect">
              <a:avLst/>
            </a:prstGeom>
          </p:spPr>
        </p:pic>
        <p:sp>
          <p:nvSpPr>
            <p:cNvPr id="3" name="TextBox 2"/>
            <p:cNvSpPr txBox="1"/>
            <p:nvPr/>
          </p:nvSpPr>
          <p:spPr>
            <a:xfrm>
              <a:off x="9654141" y="5765529"/>
              <a:ext cx="1799924" cy="261610"/>
            </a:xfrm>
            <a:prstGeom prst="rect">
              <a:avLst/>
            </a:prstGeom>
            <a:noFill/>
          </p:spPr>
          <p:txBody>
            <a:bodyPr wrap="square" rtlCol="0">
              <a:spAutoFit/>
            </a:bodyPr>
            <a:lstStyle/>
            <a:p>
              <a:r>
                <a:rPr lang="en-GB" sz="1100" b="1" dirty="0" smtClean="0"/>
                <a:t>Source: Amin, M.A., 2021</a:t>
              </a:r>
              <a:endParaRPr lang="en-US" sz="1600" b="1" dirty="0"/>
            </a:p>
          </p:txBody>
        </p:sp>
        <p:pic>
          <p:nvPicPr>
            <p:cNvPr id="4" name="Picture 3"/>
            <p:cNvPicPr>
              <a:picLocks noChangeAspect="1"/>
            </p:cNvPicPr>
            <p:nvPr/>
          </p:nvPicPr>
          <p:blipFill>
            <a:blip r:embed="rId4"/>
            <a:stretch>
              <a:fillRect/>
            </a:stretch>
          </p:blipFill>
          <p:spPr>
            <a:xfrm>
              <a:off x="0" y="-1"/>
              <a:ext cx="6590753" cy="4278497"/>
            </a:xfrm>
            <a:prstGeom prst="rect">
              <a:avLst/>
            </a:prstGeom>
          </p:spPr>
        </p:pic>
        <p:pic>
          <p:nvPicPr>
            <p:cNvPr id="8" name="Picture 7"/>
            <p:cNvPicPr>
              <a:picLocks noChangeAspect="1"/>
            </p:cNvPicPr>
            <p:nvPr/>
          </p:nvPicPr>
          <p:blipFill>
            <a:blip r:embed="rId5"/>
            <a:stretch>
              <a:fillRect/>
            </a:stretch>
          </p:blipFill>
          <p:spPr>
            <a:xfrm>
              <a:off x="0" y="3524505"/>
              <a:ext cx="5284270" cy="3333495"/>
            </a:xfrm>
            <a:prstGeom prst="rect">
              <a:avLst/>
            </a:prstGeom>
          </p:spPr>
        </p:pic>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785</Words>
  <Application>Microsoft Office PowerPoint</Application>
  <PresentationFormat>Widescreen</PresentationFormat>
  <Paragraphs>100</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C-503: EMERGING ISSUES IN ENVIRONMENTAL ECONOMICS</dc:title>
  <dc:creator>User</dc:creator>
  <cp:lastModifiedBy>ADMIN</cp:lastModifiedBy>
  <cp:revision>66</cp:revision>
  <dcterms:created xsi:type="dcterms:W3CDTF">2023-09-17T06:35:00Z</dcterms:created>
  <dcterms:modified xsi:type="dcterms:W3CDTF">2024-09-04T02:55:02Z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ED4D1E4E39EF4E768874A41E6CDCA6A4_13</vt:lpwstr>
  </property>
  <property fmtid="{D5CDD505-2E9C-101B-9397-08002B2CF9AE}" pid="3" name="KSOProductBuildVer">
    <vt:lpwstr>1033-12.2.0.13215</vt:lpwstr>
  </property>
</Properties>
</file>