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323" r:id="rId3"/>
    <p:sldId id="324" r:id="rId4"/>
    <p:sldId id="325" r:id="rId5"/>
    <p:sldId id="326" r:id="rId6"/>
    <p:sldId id="327" r:id="rId7"/>
    <p:sldId id="316" r:id="rId8"/>
    <p:sldId id="317" r:id="rId9"/>
    <p:sldId id="318" r:id="rId10"/>
    <p:sldId id="319" r:id="rId11"/>
    <p:sldId id="320" r:id="rId12"/>
    <p:sldId id="311" r:id="rId13"/>
    <p:sldId id="301" r:id="rId14"/>
    <p:sldId id="300" r:id="rId15"/>
    <p:sldId id="302" r:id="rId16"/>
    <p:sldId id="321" r:id="rId17"/>
    <p:sldId id="328" r:id="rId18"/>
    <p:sldId id="329" r:id="rId19"/>
    <p:sldId id="330" r:id="rId20"/>
    <p:sldId id="331" r:id="rId21"/>
    <p:sldId id="332" r:id="rId22"/>
    <p:sldId id="333" r:id="rId23"/>
    <p:sldId id="334" r:id="rId24"/>
    <p:sldId id="335" r:id="rId25"/>
    <p:sldId id="33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6BBFB-1FA1-47F0-B754-665758543D90}" type="datetimeFigureOut">
              <a:rPr lang="en-US" smtClean="0"/>
              <a:pPr/>
              <a:t>9/8/2022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61856A-F4E1-4BD0-98EE-E2E6F68B468F}" type="slidenum">
              <a:rPr lang="en-US" smtClean="0"/>
              <a:pPr/>
              <a:t>‹#›</a:t>
            </a:fld>
            <a:endParaRPr lang="en-US"/>
          </a:p>
        </p:txBody>
      </p:sp>
    </p:spTree>
    <p:extLst>
      <p:ext uri="{BB962C8B-B14F-4D97-AF65-F5344CB8AC3E}">
        <p14:creationId xmlns:p14="http://schemas.microsoft.com/office/powerpoint/2010/main" val="1378577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061856A-F4E1-4BD0-98EE-E2E6F68B468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BCBC5D6-258E-4EE7-934E-04D162054CF0}" type="datetimeFigureOut">
              <a:rPr lang="en-US" smtClean="0"/>
              <a:pPr/>
              <a:t>9/8/2022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676C59F-4DD3-4BF4-891B-84E8AA5885A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BCBC5D6-258E-4EE7-934E-04D162054CF0}" type="datetimeFigureOut">
              <a:rPr lang="en-US" smtClean="0"/>
              <a:pPr/>
              <a:t>9/8/2022</a:t>
            </a:fld>
            <a:endParaRPr lang="en-US"/>
          </a:p>
        </p:txBody>
      </p:sp>
      <p:sp>
        <p:nvSpPr>
          <p:cNvPr id="9" name="Slide Number Placeholder 8"/>
          <p:cNvSpPr>
            <a:spLocks noGrp="1"/>
          </p:cNvSpPr>
          <p:nvPr>
            <p:ph type="sldNum" sz="quarter" idx="15"/>
          </p:nvPr>
        </p:nvSpPr>
        <p:spPr/>
        <p:txBody>
          <a:bodyPr rtlCol="0"/>
          <a:lstStyle/>
          <a:p>
            <a:fld id="{3676C59F-4DD3-4BF4-891B-84E8AA5885A1}"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BCBC5D6-258E-4EE7-934E-04D162054CF0}" type="datetimeFigureOut">
              <a:rPr lang="en-US" smtClean="0"/>
              <a:pPr/>
              <a:t>9/8/2022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676C59F-4DD3-4BF4-891B-84E8AA5885A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BCBC5D6-258E-4EE7-934E-04D162054CF0}" type="datetimeFigureOut">
              <a:rPr lang="en-US" smtClean="0"/>
              <a:pPr/>
              <a:t>9/8/2022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6C59F-4DD3-4BF4-891B-84E8AA5885A1}"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BCBC5D6-258E-4EE7-934E-04D162054CF0}" type="datetimeFigureOut">
              <a:rPr lang="en-US" smtClean="0"/>
              <a:pPr/>
              <a:t>9/8/2022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6C59F-4DD3-4BF4-891B-84E8AA5885A1}"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BCBC5D6-258E-4EE7-934E-04D162054CF0}" type="datetimeFigureOut">
              <a:rPr lang="en-US" smtClean="0"/>
              <a:pPr/>
              <a:t>9/8/2022</a:t>
            </a:fld>
            <a:endParaRPr lang="en-US"/>
          </a:p>
        </p:txBody>
      </p:sp>
      <p:sp>
        <p:nvSpPr>
          <p:cNvPr id="7" name="Slide Number Placeholder 6"/>
          <p:cNvSpPr>
            <a:spLocks noGrp="1"/>
          </p:cNvSpPr>
          <p:nvPr>
            <p:ph type="sldNum" sz="quarter" idx="11"/>
          </p:nvPr>
        </p:nvSpPr>
        <p:spPr/>
        <p:txBody>
          <a:bodyPr rtlCol="0"/>
          <a:lstStyle/>
          <a:p>
            <a:fld id="{3676C59F-4DD3-4BF4-891B-84E8AA5885A1}"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C5D6-258E-4EE7-934E-04D162054CF0}" type="datetimeFigureOut">
              <a:rPr lang="en-US" smtClean="0"/>
              <a:pPr/>
              <a:t>9/8/2022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BCBC5D6-258E-4EE7-934E-04D162054CF0}" type="datetimeFigureOut">
              <a:rPr lang="en-US" smtClean="0"/>
              <a:pPr/>
              <a:t>9/8/2022</a:t>
            </a:fld>
            <a:endParaRPr lang="en-US"/>
          </a:p>
        </p:txBody>
      </p:sp>
      <p:sp>
        <p:nvSpPr>
          <p:cNvPr id="22" name="Slide Number Placeholder 21"/>
          <p:cNvSpPr>
            <a:spLocks noGrp="1"/>
          </p:cNvSpPr>
          <p:nvPr>
            <p:ph type="sldNum" sz="quarter" idx="15"/>
          </p:nvPr>
        </p:nvSpPr>
        <p:spPr/>
        <p:txBody>
          <a:bodyPr rtlCol="0"/>
          <a:lstStyle/>
          <a:p>
            <a:fld id="{3676C59F-4DD3-4BF4-891B-84E8AA5885A1}"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BCBC5D6-258E-4EE7-934E-04D162054CF0}" type="datetimeFigureOut">
              <a:rPr lang="en-US" smtClean="0"/>
              <a:pPr/>
              <a:t>9/8/2022</a:t>
            </a:fld>
            <a:endParaRPr lang="en-US"/>
          </a:p>
        </p:txBody>
      </p:sp>
      <p:sp>
        <p:nvSpPr>
          <p:cNvPr id="18" name="Slide Number Placeholder 17"/>
          <p:cNvSpPr>
            <a:spLocks noGrp="1"/>
          </p:cNvSpPr>
          <p:nvPr>
            <p:ph type="sldNum" sz="quarter" idx="11"/>
          </p:nvPr>
        </p:nvSpPr>
        <p:spPr/>
        <p:txBody>
          <a:bodyPr rtlCol="0"/>
          <a:lstStyle/>
          <a:p>
            <a:fld id="{3676C59F-4DD3-4BF4-891B-84E8AA5885A1}"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BCBC5D6-258E-4EE7-934E-04D162054CF0}" type="datetimeFigureOut">
              <a:rPr lang="en-US" smtClean="0"/>
              <a:pPr/>
              <a:t>9/8/2022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676C59F-4DD3-4BF4-891B-84E8AA5885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381000"/>
            <a:ext cx="6553200" cy="3962400"/>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smtClean="0"/>
              <a:t>Chapter </a:t>
            </a:r>
            <a:r>
              <a:rPr lang="en-US" sz="6600" dirty="0" smtClean="0"/>
              <a:t>3</a:t>
            </a:r>
            <a:r>
              <a:rPr lang="en-US" dirty="0" smtClean="0"/>
              <a:t/>
            </a:r>
            <a:br>
              <a:rPr lang="en-US" dirty="0" smtClean="0"/>
            </a:br>
            <a:r>
              <a:rPr lang="en-US" dirty="0"/>
              <a:t/>
            </a:r>
            <a:br>
              <a:rPr lang="en-US" dirty="0"/>
            </a:br>
            <a:r>
              <a:rPr lang="en-US" dirty="0" smtClean="0"/>
              <a:t/>
            </a:r>
            <a:br>
              <a:rPr lang="en-US" dirty="0" smtClean="0"/>
            </a:br>
            <a:r>
              <a:rPr lang="en-US" sz="4800" dirty="0" smtClean="0"/>
              <a:t>Labor force participation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Definition and Measurement of Labor Force</a:t>
            </a:r>
            <a:endParaRPr lang="en-US" sz="3200" b="1" dirty="0">
              <a:solidFill>
                <a:schemeClr val="tx1"/>
              </a:solidFill>
            </a:endParaRPr>
          </a:p>
        </p:txBody>
      </p:sp>
      <p:sp>
        <p:nvSpPr>
          <p:cNvPr id="3" name="Content Placeholder 2"/>
          <p:cNvSpPr>
            <a:spLocks noGrp="1"/>
          </p:cNvSpPr>
          <p:nvPr>
            <p:ph sz="quarter" idx="1"/>
          </p:nvPr>
        </p:nvSpPr>
        <p:spPr>
          <a:xfrm>
            <a:off x="457200" y="1295400"/>
            <a:ext cx="8153400" cy="5105400"/>
          </a:xfrm>
          <a:solidFill>
            <a:schemeClr val="accent1">
              <a:lumMod val="20000"/>
              <a:lumOff val="80000"/>
            </a:schemeClr>
          </a:solidFill>
        </p:spPr>
        <p:txBody>
          <a:bodyPr>
            <a:normAutofit/>
          </a:bodyPr>
          <a:lstStyle/>
          <a:p>
            <a:pPr algn="just">
              <a:buNone/>
            </a:pPr>
            <a:r>
              <a:rPr lang="en-US" sz="3600" b="1" dirty="0" smtClean="0">
                <a:solidFill>
                  <a:srgbClr val="C00000"/>
                </a:solidFill>
              </a:rPr>
              <a:t>Non-institutional Population: </a:t>
            </a:r>
            <a:r>
              <a:rPr lang="en-US" sz="4000" b="1" dirty="0" smtClean="0">
                <a:solidFill>
                  <a:srgbClr val="C00000"/>
                </a:solidFill>
              </a:rPr>
              <a:t>?</a:t>
            </a:r>
            <a:endParaRPr lang="en-US" sz="3600" b="1" dirty="0" smtClean="0">
              <a:solidFill>
                <a:srgbClr val="C00000"/>
              </a:solidFill>
            </a:endParaRPr>
          </a:p>
          <a:p>
            <a:pPr algn="just">
              <a:buNone/>
            </a:pPr>
            <a:r>
              <a:rPr lang="en-US" sz="3600" b="1" dirty="0" smtClean="0">
                <a:solidFill>
                  <a:srgbClr val="C00000"/>
                </a:solidFill>
              </a:rPr>
              <a:t>Labor force participation rate: </a:t>
            </a:r>
            <a:r>
              <a:rPr lang="en-US" sz="4000" b="1" dirty="0" smtClean="0">
                <a:solidFill>
                  <a:srgbClr val="C00000"/>
                </a:solidFill>
              </a:rPr>
              <a:t>?</a:t>
            </a:r>
            <a:endParaRPr lang="en-US" sz="3600" b="1" dirty="0" smtClean="0">
              <a:solidFill>
                <a:srgbClr val="C00000"/>
              </a:solidFill>
            </a:endParaRPr>
          </a:p>
          <a:p>
            <a:pPr algn="just">
              <a:buNone/>
            </a:pPr>
            <a:r>
              <a:rPr lang="en-US" sz="3600" b="1" dirty="0" smtClean="0">
                <a:solidFill>
                  <a:srgbClr val="C00000"/>
                </a:solidFill>
              </a:rPr>
              <a:t>Labor force: </a:t>
            </a:r>
            <a:r>
              <a:rPr lang="en-US" sz="4000" b="1" dirty="0" smtClean="0">
                <a:solidFill>
                  <a:srgbClr val="C00000"/>
                </a:solidFill>
              </a:rPr>
              <a:t>?</a:t>
            </a:r>
          </a:p>
          <a:p>
            <a:pPr algn="just">
              <a:buNone/>
            </a:pPr>
            <a:r>
              <a:rPr lang="en-US" sz="3600" b="1" dirty="0" smtClean="0">
                <a:solidFill>
                  <a:srgbClr val="C00000"/>
                </a:solidFill>
              </a:rPr>
              <a:t>Unemployment rate: </a:t>
            </a:r>
            <a:r>
              <a:rPr lang="en-US" sz="4000" b="1" dirty="0" smtClean="0">
                <a:solidFill>
                  <a:srgbClr val="C00000"/>
                </a:solidFill>
              </a:rPr>
              <a:t>?</a:t>
            </a:r>
            <a:endParaRPr lang="en-US" sz="3600" b="1" dirty="0" smtClean="0">
              <a:solidFill>
                <a:srgbClr val="C00000"/>
              </a:solidFill>
            </a:endParaRPr>
          </a:p>
          <a:p>
            <a:pPr algn="just">
              <a:buNone/>
            </a:pPr>
            <a:r>
              <a:rPr lang="en-US" sz="3600" b="1" dirty="0" smtClean="0">
                <a:solidFill>
                  <a:srgbClr val="C00000"/>
                </a:solidFill>
              </a:rPr>
              <a:t>Employment rate: </a:t>
            </a:r>
            <a:r>
              <a:rPr lang="en-US" sz="4000" b="1" dirty="0" smtClean="0">
                <a:solidFill>
                  <a:srgbClr val="C00000"/>
                </a:solidFill>
              </a:rPr>
              <a:t>?</a:t>
            </a:r>
            <a:endParaRPr lang="en-US" sz="3600" b="1" dirty="0" smtClean="0">
              <a:solidFill>
                <a:srgbClr val="C00000"/>
              </a:solidFill>
            </a:endParaRPr>
          </a:p>
          <a:p>
            <a:pPr algn="just">
              <a:buNone/>
            </a:pPr>
            <a:r>
              <a:rPr lang="en-US" sz="3600" b="1" dirty="0" smtClean="0">
                <a:solidFill>
                  <a:srgbClr val="C00000"/>
                </a:solidFill>
              </a:rPr>
              <a:t>Discouraged worker: ?</a:t>
            </a:r>
          </a:p>
        </p:txBody>
      </p:sp>
    </p:spTree>
    <p:extLst>
      <p:ext uri="{BB962C8B-B14F-4D97-AF65-F5344CB8AC3E}">
        <p14:creationId xmlns:p14="http://schemas.microsoft.com/office/powerpoint/2010/main" val="2071844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Definition and Measurement of Labor Force</a:t>
            </a:r>
            <a:endParaRPr lang="en-US" sz="3200" b="1" dirty="0">
              <a:solidFill>
                <a:schemeClr val="tx1"/>
              </a:solidFill>
            </a:endParaRPr>
          </a:p>
        </p:txBody>
      </p:sp>
      <p:sp>
        <p:nvSpPr>
          <p:cNvPr id="3" name="Content Placeholder 2"/>
          <p:cNvSpPr>
            <a:spLocks noGrp="1"/>
          </p:cNvSpPr>
          <p:nvPr>
            <p:ph sz="quarter" idx="1"/>
          </p:nvPr>
        </p:nvSpPr>
        <p:spPr>
          <a:xfrm>
            <a:off x="457200" y="1295400"/>
            <a:ext cx="8153400" cy="5105400"/>
          </a:xfrm>
          <a:solidFill>
            <a:schemeClr val="accent1">
              <a:lumMod val="20000"/>
              <a:lumOff val="80000"/>
            </a:schemeClr>
          </a:solidFill>
        </p:spPr>
        <p:txBody>
          <a:bodyPr>
            <a:normAutofit/>
          </a:bodyPr>
          <a:lstStyle/>
          <a:p>
            <a:pPr algn="just">
              <a:buNone/>
            </a:pPr>
            <a:r>
              <a:rPr lang="en-US" sz="2800" b="1" dirty="0" smtClean="0">
                <a:solidFill>
                  <a:srgbClr val="C00000"/>
                </a:solidFill>
              </a:rPr>
              <a:t>Non-institutional Population: </a:t>
            </a:r>
          </a:p>
          <a:p>
            <a:pPr algn="just">
              <a:buNone/>
            </a:pPr>
            <a:r>
              <a:rPr lang="en-US" sz="2800" dirty="0" smtClean="0"/>
              <a:t>People who were less than 16 years of age or were confined to prisons, mental hospitals, or other institutions were immediately excluded from consideration as potential labor force participants, since they are presumed to be unable to work. Subtracting this group from the total population yields the non-institutional population.</a:t>
            </a:r>
          </a:p>
        </p:txBody>
      </p:sp>
    </p:spTree>
    <p:extLst>
      <p:ext uri="{BB962C8B-B14F-4D97-AF65-F5344CB8AC3E}">
        <p14:creationId xmlns:p14="http://schemas.microsoft.com/office/powerpoint/2010/main" val="2173270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Definition and Measurement of Labor Force</a:t>
            </a:r>
            <a:endParaRPr lang="en-US" sz="3200" b="1" dirty="0">
              <a:solidFill>
                <a:schemeClr val="tx1"/>
              </a:solidFill>
            </a:endParaRPr>
          </a:p>
        </p:txBody>
      </p:sp>
      <p:sp>
        <p:nvSpPr>
          <p:cNvPr id="3" name="Content Placeholder 2"/>
          <p:cNvSpPr>
            <a:spLocks noGrp="1"/>
          </p:cNvSpPr>
          <p:nvPr>
            <p:ph sz="quarter" idx="1"/>
          </p:nvPr>
        </p:nvSpPr>
        <p:spPr>
          <a:xfrm>
            <a:off x="457200" y="1295400"/>
            <a:ext cx="8153400" cy="5105400"/>
          </a:xfrm>
          <a:solidFill>
            <a:schemeClr val="accent1">
              <a:lumMod val="20000"/>
              <a:lumOff val="80000"/>
            </a:schemeClr>
          </a:solidFill>
        </p:spPr>
        <p:txBody>
          <a:bodyPr>
            <a:normAutofit/>
          </a:bodyPr>
          <a:lstStyle/>
          <a:p>
            <a:pPr algn="just">
              <a:buNone/>
            </a:pPr>
            <a:r>
              <a:rPr lang="en-US" sz="2800" b="1" dirty="0" smtClean="0">
                <a:solidFill>
                  <a:srgbClr val="C00000"/>
                </a:solidFill>
              </a:rPr>
              <a:t>Labor force participation rate: </a:t>
            </a:r>
          </a:p>
          <a:p>
            <a:pPr algn="just">
              <a:buNone/>
            </a:pPr>
            <a:r>
              <a:rPr lang="en-US" sz="2800" dirty="0" smtClean="0"/>
              <a:t>It measures the people in the labor force as a percentage of non-institutional population.</a:t>
            </a:r>
          </a:p>
          <a:p>
            <a:pPr algn="ctr">
              <a:buNone/>
            </a:pPr>
            <a:r>
              <a:rPr lang="en-US" sz="2800" dirty="0"/>
              <a:t> </a:t>
            </a:r>
            <a:r>
              <a:rPr lang="en-US" sz="2800" b="1" dirty="0" smtClean="0"/>
              <a:t>LFPR = (LF/ NIP) x 100</a:t>
            </a:r>
          </a:p>
          <a:p>
            <a:pPr algn="just">
              <a:buNone/>
            </a:pPr>
            <a:r>
              <a:rPr lang="en-US" sz="2800" b="1" dirty="0">
                <a:solidFill>
                  <a:srgbClr val="C00000"/>
                </a:solidFill>
              </a:rPr>
              <a:t>Labor force</a:t>
            </a:r>
            <a:r>
              <a:rPr lang="en-US" sz="2800" b="1" dirty="0" smtClean="0">
                <a:solidFill>
                  <a:srgbClr val="C00000"/>
                </a:solidFill>
              </a:rPr>
              <a:t>: </a:t>
            </a:r>
          </a:p>
          <a:p>
            <a:pPr algn="just">
              <a:buNone/>
            </a:pPr>
            <a:r>
              <a:rPr lang="en-US" sz="2800" dirty="0" smtClean="0"/>
              <a:t>L.F.= Employed + Unemployed </a:t>
            </a:r>
          </a:p>
          <a:p>
            <a:pPr algn="just">
              <a:buNone/>
            </a:pPr>
            <a:r>
              <a:rPr lang="en-US" sz="2800" b="1" dirty="0" smtClean="0">
                <a:solidFill>
                  <a:schemeClr val="accent3"/>
                </a:solidFill>
              </a:rPr>
              <a:t>Employed: </a:t>
            </a:r>
          </a:p>
          <a:p>
            <a:pPr algn="just">
              <a:buNone/>
            </a:pPr>
            <a:r>
              <a:rPr lang="en-US" sz="2800" dirty="0" smtClean="0"/>
              <a:t>It includes anyone working for pay at least one hour a week who is not an institution or the armed forces.</a:t>
            </a:r>
          </a:p>
          <a:p>
            <a:pPr algn="just">
              <a:buNone/>
            </a:pPr>
            <a:endParaRPr lang="en-US" sz="2800" dirty="0" smtClean="0"/>
          </a:p>
          <a:p>
            <a:pPr algn="just">
              <a:buNone/>
            </a:pPr>
            <a:endParaRPr lang="en-US" sz="2800" b="1" dirty="0" smtClean="0"/>
          </a:p>
        </p:txBody>
      </p:sp>
    </p:spTree>
    <p:extLst>
      <p:ext uri="{BB962C8B-B14F-4D97-AF65-F5344CB8AC3E}">
        <p14:creationId xmlns:p14="http://schemas.microsoft.com/office/powerpoint/2010/main" val="1378288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Definition and Measurement of Labor Force</a:t>
            </a:r>
            <a:endParaRPr lang="en-US" sz="3200" b="1" dirty="0">
              <a:solidFill>
                <a:schemeClr val="tx1"/>
              </a:solidFill>
            </a:endParaRPr>
          </a:p>
        </p:txBody>
      </p:sp>
      <p:sp>
        <p:nvSpPr>
          <p:cNvPr id="3" name="Content Placeholder 2"/>
          <p:cNvSpPr>
            <a:spLocks noGrp="1"/>
          </p:cNvSpPr>
          <p:nvPr>
            <p:ph sz="quarter" idx="1"/>
          </p:nvPr>
        </p:nvSpPr>
        <p:spPr>
          <a:xfrm>
            <a:off x="457200" y="1295400"/>
            <a:ext cx="8153400" cy="5105400"/>
          </a:xfrm>
          <a:solidFill>
            <a:schemeClr val="accent1">
              <a:lumMod val="20000"/>
              <a:lumOff val="80000"/>
            </a:schemeClr>
          </a:solidFill>
        </p:spPr>
        <p:txBody>
          <a:bodyPr>
            <a:normAutofit/>
          </a:bodyPr>
          <a:lstStyle/>
          <a:p>
            <a:pPr algn="just">
              <a:buNone/>
            </a:pPr>
            <a:r>
              <a:rPr lang="en-US" sz="2800" b="1" dirty="0" smtClean="0">
                <a:solidFill>
                  <a:schemeClr val="accent3"/>
                </a:solidFill>
              </a:rPr>
              <a:t>Unemployed: </a:t>
            </a:r>
          </a:p>
          <a:p>
            <a:pPr algn="just">
              <a:buNone/>
            </a:pPr>
            <a:r>
              <a:rPr lang="en-US" sz="2800" dirty="0" smtClean="0"/>
              <a:t>It is defined as- i) he or she out of work, ii) looking for work, and iii) able to take a job if it is offered. The “looking for work” here represents as to find work in the previous four weeks.</a:t>
            </a:r>
          </a:p>
          <a:p>
            <a:pPr algn="just">
              <a:buNone/>
            </a:pPr>
            <a:r>
              <a:rPr lang="en-US" sz="2800" b="1" dirty="0" smtClean="0">
                <a:solidFill>
                  <a:schemeClr val="accent3"/>
                </a:solidFill>
              </a:rPr>
              <a:t>Unemployment Rate:</a:t>
            </a:r>
          </a:p>
          <a:p>
            <a:pPr algn="just">
              <a:buNone/>
            </a:pPr>
            <a:r>
              <a:rPr lang="en-US" sz="2600" b="1" dirty="0" smtClean="0">
                <a:solidFill>
                  <a:schemeClr val="accent3"/>
                </a:solidFill>
              </a:rPr>
              <a:t>%U = </a:t>
            </a:r>
            <a:r>
              <a:rPr lang="en-US" sz="2600" b="1" dirty="0" smtClean="0"/>
              <a:t>[Total unemployed / Labor Force] x 100</a:t>
            </a:r>
          </a:p>
          <a:p>
            <a:pPr algn="just">
              <a:buNone/>
            </a:pPr>
            <a:r>
              <a:rPr lang="en-US" sz="2800" b="1" dirty="0" smtClean="0">
                <a:solidFill>
                  <a:schemeClr val="accent3"/>
                </a:solidFill>
              </a:rPr>
              <a:t>Employment </a:t>
            </a:r>
            <a:r>
              <a:rPr lang="en-US" sz="2800" b="1" dirty="0">
                <a:solidFill>
                  <a:schemeClr val="accent3"/>
                </a:solidFill>
              </a:rPr>
              <a:t>Rate</a:t>
            </a:r>
            <a:r>
              <a:rPr lang="en-US" sz="2800" b="1" dirty="0" smtClean="0">
                <a:solidFill>
                  <a:schemeClr val="accent3"/>
                </a:solidFill>
              </a:rPr>
              <a:t>:</a:t>
            </a:r>
          </a:p>
          <a:p>
            <a:pPr algn="just">
              <a:buNone/>
            </a:pPr>
            <a:r>
              <a:rPr lang="en-US" sz="2800" b="1" dirty="0" smtClean="0">
                <a:solidFill>
                  <a:schemeClr val="accent3"/>
                </a:solidFill>
              </a:rPr>
              <a:t>% E = </a:t>
            </a:r>
            <a:r>
              <a:rPr lang="en-US" sz="2800" b="1" dirty="0" smtClean="0"/>
              <a:t>[</a:t>
            </a:r>
            <a:r>
              <a:rPr lang="en-US" sz="2800" b="1" dirty="0"/>
              <a:t>Total </a:t>
            </a:r>
            <a:r>
              <a:rPr lang="en-US" sz="2800" b="1" dirty="0" smtClean="0"/>
              <a:t>employed </a:t>
            </a:r>
            <a:r>
              <a:rPr lang="en-US" sz="2800" b="1" dirty="0"/>
              <a:t>/ Labor </a:t>
            </a:r>
            <a:r>
              <a:rPr lang="en-US" sz="2800" b="1" dirty="0" smtClean="0"/>
              <a:t>Force] x </a:t>
            </a:r>
            <a:r>
              <a:rPr lang="en-US" sz="2800" b="1" dirty="0"/>
              <a:t>100</a:t>
            </a:r>
          </a:p>
          <a:p>
            <a:pPr algn="just">
              <a:buNone/>
            </a:pPr>
            <a:endParaRPr lang="en-US" sz="2800" b="1" dirty="0">
              <a:solidFill>
                <a:schemeClr val="accent3"/>
              </a:solidFill>
            </a:endParaRPr>
          </a:p>
          <a:p>
            <a:pPr algn="just">
              <a:buNone/>
            </a:pPr>
            <a:endParaRPr lang="en-US" sz="2800" b="1" dirty="0" smtClean="0"/>
          </a:p>
        </p:txBody>
      </p:sp>
    </p:spTree>
    <p:extLst>
      <p:ext uri="{BB962C8B-B14F-4D97-AF65-F5344CB8AC3E}">
        <p14:creationId xmlns:p14="http://schemas.microsoft.com/office/powerpoint/2010/main" val="828374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Definition and Measurement of Labor Force</a:t>
            </a:r>
            <a:endParaRPr lang="en-US" sz="3200" b="1" dirty="0">
              <a:solidFill>
                <a:schemeClr val="tx1"/>
              </a:solidFill>
            </a:endParaRPr>
          </a:p>
        </p:txBody>
      </p:sp>
      <p:sp>
        <p:nvSpPr>
          <p:cNvPr id="3" name="Content Placeholder 2"/>
          <p:cNvSpPr>
            <a:spLocks noGrp="1"/>
          </p:cNvSpPr>
          <p:nvPr>
            <p:ph sz="quarter" idx="1"/>
          </p:nvPr>
        </p:nvSpPr>
        <p:spPr>
          <a:xfrm>
            <a:off x="457200" y="1295400"/>
            <a:ext cx="8153400" cy="5105400"/>
          </a:xfrm>
          <a:solidFill>
            <a:schemeClr val="accent1">
              <a:lumMod val="20000"/>
              <a:lumOff val="80000"/>
            </a:schemeClr>
          </a:solidFill>
        </p:spPr>
        <p:txBody>
          <a:bodyPr>
            <a:normAutofit/>
          </a:bodyPr>
          <a:lstStyle/>
          <a:p>
            <a:pPr algn="just">
              <a:buNone/>
            </a:pPr>
            <a:r>
              <a:rPr lang="en-US" sz="3600" b="1" dirty="0" smtClean="0">
                <a:solidFill>
                  <a:srgbClr val="C00000"/>
                </a:solidFill>
              </a:rPr>
              <a:t>Discouraged worker: </a:t>
            </a:r>
          </a:p>
          <a:p>
            <a:pPr algn="just">
              <a:buNone/>
            </a:pPr>
            <a:r>
              <a:rPr lang="en-US" sz="2800" dirty="0" smtClean="0"/>
              <a:t>If a person is not in the labor force, wants a job, is available for work, and has looked for work sometime in the past 12 months (but not recently), he or she is called discouraged worker, implying that he or she given up even looking for work because of poor job prospects.</a:t>
            </a:r>
          </a:p>
        </p:txBody>
      </p:sp>
    </p:spTree>
    <p:extLst>
      <p:ext uri="{BB962C8B-B14F-4D97-AF65-F5344CB8AC3E}">
        <p14:creationId xmlns:p14="http://schemas.microsoft.com/office/powerpoint/2010/main" val="2158584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62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Decision to Work</a:t>
            </a:r>
            <a:endParaRPr lang="en-US" sz="3200" b="1" dirty="0">
              <a:solidFill>
                <a:schemeClr val="tx1"/>
              </a:solidFill>
            </a:endParaRPr>
          </a:p>
        </p:txBody>
      </p:sp>
      <p:sp>
        <p:nvSpPr>
          <p:cNvPr id="3" name="Content Placeholder 2"/>
          <p:cNvSpPr>
            <a:spLocks noGrp="1"/>
          </p:cNvSpPr>
          <p:nvPr>
            <p:ph sz="quarter" idx="1"/>
          </p:nvPr>
        </p:nvSpPr>
        <p:spPr>
          <a:xfrm>
            <a:off x="457200" y="990600"/>
            <a:ext cx="8153400" cy="5410200"/>
          </a:xfrm>
          <a:solidFill>
            <a:schemeClr val="accent1">
              <a:lumMod val="20000"/>
              <a:lumOff val="80000"/>
            </a:schemeClr>
          </a:solidFill>
        </p:spPr>
        <p:txBody>
          <a:bodyPr>
            <a:normAutofit/>
          </a:bodyPr>
          <a:lstStyle/>
          <a:p>
            <a:pPr algn="just">
              <a:buNone/>
            </a:pPr>
            <a:r>
              <a:rPr lang="en-US" dirty="0" smtClean="0"/>
              <a:t>An employee is willing to join in the labor force if the </a:t>
            </a:r>
            <a:r>
              <a:rPr lang="en-US" b="1" dirty="0" smtClean="0"/>
              <a:t>market wage </a:t>
            </a:r>
            <a:r>
              <a:rPr lang="en-US" dirty="0" smtClean="0"/>
              <a:t>exceeds his or her </a:t>
            </a:r>
            <a:r>
              <a:rPr lang="en-US" b="1" dirty="0" smtClean="0"/>
              <a:t>reservation wage. </a:t>
            </a:r>
          </a:p>
          <a:p>
            <a:pPr algn="just">
              <a:buNone/>
            </a:pPr>
            <a:r>
              <a:rPr lang="en-US" dirty="0" smtClean="0"/>
              <a:t>When the budget constraint and the indifference curve are just tangent, an outcome economists call an </a:t>
            </a:r>
            <a:r>
              <a:rPr lang="en-US" b="1" dirty="0" smtClean="0"/>
              <a:t>interior</a:t>
            </a:r>
            <a:r>
              <a:rPr lang="en-US" dirty="0" smtClean="0"/>
              <a:t> solution. Graphically, if the ICs are relatively steep, or the BC is relatively flat, however, no interior solution may be possible. In this case, a </a:t>
            </a:r>
            <a:r>
              <a:rPr lang="en-US" b="1" dirty="0" smtClean="0"/>
              <a:t>corner solution </a:t>
            </a:r>
            <a:r>
              <a:rPr lang="en-US" dirty="0" smtClean="0"/>
              <a:t>will be observed. </a:t>
            </a:r>
          </a:p>
          <a:p>
            <a:pPr algn="just">
              <a:buNone/>
            </a:pPr>
            <a:r>
              <a:rPr lang="en-US" dirty="0" smtClean="0"/>
              <a:t>The slope of the indifference curve at point zero hour of work is of particular significance and is called the reservation wage; it measures the amount of money the person would have to be given to be induce to work the first hour. </a:t>
            </a:r>
          </a:p>
        </p:txBody>
      </p:sp>
    </p:spTree>
    <p:extLst>
      <p:ext uri="{BB962C8B-B14F-4D97-AF65-F5344CB8AC3E}">
        <p14:creationId xmlns:p14="http://schemas.microsoft.com/office/powerpoint/2010/main" val="2217693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A corner solution and non-participation in the labor force</a:t>
            </a:r>
            <a:endParaRPr lang="en-US" sz="2800" b="1" dirty="0">
              <a:solidFill>
                <a:schemeClr val="tx1"/>
              </a:solidFill>
            </a:endParaRPr>
          </a:p>
        </p:txBody>
      </p:sp>
      <p:sp>
        <p:nvSpPr>
          <p:cNvPr id="3" name="Content Placeholder 2"/>
          <p:cNvSpPr>
            <a:spLocks noGrp="1"/>
          </p:cNvSpPr>
          <p:nvPr>
            <p:ph sz="quarter" idx="1"/>
          </p:nvPr>
        </p:nvSpPr>
        <p:spPr>
          <a:xfrm>
            <a:off x="457200" y="990600"/>
            <a:ext cx="8153400" cy="5410200"/>
          </a:xfrm>
          <a:solidFill>
            <a:schemeClr val="accent1">
              <a:lumMod val="20000"/>
              <a:lumOff val="80000"/>
            </a:schemeClr>
          </a:solidFill>
        </p:spPr>
        <p:txBody>
          <a:bodyPr>
            <a:normAutofit/>
          </a:bodyPr>
          <a:lstStyle/>
          <a:p>
            <a:pPr algn="just">
              <a:buNone/>
            </a:pPr>
            <a:r>
              <a:rPr lang="en-US" dirty="0" smtClean="0"/>
              <a:t>For a person to participate in the labor force, therefore, the fundamental requirement is that the market wage exceed the reservation wage.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6143625"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7934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on Participation of a Change in the Wage Rate</a:t>
            </a:r>
            <a:endParaRPr lang="en-US" sz="2800" b="1" dirty="0">
              <a:solidFill>
                <a:schemeClr val="tx1"/>
              </a:solidFill>
            </a:endParaRPr>
          </a:p>
        </p:txBody>
      </p:sp>
      <p:sp>
        <p:nvSpPr>
          <p:cNvPr id="3" name="Content Placeholder 2"/>
          <p:cNvSpPr>
            <a:spLocks noGrp="1"/>
          </p:cNvSpPr>
          <p:nvPr>
            <p:ph sz="quarter" idx="1"/>
          </p:nvPr>
        </p:nvSpPr>
        <p:spPr>
          <a:xfrm>
            <a:off x="457200" y="1143000"/>
            <a:ext cx="8229600" cy="5410200"/>
          </a:xfrm>
          <a:solidFill>
            <a:schemeClr val="accent1">
              <a:lumMod val="20000"/>
              <a:lumOff val="80000"/>
            </a:schemeClr>
          </a:solidFill>
        </p:spPr>
        <p:txBody>
          <a:bodyPr>
            <a:normAutofit/>
          </a:bodyPr>
          <a:lstStyle/>
          <a:p>
            <a:pPr algn="just">
              <a:buNone/>
            </a:pPr>
            <a:r>
              <a:rPr lang="en-US" dirty="0" smtClean="0"/>
              <a:t>It is observed that a rise in the wage rate may cause a person already working in the market to either work more hours or fewer hours, depending on the relative size of the income and substitution effect.</a:t>
            </a:r>
          </a:p>
          <a:p>
            <a:pPr algn="just">
              <a:buNone/>
            </a:pPr>
            <a:endParaRPr lang="en-US" dirty="0" smtClean="0"/>
          </a:p>
          <a:p>
            <a:pPr algn="just">
              <a:buNone/>
            </a:pPr>
            <a:r>
              <a:rPr lang="en-US" dirty="0" smtClean="0"/>
              <a:t>If the person is not in the </a:t>
            </a:r>
          </a:p>
          <a:p>
            <a:pPr algn="just">
              <a:buNone/>
            </a:pPr>
            <a:r>
              <a:rPr lang="en-US" dirty="0" smtClean="0"/>
              <a:t>labor force, however, a </a:t>
            </a:r>
          </a:p>
          <a:p>
            <a:pPr algn="just">
              <a:buNone/>
            </a:pPr>
            <a:r>
              <a:rPr lang="en-US" dirty="0"/>
              <a:t>r</a:t>
            </a:r>
            <a:r>
              <a:rPr lang="en-US" dirty="0" smtClean="0"/>
              <a:t>ise in the wage rate will</a:t>
            </a:r>
          </a:p>
          <a:p>
            <a:pPr algn="just">
              <a:buNone/>
            </a:pPr>
            <a:r>
              <a:rPr lang="en-US" dirty="0" smtClean="0"/>
              <a:t>unambiguously increase </a:t>
            </a:r>
          </a:p>
          <a:p>
            <a:pPr algn="just">
              <a:buNone/>
            </a:pPr>
            <a:r>
              <a:rPr lang="en-US" dirty="0" smtClean="0"/>
              <a:t>the probability of entering</a:t>
            </a:r>
          </a:p>
          <a:p>
            <a:pPr algn="just">
              <a:buNone/>
            </a:pPr>
            <a:r>
              <a:rPr lang="en-US" dirty="0" smtClean="0"/>
              <a:t>the labor force to seek </a:t>
            </a:r>
          </a:p>
          <a:p>
            <a:pPr algn="just">
              <a:buNone/>
            </a:pPr>
            <a:r>
              <a:rPr lang="en-US" dirty="0" smtClean="0"/>
              <a:t>market work.</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743200"/>
            <a:ext cx="4648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98175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participation of A Change in the wage rate</a:t>
            </a:r>
            <a:endParaRPr lang="en-US" sz="2800" b="1" dirty="0">
              <a:solidFill>
                <a:schemeClr val="tx1"/>
              </a:solidFill>
            </a:endParaRPr>
          </a:p>
        </p:txBody>
      </p:sp>
      <p:sp>
        <p:nvSpPr>
          <p:cNvPr id="3" name="Content Placeholder 2"/>
          <p:cNvSpPr>
            <a:spLocks noGrp="1"/>
          </p:cNvSpPr>
          <p:nvPr>
            <p:ph sz="quarter" idx="1"/>
          </p:nvPr>
        </p:nvSpPr>
        <p:spPr>
          <a:xfrm>
            <a:off x="457200" y="990600"/>
            <a:ext cx="8153400" cy="5410200"/>
          </a:xfrm>
          <a:solidFill>
            <a:schemeClr val="accent1">
              <a:lumMod val="20000"/>
              <a:lumOff val="80000"/>
            </a:schemeClr>
          </a:solidFill>
        </p:spPr>
        <p:txBody>
          <a:bodyPr>
            <a:normAutofit/>
          </a:bodyPr>
          <a:lstStyle/>
          <a:p>
            <a:pPr algn="just">
              <a:buNone/>
            </a:pPr>
            <a:r>
              <a:rPr lang="en-US" dirty="0" smtClean="0"/>
              <a:t>The reason is that a rise in the wage cannot give rise to a negative income effect as long as hours of work and (and earnings from work) are zero.</a:t>
            </a:r>
          </a:p>
          <a:p>
            <a:pPr algn="just">
              <a:buNone/>
            </a:pPr>
            <a:r>
              <a:rPr lang="en-US" dirty="0" smtClean="0"/>
              <a:t>A rise in market wage will continue to give rise to a positive substitution effect, however, since every hour of non-market time now more expensive.</a:t>
            </a:r>
          </a:p>
          <a:p>
            <a:pPr algn="just">
              <a:buNone/>
            </a:pPr>
            <a:endParaRPr lang="en-US" dirty="0"/>
          </a:p>
          <a:p>
            <a:pPr algn="just">
              <a:buNone/>
            </a:pPr>
            <a:r>
              <a:rPr lang="en-US" dirty="0" smtClean="0"/>
              <a:t>Here, at point X, </a:t>
            </a:r>
          </a:p>
          <a:p>
            <a:pPr algn="just">
              <a:buNone/>
            </a:pPr>
            <a:r>
              <a:rPr lang="en-US" dirty="0" smtClean="0"/>
              <a:t>MW &gt; RW</a:t>
            </a:r>
          </a:p>
          <a:p>
            <a:pPr algn="just">
              <a:buNone/>
            </a:pPr>
            <a:r>
              <a:rPr lang="en-US" dirty="0" smtClean="0"/>
              <a:t>Whereas at point B,</a:t>
            </a:r>
          </a:p>
          <a:p>
            <a:pPr algn="just">
              <a:buNone/>
            </a:pPr>
            <a:r>
              <a:rPr lang="en-US" dirty="0" smtClean="0"/>
              <a:t>RW&gt; MW</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352800"/>
            <a:ext cx="5181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98175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Participation and Changes in </a:t>
            </a:r>
            <a:br>
              <a:rPr lang="en-US" sz="2800" b="1" dirty="0" smtClean="0">
                <a:solidFill>
                  <a:schemeClr val="tx1"/>
                </a:solidFill>
              </a:rPr>
            </a:br>
            <a:r>
              <a:rPr lang="en-US" sz="2800" b="1" dirty="0" smtClean="0">
                <a:solidFill>
                  <a:schemeClr val="tx1"/>
                </a:solidFill>
              </a:rPr>
              <a:t>Non-labor Income</a:t>
            </a:r>
            <a:endParaRPr lang="en-US" sz="2800" b="1" dirty="0">
              <a:solidFill>
                <a:schemeClr val="tx1"/>
              </a:solidFill>
            </a:endParaRPr>
          </a:p>
        </p:txBody>
      </p:sp>
      <p:sp>
        <p:nvSpPr>
          <p:cNvPr id="3" name="Content Placeholder 2"/>
          <p:cNvSpPr>
            <a:spLocks noGrp="1"/>
          </p:cNvSpPr>
          <p:nvPr>
            <p:ph sz="quarter" idx="1"/>
          </p:nvPr>
        </p:nvSpPr>
        <p:spPr>
          <a:xfrm>
            <a:off x="457200" y="990600"/>
            <a:ext cx="8153400" cy="5410200"/>
          </a:xfrm>
          <a:solidFill>
            <a:schemeClr val="accent1">
              <a:lumMod val="20000"/>
              <a:lumOff val="80000"/>
            </a:schemeClr>
          </a:solidFill>
        </p:spPr>
        <p:txBody>
          <a:bodyPr>
            <a:normAutofit/>
          </a:bodyPr>
          <a:lstStyle/>
          <a:p>
            <a:pPr algn="just">
              <a:buNone/>
            </a:pPr>
            <a:r>
              <a:rPr lang="en-US" dirty="0" smtClean="0"/>
              <a:t>The probability of labor force participation decreases with the amount of non-labor income increases while other things remaining the same.</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09800"/>
            <a:ext cx="64008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320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Household model of labor supply</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562600"/>
          </a:xfrm>
          <a:solidFill>
            <a:schemeClr val="accent1">
              <a:lumMod val="20000"/>
              <a:lumOff val="80000"/>
            </a:schemeClr>
          </a:solidFill>
        </p:spPr>
        <p:txBody>
          <a:bodyPr>
            <a:normAutofit/>
          </a:bodyPr>
          <a:lstStyle/>
          <a:p>
            <a:pPr algn="just">
              <a:buNone/>
            </a:pPr>
            <a:r>
              <a:rPr lang="en-US" b="1" dirty="0" smtClean="0"/>
              <a:t>Limitation of Labor/Leisure model: </a:t>
            </a:r>
            <a:r>
              <a:rPr lang="en-US" dirty="0" smtClean="0"/>
              <a:t>Labor/Leisure model is deficient in the two following respects: </a:t>
            </a:r>
          </a:p>
          <a:p>
            <a:pPr algn="just">
              <a:buNone/>
            </a:pPr>
            <a:r>
              <a:rPr lang="en-US" b="1" i="1" dirty="0" smtClean="0">
                <a:solidFill>
                  <a:srgbClr val="C00000"/>
                </a:solidFill>
              </a:rPr>
              <a:t>First: </a:t>
            </a:r>
            <a:r>
              <a:rPr lang="en-US" dirty="0" smtClean="0"/>
              <a:t>it ignores the family context in which the labor supply decisions of husbands and wives are made. However, the allocation of time to work requires the combined decisions of both husband and wife to pool their resources to maximize the utility of entire family.</a:t>
            </a:r>
          </a:p>
          <a:p>
            <a:pPr algn="just">
              <a:buNone/>
            </a:pPr>
            <a:r>
              <a:rPr lang="en-US" b="1" i="1" dirty="0" smtClean="0">
                <a:solidFill>
                  <a:srgbClr val="C00000"/>
                </a:solidFill>
              </a:rPr>
              <a:t>Second: </a:t>
            </a:r>
            <a:r>
              <a:rPr lang="en-US" b="1" i="1" dirty="0" smtClean="0"/>
              <a:t> </a:t>
            </a:r>
            <a:r>
              <a:rPr lang="en-US" dirty="0" smtClean="0"/>
              <a:t>it does not realistically  represent the set of choices open to men and women with respect to their use of time. Rather than strict dichotomy between labor and leisure, married women had traditionally had three alternatives: market work, nonmarket work or homework  and leisure.</a:t>
            </a:r>
            <a:endParaRPr lang="en-US" dirty="0" smtClean="0">
              <a:solidFill>
                <a:srgbClr val="C00000"/>
              </a:solidFill>
            </a:endParaRPr>
          </a:p>
        </p:txBody>
      </p:sp>
    </p:spTree>
    <p:extLst>
      <p:ext uri="{BB962C8B-B14F-4D97-AF65-F5344CB8AC3E}">
        <p14:creationId xmlns:p14="http://schemas.microsoft.com/office/powerpoint/2010/main" val="3168536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Household model of labor supply</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334000"/>
          </a:xfrm>
          <a:solidFill>
            <a:schemeClr val="accent1">
              <a:lumMod val="20000"/>
              <a:lumOff val="80000"/>
            </a:schemeClr>
          </a:solidFill>
        </p:spPr>
        <p:txBody>
          <a:bodyPr>
            <a:normAutofit lnSpcReduction="10000"/>
          </a:bodyPr>
          <a:lstStyle/>
          <a:p>
            <a:pPr algn="just">
              <a:buNone/>
            </a:pPr>
            <a:r>
              <a:rPr lang="en-US" dirty="0" smtClean="0"/>
              <a:t>Jacob </a:t>
            </a:r>
            <a:r>
              <a:rPr lang="en-US" dirty="0" err="1" smtClean="0"/>
              <a:t>Mincer</a:t>
            </a:r>
            <a:r>
              <a:rPr lang="en-US" dirty="0" smtClean="0"/>
              <a:t> and Marvin </a:t>
            </a:r>
            <a:r>
              <a:rPr lang="en-US" dirty="0" err="1" smtClean="0"/>
              <a:t>Kosters</a:t>
            </a:r>
            <a:r>
              <a:rPr lang="en-US" dirty="0" smtClean="0"/>
              <a:t> were the first to broaden the labor/leisure model to take into account both of these objections to introduce the Household Model of Labor Supply. </a:t>
            </a:r>
          </a:p>
          <a:p>
            <a:pPr algn="just">
              <a:buNone/>
            </a:pPr>
            <a:r>
              <a:rPr lang="en-US" dirty="0" smtClean="0"/>
              <a:t>The decision making unit in this household model is the family, composed of a husband, wife, and possibly one or more children.</a:t>
            </a:r>
          </a:p>
          <a:p>
            <a:pPr algn="just">
              <a:buNone/>
            </a:pPr>
            <a:r>
              <a:rPr lang="en-US" dirty="0" smtClean="0">
                <a:solidFill>
                  <a:srgbClr val="0070C0"/>
                </a:solidFill>
              </a:rPr>
              <a:t>The family members have three uses of time</a:t>
            </a:r>
            <a:r>
              <a:rPr lang="en-US" dirty="0" smtClean="0"/>
              <a:t>: market work, nonmarket work or homework  and leisure.</a:t>
            </a:r>
          </a:p>
          <a:p>
            <a:pPr algn="just">
              <a:buNone/>
            </a:pPr>
            <a:r>
              <a:rPr lang="en-US" dirty="0" smtClean="0"/>
              <a:t>The attainable combination of these three activities are constrained by---- </a:t>
            </a:r>
          </a:p>
          <a:p>
            <a:pPr algn="just">
              <a:buFont typeface="Symbol"/>
              <a:buChar char="Þ"/>
            </a:pPr>
            <a:r>
              <a:rPr lang="en-US" dirty="0" smtClean="0"/>
              <a:t>The wage rate that each family member can earn.</a:t>
            </a:r>
          </a:p>
          <a:p>
            <a:pPr algn="just">
              <a:buFont typeface="Symbol"/>
              <a:buChar char="Þ"/>
            </a:pPr>
            <a:r>
              <a:rPr lang="en-US" dirty="0" smtClean="0"/>
              <a:t>The family’s level of non-labor income.</a:t>
            </a:r>
          </a:p>
          <a:p>
            <a:pPr algn="just">
              <a:buFont typeface="Symbol"/>
              <a:buChar char="Þ"/>
            </a:pPr>
            <a:r>
              <a:rPr lang="en-US" dirty="0" smtClean="0"/>
              <a:t>The total discretionary time of the family per week.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Household model of labor supply</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562600"/>
          </a:xfrm>
          <a:solidFill>
            <a:schemeClr val="accent1">
              <a:lumMod val="20000"/>
              <a:lumOff val="80000"/>
            </a:schemeClr>
          </a:solidFill>
        </p:spPr>
        <p:txBody>
          <a:bodyPr>
            <a:normAutofit/>
          </a:bodyPr>
          <a:lstStyle/>
          <a:p>
            <a:pPr algn="just">
              <a:buNone/>
            </a:pPr>
            <a:r>
              <a:rPr lang="en-US" b="1" i="1" dirty="0" smtClean="0">
                <a:solidFill>
                  <a:srgbClr val="C00000"/>
                </a:solidFill>
              </a:rPr>
              <a:t>Effect of changes in non-labor income on the family’s allocation of time:</a:t>
            </a:r>
          </a:p>
          <a:p>
            <a:pPr algn="just">
              <a:buNone/>
            </a:pPr>
            <a:r>
              <a:rPr lang="en-US" dirty="0" smtClean="0"/>
              <a:t>An increase in the amount of non-labor income available to the family will, therefore, set off a negative income effect, leading to a reduction in hours of work on the part of all or some of the family members.</a:t>
            </a:r>
          </a:p>
          <a:p>
            <a:pPr algn="just">
              <a:buNone/>
            </a:pPr>
            <a:endParaRPr lang="en-US" b="1" i="1" dirty="0" smtClean="0">
              <a:solidFill>
                <a:srgbClr val="C00000"/>
              </a:solidFill>
            </a:endParaRPr>
          </a:p>
          <a:p>
            <a:pPr algn="just">
              <a:buNone/>
            </a:pPr>
            <a:r>
              <a:rPr lang="en-US" b="1" i="1" dirty="0" smtClean="0">
                <a:solidFill>
                  <a:srgbClr val="C00000"/>
                </a:solidFill>
              </a:rPr>
              <a:t>Effect of changes in wage rate on the family’s allocation of time of each family member: </a:t>
            </a:r>
          </a:p>
          <a:p>
            <a:pPr algn="just">
              <a:buNone/>
            </a:pPr>
            <a:r>
              <a:rPr lang="en-US" dirty="0" smtClean="0"/>
              <a:t>A change in the wage rate of person </a:t>
            </a:r>
            <a:r>
              <a:rPr lang="en-US" i="1" dirty="0" err="1" smtClean="0"/>
              <a:t>i</a:t>
            </a:r>
            <a:r>
              <a:rPr lang="en-US" i="1" dirty="0" smtClean="0"/>
              <a:t> in the family will affect both the individual’s own labor supply decision and the labor supply decision  of another family member , person j through different and distinct channels. </a:t>
            </a:r>
            <a:endParaRPr lang="en-US" b="1" i="1" dirty="0" smtClean="0">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Household model of labor supply</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562600"/>
          </a:xfrm>
          <a:solidFill>
            <a:schemeClr val="accent1">
              <a:lumMod val="20000"/>
              <a:lumOff val="80000"/>
            </a:schemeClr>
          </a:solidFill>
        </p:spPr>
        <p:txBody>
          <a:bodyPr>
            <a:normAutofit/>
          </a:bodyPr>
          <a:lstStyle/>
          <a:p>
            <a:pPr algn="just">
              <a:buNone/>
            </a:pPr>
            <a:r>
              <a:rPr lang="en-US" b="1" i="1" dirty="0" smtClean="0">
                <a:solidFill>
                  <a:srgbClr val="C00000"/>
                </a:solidFill>
              </a:rPr>
              <a:t>First:  </a:t>
            </a:r>
            <a:r>
              <a:rPr lang="en-US" dirty="0" smtClean="0"/>
              <a:t>a change in the wage of person </a:t>
            </a:r>
            <a:r>
              <a:rPr lang="en-US" i="1" dirty="0" err="1" smtClean="0"/>
              <a:t>i</a:t>
            </a:r>
            <a:r>
              <a:rPr lang="en-US" i="1" dirty="0" smtClean="0"/>
              <a:t> (</a:t>
            </a:r>
            <a:r>
              <a:rPr lang="en-US" i="1" dirty="0" err="1" smtClean="0"/>
              <a:t>Wi</a:t>
            </a:r>
            <a:r>
              <a:rPr lang="en-US" i="1" dirty="0" smtClean="0"/>
              <a:t>)</a:t>
            </a:r>
            <a:r>
              <a:rPr lang="en-US" dirty="0" smtClean="0"/>
              <a:t> will lead to a positive substitution effect on the hours of work of person </a:t>
            </a:r>
            <a:r>
              <a:rPr lang="en-US" i="1" dirty="0" err="1" smtClean="0"/>
              <a:t>i</a:t>
            </a:r>
            <a:r>
              <a:rPr lang="en-US" i="1" dirty="0" smtClean="0"/>
              <a:t> (Hi).</a:t>
            </a:r>
          </a:p>
          <a:p>
            <a:pPr algn="just">
              <a:buNone/>
            </a:pPr>
            <a:r>
              <a:rPr lang="en-US" b="1" i="1" dirty="0" smtClean="0">
                <a:solidFill>
                  <a:srgbClr val="C00000"/>
                </a:solidFill>
              </a:rPr>
              <a:t>Second: </a:t>
            </a:r>
            <a:r>
              <a:rPr lang="en-US" dirty="0" smtClean="0"/>
              <a:t>the change in wage </a:t>
            </a:r>
            <a:r>
              <a:rPr lang="en-US" i="1" dirty="0" smtClean="0"/>
              <a:t>(</a:t>
            </a:r>
            <a:r>
              <a:rPr lang="en-US" i="1" dirty="0" err="1" smtClean="0"/>
              <a:t>Wi</a:t>
            </a:r>
            <a:r>
              <a:rPr lang="en-US" i="1" dirty="0" smtClean="0"/>
              <a:t>) </a:t>
            </a:r>
            <a:r>
              <a:rPr lang="en-US" dirty="0" smtClean="0"/>
              <a:t>will also affect </a:t>
            </a:r>
            <a:r>
              <a:rPr lang="en-US" i="1" dirty="0" smtClean="0"/>
              <a:t>Hi </a:t>
            </a:r>
            <a:r>
              <a:rPr lang="en-US" dirty="0" smtClean="0"/>
              <a:t>through a countervailing negative income effect.</a:t>
            </a:r>
          </a:p>
          <a:p>
            <a:pPr algn="just">
              <a:buNone/>
            </a:pPr>
            <a:endParaRPr lang="en-US" dirty="0" smtClean="0"/>
          </a:p>
          <a:p>
            <a:pPr algn="just">
              <a:buNone/>
            </a:pPr>
            <a:r>
              <a:rPr lang="en-US" b="1" i="1" dirty="0" smtClean="0">
                <a:solidFill>
                  <a:srgbClr val="C00000"/>
                </a:solidFill>
              </a:rPr>
              <a:t>Third: Cross-substitution effect: </a:t>
            </a:r>
            <a:r>
              <a:rPr lang="en-US" dirty="0" smtClean="0"/>
              <a:t>This measures the effect of a change in the wage rate of person </a:t>
            </a:r>
            <a:r>
              <a:rPr lang="en-US" i="1" dirty="0" err="1" smtClean="0"/>
              <a:t>i</a:t>
            </a:r>
            <a:r>
              <a:rPr lang="en-US" i="1" dirty="0" smtClean="0"/>
              <a:t> </a:t>
            </a:r>
            <a:r>
              <a:rPr lang="en-US" dirty="0" smtClean="0"/>
              <a:t>on hours of work of person </a:t>
            </a:r>
            <a:r>
              <a:rPr lang="en-US" i="1" dirty="0" smtClean="0"/>
              <a:t>j</a:t>
            </a:r>
            <a:r>
              <a:rPr lang="en-US" dirty="0" smtClean="0"/>
              <a:t> in the family.</a:t>
            </a:r>
          </a:p>
          <a:p>
            <a:pPr algn="just">
              <a:buNone/>
            </a:pPr>
            <a:endParaRPr lang="en-US" dirty="0" smtClean="0"/>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1" name="Object 1"/>
          <p:cNvGraphicFramePr>
            <a:graphicFrameLocks noChangeAspect="1"/>
          </p:cNvGraphicFramePr>
          <p:nvPr>
            <p:extLst>
              <p:ext uri="{D42A27DB-BD31-4B8C-83A1-F6EECF244321}">
                <p14:modId xmlns:p14="http://schemas.microsoft.com/office/powerpoint/2010/main" val="2592610120"/>
              </p:ext>
            </p:extLst>
          </p:nvPr>
        </p:nvGraphicFramePr>
        <p:xfrm>
          <a:off x="1600200" y="4876800"/>
          <a:ext cx="5105400" cy="914400"/>
        </p:xfrm>
        <a:graphic>
          <a:graphicData uri="http://schemas.openxmlformats.org/presentationml/2006/ole">
            <mc:AlternateContent xmlns:mc="http://schemas.openxmlformats.org/markup-compatibility/2006">
              <mc:Choice xmlns:v="urn:schemas-microsoft-com:vml" Requires="v">
                <p:oleObj spid="_x0000_s5165" name="Equation" r:id="rId3" imgW="2552700" imgH="457200" progId="Equation.3">
                  <p:embed/>
                </p:oleObj>
              </mc:Choice>
              <mc:Fallback>
                <p:oleObj name="Equation" r:id="rId3" imgW="2552700" imgH="45720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876800"/>
                        <a:ext cx="5105400" cy="914400"/>
                      </a:xfrm>
                      <a:prstGeom prst="rect">
                        <a:avLst/>
                      </a:prstGeom>
                      <a:noFill/>
                      <a:extLst/>
                    </p:spPr>
                  </p:pic>
                </p:oleObj>
              </mc:Fallback>
            </mc:AlternateContent>
          </a:graphicData>
        </a:graphic>
      </p:graphicFrame>
      <p:sp>
        <p:nvSpPr>
          <p:cNvPr id="5123" name="Rectangle 3"/>
          <p:cNvSpPr>
            <a:spLocks noChangeArrowheads="1"/>
          </p:cNvSpPr>
          <p:nvPr/>
        </p:nvSpPr>
        <p:spPr bwMode="auto">
          <a:xfrm>
            <a:off x="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Household model of labor supply</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562600"/>
          </a:xfrm>
          <a:solidFill>
            <a:schemeClr val="accent1">
              <a:lumMod val="20000"/>
              <a:lumOff val="80000"/>
            </a:schemeClr>
          </a:solidFill>
        </p:spPr>
        <p:txBody>
          <a:bodyPr>
            <a:normAutofit lnSpcReduction="10000"/>
          </a:bodyPr>
          <a:lstStyle/>
          <a:p>
            <a:pPr algn="just">
              <a:buNone/>
            </a:pPr>
            <a:r>
              <a:rPr lang="en-US" b="1" i="1" dirty="0" smtClean="0">
                <a:solidFill>
                  <a:srgbClr val="C00000"/>
                </a:solidFill>
              </a:rPr>
              <a:t>Third: Cross-substitution effect:</a:t>
            </a:r>
          </a:p>
          <a:p>
            <a:pPr algn="just">
              <a:buNone/>
            </a:pPr>
            <a:endParaRPr lang="en-US" b="1" i="1" dirty="0">
              <a:solidFill>
                <a:srgbClr val="C00000"/>
              </a:solidFill>
            </a:endParaRPr>
          </a:p>
          <a:p>
            <a:pPr algn="just">
              <a:buNone/>
            </a:pPr>
            <a:endParaRPr lang="en-US" b="1" i="1" dirty="0" smtClean="0">
              <a:solidFill>
                <a:srgbClr val="C00000"/>
              </a:solidFill>
            </a:endParaRPr>
          </a:p>
          <a:p>
            <a:pPr algn="just">
              <a:buNone/>
            </a:pPr>
            <a:r>
              <a:rPr lang="en-US" dirty="0" smtClean="0"/>
              <a:t>Holding income constant, a rise in the wife’s wage leads her to work more through the substitution effect. </a:t>
            </a:r>
          </a:p>
          <a:p>
            <a:pPr algn="just">
              <a:buNone/>
            </a:pPr>
            <a:r>
              <a:rPr lang="en-US" dirty="0" smtClean="0"/>
              <a:t>If wife’s and husband’s time in the market are substitutes, as she works more he will work less (e.g. spend more time cooking and cleaning at home), leading to a negative cross-substitution effect.  </a:t>
            </a:r>
          </a:p>
          <a:p>
            <a:pPr algn="just">
              <a:buNone/>
            </a:pPr>
            <a:r>
              <a:rPr lang="en-US" dirty="0" smtClean="0"/>
              <a:t>In contrast, if wife works more in the market so does husband, e.g. leisure time is only enjoyed if they share it together and, thus as she reduces her amount of time devoted to leisure so does her husband. In this shape of complements, the cross-substitution effect is positive. </a:t>
            </a: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121" name="Object 1"/>
          <p:cNvGraphicFramePr>
            <a:graphicFrameLocks noChangeAspect="1"/>
          </p:cNvGraphicFramePr>
          <p:nvPr>
            <p:extLst>
              <p:ext uri="{D42A27DB-BD31-4B8C-83A1-F6EECF244321}">
                <p14:modId xmlns:p14="http://schemas.microsoft.com/office/powerpoint/2010/main" val="142388524"/>
              </p:ext>
            </p:extLst>
          </p:nvPr>
        </p:nvGraphicFramePr>
        <p:xfrm>
          <a:off x="1804989" y="1524000"/>
          <a:ext cx="4976812" cy="914400"/>
        </p:xfrm>
        <a:graphic>
          <a:graphicData uri="http://schemas.openxmlformats.org/presentationml/2006/ole">
            <mc:AlternateContent xmlns:mc="http://schemas.openxmlformats.org/markup-compatibility/2006">
              <mc:Choice xmlns:v="urn:schemas-microsoft-com:vml" Requires="v">
                <p:oleObj spid="_x0000_s6164" name="Equation" r:id="rId3" imgW="2501640" imgH="457200" progId="Equation.3">
                  <p:embed/>
                </p:oleObj>
              </mc:Choice>
              <mc:Fallback>
                <p:oleObj name="Equation" r:id="rId3" imgW="2501640" imgH="457200" progId="Equation.3">
                  <p:embed/>
                  <p:pic>
                    <p:nvPicPr>
                      <p:cNvPr id="0" name=""/>
                      <p:cNvPicPr>
                        <a:picLocks noChangeAspect="1" noChangeArrowheads="1"/>
                      </p:cNvPicPr>
                      <p:nvPr/>
                    </p:nvPicPr>
                    <p:blipFill>
                      <a:blip r:embed="rId4"/>
                      <a:srcRect/>
                      <a:stretch>
                        <a:fillRect/>
                      </a:stretch>
                    </p:blipFill>
                    <p:spPr bwMode="auto">
                      <a:xfrm>
                        <a:off x="1804989" y="1524000"/>
                        <a:ext cx="4976812" cy="914400"/>
                      </a:xfrm>
                      <a:prstGeom prst="rect">
                        <a:avLst/>
                      </a:prstGeom>
                      <a:noFill/>
                      <a:extLst/>
                    </p:spPr>
                  </p:pic>
                </p:oleObj>
              </mc:Fallback>
            </mc:AlternateContent>
          </a:graphicData>
        </a:graphic>
      </p:graphicFrame>
      <p:sp>
        <p:nvSpPr>
          <p:cNvPr id="5123" name="Rectangle 3"/>
          <p:cNvSpPr>
            <a:spLocks noChangeArrowheads="1"/>
          </p:cNvSpPr>
          <p:nvPr/>
        </p:nvSpPr>
        <p:spPr bwMode="auto">
          <a:xfrm>
            <a:off x="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106126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Household model of labor supply</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562600"/>
          </a:xfrm>
          <a:solidFill>
            <a:schemeClr val="accent1">
              <a:lumMod val="20000"/>
              <a:lumOff val="80000"/>
            </a:schemeClr>
          </a:solidFill>
        </p:spPr>
        <p:txBody>
          <a:bodyPr>
            <a:normAutofit/>
          </a:bodyPr>
          <a:lstStyle/>
          <a:p>
            <a:pPr algn="just">
              <a:buNone/>
            </a:pPr>
            <a:r>
              <a:rPr lang="en-US" dirty="0" smtClean="0"/>
              <a:t>The household model of labor supply also provides several key insights into different facets of labor force participation:</a:t>
            </a:r>
          </a:p>
          <a:p>
            <a:pPr algn="just">
              <a:buNone/>
            </a:pPr>
            <a:endParaRPr lang="en-US" dirty="0" smtClean="0"/>
          </a:p>
          <a:p>
            <a:pPr marL="457200" indent="-457200" algn="just">
              <a:buFont typeface="+mj-lt"/>
              <a:buAutoNum type="alphaLcParenR"/>
            </a:pPr>
            <a:r>
              <a:rPr lang="en-US" dirty="0" smtClean="0"/>
              <a:t>The division of labor by Gender</a:t>
            </a:r>
          </a:p>
          <a:p>
            <a:pPr marL="457200" indent="-457200" algn="just">
              <a:buFont typeface="+mj-lt"/>
              <a:buAutoNum type="alphaLcParenR"/>
            </a:pPr>
            <a:endParaRPr lang="en-US" dirty="0" smtClean="0"/>
          </a:p>
          <a:p>
            <a:pPr marL="457200" indent="-457200" algn="just">
              <a:buFont typeface="+mj-lt"/>
              <a:buAutoNum type="alphaLcParenR"/>
            </a:pPr>
            <a:r>
              <a:rPr lang="en-US" dirty="0" smtClean="0"/>
              <a:t>The convergence in participation rates</a:t>
            </a:r>
          </a:p>
          <a:p>
            <a:pPr marL="0" indent="0" algn="just">
              <a:buNone/>
            </a:pPr>
            <a:endParaRPr lang="en-US" dirty="0" smtClean="0"/>
          </a:p>
          <a:p>
            <a:pPr marL="457200" indent="-457200" algn="just">
              <a:buFont typeface="+mj-lt"/>
              <a:buAutoNum type="alphaLcParenR"/>
            </a:pPr>
            <a:r>
              <a:rPr lang="en-US" dirty="0" smtClean="0"/>
              <a:t>Time allocation: an extension to the household model.</a:t>
            </a:r>
          </a:p>
        </p:txBody>
      </p:sp>
    </p:spTree>
    <p:extLst>
      <p:ext uri="{BB962C8B-B14F-4D97-AF65-F5344CB8AC3E}">
        <p14:creationId xmlns:p14="http://schemas.microsoft.com/office/powerpoint/2010/main" val="35376277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153400" cy="7159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Changes in participation over time</a:t>
            </a:r>
            <a:endParaRPr lang="en-US" sz="3200" b="1" dirty="0">
              <a:solidFill>
                <a:schemeClr val="tx1"/>
              </a:solidFill>
            </a:endParaRPr>
          </a:p>
        </p:txBody>
      </p:sp>
      <p:sp>
        <p:nvSpPr>
          <p:cNvPr id="3" name="Content Placeholder 2"/>
          <p:cNvSpPr>
            <a:spLocks noGrp="1"/>
          </p:cNvSpPr>
          <p:nvPr>
            <p:ph sz="quarter" idx="1"/>
          </p:nvPr>
        </p:nvSpPr>
        <p:spPr>
          <a:xfrm>
            <a:off x="381000" y="1066800"/>
            <a:ext cx="8153400" cy="5562600"/>
          </a:xfrm>
          <a:solidFill>
            <a:schemeClr val="accent1">
              <a:lumMod val="20000"/>
              <a:lumOff val="80000"/>
            </a:schemeClr>
          </a:solidFill>
        </p:spPr>
        <p:txBody>
          <a:bodyPr>
            <a:normAutofit lnSpcReduction="10000"/>
          </a:bodyPr>
          <a:lstStyle/>
          <a:p>
            <a:pPr marL="457200" indent="-457200" algn="just">
              <a:buNone/>
            </a:pPr>
            <a:r>
              <a:rPr lang="en-US" dirty="0" smtClean="0"/>
              <a:t>1. The decline in male participation rates:</a:t>
            </a:r>
          </a:p>
          <a:p>
            <a:pPr marL="457200" indent="-457200" algn="just">
              <a:buNone/>
            </a:pPr>
            <a:r>
              <a:rPr lang="en-US" dirty="0" smtClean="0"/>
              <a:t>	a) The life cycle allocation of time.</a:t>
            </a:r>
          </a:p>
          <a:p>
            <a:pPr marL="457200" indent="-457200" algn="just">
              <a:buNone/>
            </a:pPr>
            <a:r>
              <a:rPr lang="en-US" dirty="0" smtClean="0"/>
              <a:t>	b) Social security and private pension plans</a:t>
            </a:r>
          </a:p>
          <a:p>
            <a:pPr marL="457200" indent="-457200" algn="just">
              <a:buNone/>
            </a:pPr>
            <a:r>
              <a:rPr lang="en-US" dirty="0" smtClean="0"/>
              <a:t>	c) The growth in disability benefits</a:t>
            </a:r>
          </a:p>
          <a:p>
            <a:pPr marL="457200" indent="-457200" algn="just">
              <a:buNone/>
            </a:pPr>
            <a:r>
              <a:rPr lang="en-US" dirty="0" smtClean="0"/>
              <a:t>	d) Decreased demand for low-skilled workers.</a:t>
            </a:r>
          </a:p>
          <a:p>
            <a:pPr marL="457200" indent="-457200" algn="just">
              <a:buNone/>
            </a:pPr>
            <a:endParaRPr lang="en-US" dirty="0" smtClean="0"/>
          </a:p>
          <a:p>
            <a:pPr marL="457200" indent="-457200" algn="just">
              <a:buNone/>
            </a:pPr>
            <a:r>
              <a:rPr lang="en-US" dirty="0" smtClean="0"/>
              <a:t>2. Increase in female participation rates:</a:t>
            </a:r>
          </a:p>
          <a:p>
            <a:pPr marL="457200" indent="-457200" algn="just">
              <a:buNone/>
            </a:pPr>
            <a:r>
              <a:rPr lang="en-US" dirty="0" smtClean="0"/>
              <a:t>	a) Fertility</a:t>
            </a:r>
          </a:p>
          <a:p>
            <a:pPr marL="457200" indent="-457200" algn="just">
              <a:buNone/>
            </a:pPr>
            <a:r>
              <a:rPr lang="en-US" dirty="0" smtClean="0"/>
              <a:t>	b) Education</a:t>
            </a:r>
          </a:p>
          <a:p>
            <a:pPr marL="457200" indent="-457200" algn="just">
              <a:buNone/>
            </a:pPr>
            <a:r>
              <a:rPr lang="en-US" dirty="0" smtClean="0"/>
              <a:t>	c) Advancement in living standards</a:t>
            </a:r>
          </a:p>
          <a:p>
            <a:pPr marL="457200" indent="-457200" algn="just">
              <a:buNone/>
            </a:pPr>
            <a:r>
              <a:rPr lang="en-US" dirty="0" smtClean="0"/>
              <a:t>	d) Increased job opportunities for woman</a:t>
            </a:r>
          </a:p>
          <a:p>
            <a:pPr marL="457200" indent="-457200" algn="just">
              <a:buNone/>
            </a:pPr>
            <a:r>
              <a:rPr lang="en-US" dirty="0" smtClean="0"/>
              <a:t>	e) Changing Social Attitudes </a:t>
            </a:r>
          </a:p>
          <a:p>
            <a:pPr marL="457200" indent="-457200" algn="just">
              <a:buNone/>
            </a:pPr>
            <a:r>
              <a:rPr lang="en-US" dirty="0" smtClean="0"/>
              <a:t>	</a:t>
            </a:r>
          </a:p>
        </p:txBody>
      </p:sp>
    </p:spTree>
    <p:extLst>
      <p:ext uri="{BB962C8B-B14F-4D97-AF65-F5344CB8AC3E}">
        <p14:creationId xmlns:p14="http://schemas.microsoft.com/office/powerpoint/2010/main" val="36500051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pPr>
              <a:defRPr/>
            </a:pPr>
            <a:r>
              <a:rPr smtClean="0"/>
              <a:t>Business Cycle</a:t>
            </a:r>
            <a:endParaRPr/>
          </a:p>
        </p:txBody>
      </p:sp>
      <p:pic>
        <p:nvPicPr>
          <p:cNvPr id="12291" name="Picture 12" descr="Business Cycle | Intelligent Econom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3000"/>
            <a:ext cx="77724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63774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534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Labor Force Growth during recessions</a:t>
            </a:r>
            <a:endParaRPr lang="en-US" sz="3200" b="1" dirty="0">
              <a:solidFill>
                <a:schemeClr val="tx1"/>
              </a:solidFill>
            </a:endParaRPr>
          </a:p>
        </p:txBody>
      </p:sp>
      <p:sp>
        <p:nvSpPr>
          <p:cNvPr id="3" name="Content Placeholder 2"/>
          <p:cNvSpPr>
            <a:spLocks noGrp="1"/>
          </p:cNvSpPr>
          <p:nvPr>
            <p:ph sz="quarter" idx="1"/>
          </p:nvPr>
        </p:nvSpPr>
        <p:spPr>
          <a:xfrm>
            <a:off x="381000" y="1295400"/>
            <a:ext cx="8153400" cy="5334000"/>
          </a:xfrm>
          <a:solidFill>
            <a:schemeClr val="accent1">
              <a:lumMod val="20000"/>
              <a:lumOff val="80000"/>
            </a:schemeClr>
          </a:solidFill>
        </p:spPr>
        <p:txBody>
          <a:bodyPr>
            <a:normAutofit/>
          </a:bodyPr>
          <a:lstStyle/>
          <a:p>
            <a:pPr marL="457200" indent="-457200" algn="just">
              <a:buNone/>
            </a:pPr>
            <a:r>
              <a:rPr lang="en-US" dirty="0" smtClean="0"/>
              <a:t>The size of labor which will either expand or contract during periods of recession and depression depends on the following two effects:</a:t>
            </a:r>
          </a:p>
          <a:p>
            <a:pPr marL="457200" indent="-457200" algn="just">
              <a:buNone/>
            </a:pPr>
            <a:endParaRPr lang="en-US" sz="1000" dirty="0" smtClean="0"/>
          </a:p>
          <a:p>
            <a:pPr marL="457200" indent="-457200" algn="just">
              <a:buAutoNum type="arabicPeriod"/>
            </a:pPr>
            <a:r>
              <a:rPr lang="en-US" dirty="0" smtClean="0"/>
              <a:t>The Added Worker Effect</a:t>
            </a:r>
          </a:p>
          <a:p>
            <a:pPr marL="457200" indent="-457200" algn="just">
              <a:buAutoNum type="arabicPeriod"/>
            </a:pPr>
            <a:r>
              <a:rPr lang="en-US" dirty="0" smtClean="0"/>
              <a:t>The Discourage Worker Effect</a:t>
            </a:r>
          </a:p>
          <a:p>
            <a:pPr marL="457200" indent="-457200" algn="just">
              <a:buNone/>
            </a:pPr>
            <a:endParaRPr lang="en-US" sz="400" dirty="0" smtClean="0"/>
          </a:p>
          <a:p>
            <a:pPr marL="457200" indent="-457200" algn="just">
              <a:buNone/>
            </a:pPr>
            <a:r>
              <a:rPr lang="en-US" dirty="0" smtClean="0"/>
              <a:t>1. </a:t>
            </a:r>
            <a:r>
              <a:rPr lang="en-US" b="1" dirty="0" smtClean="0"/>
              <a:t>The Added Worker Effect</a:t>
            </a:r>
            <a:r>
              <a:rPr lang="en-US" dirty="0" smtClean="0"/>
              <a:t>: This effect leads to a temporary increase in the size of the labor force during recessions and depressions. </a:t>
            </a:r>
          </a:p>
          <a:p>
            <a:pPr marL="457200" indent="-457200" algn="just">
              <a:buNone/>
            </a:pPr>
            <a:r>
              <a:rPr lang="en-US" dirty="0" smtClean="0"/>
              <a:t>The Added Worker Effect, therefore, represents the temporary entrance into the labor force of ‘secondary’ workers (wife or teenage children) in response to the unemployment of the primary head of household.</a:t>
            </a:r>
          </a:p>
        </p:txBody>
      </p:sp>
    </p:spTree>
    <p:extLst>
      <p:ext uri="{BB962C8B-B14F-4D97-AF65-F5344CB8AC3E}">
        <p14:creationId xmlns:p14="http://schemas.microsoft.com/office/powerpoint/2010/main" val="37741212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534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Labor Force Growth during recessions</a:t>
            </a:r>
            <a:endParaRPr lang="en-US" sz="3200" b="1" dirty="0">
              <a:solidFill>
                <a:schemeClr val="tx1"/>
              </a:solidFill>
            </a:endParaRPr>
          </a:p>
        </p:txBody>
      </p:sp>
      <p:sp>
        <p:nvSpPr>
          <p:cNvPr id="3" name="Content Placeholder 2"/>
          <p:cNvSpPr>
            <a:spLocks noGrp="1"/>
          </p:cNvSpPr>
          <p:nvPr>
            <p:ph sz="quarter" idx="1"/>
          </p:nvPr>
        </p:nvSpPr>
        <p:spPr>
          <a:xfrm>
            <a:off x="381000" y="1295400"/>
            <a:ext cx="8153400" cy="5334000"/>
          </a:xfrm>
          <a:solidFill>
            <a:schemeClr val="accent1">
              <a:lumMod val="20000"/>
              <a:lumOff val="80000"/>
            </a:schemeClr>
          </a:solidFill>
        </p:spPr>
        <p:txBody>
          <a:bodyPr>
            <a:normAutofit/>
          </a:bodyPr>
          <a:lstStyle/>
          <a:p>
            <a:pPr marL="457200" indent="-457200" algn="just">
              <a:buAutoNum type="arabicPeriod"/>
            </a:pPr>
            <a:r>
              <a:rPr lang="en-US" b="1" dirty="0" smtClean="0"/>
              <a:t>The Added Worker Effect</a:t>
            </a:r>
            <a:r>
              <a:rPr lang="en-US" dirty="0" smtClean="0"/>
              <a:t>: </a:t>
            </a:r>
          </a:p>
          <a:p>
            <a:pPr marL="0" indent="0" algn="just">
              <a:buNone/>
            </a:pPr>
            <a:r>
              <a:rPr lang="en-US" dirty="0" smtClean="0"/>
              <a:t>The loss of the husband’s earnings results in a large decrease in income for the entire family, setting off a pure negative income effect for the other family members. </a:t>
            </a:r>
          </a:p>
          <a:p>
            <a:pPr marL="0" indent="0" algn="just">
              <a:buNone/>
            </a:pPr>
            <a:r>
              <a:rPr lang="en-US" dirty="0" smtClean="0"/>
              <a:t>Assuming that leisure is a normal good, the reduction in family income will lead to a decreased demand for leisure and a greater supply of labor as the wife or teenaged children seek work to supplement the family income.</a:t>
            </a:r>
          </a:p>
          <a:p>
            <a:pPr marL="0" indent="0" algn="just">
              <a:buNone/>
            </a:pPr>
            <a:r>
              <a:rPr lang="en-US" dirty="0" smtClean="0"/>
              <a:t>From wife’s point of view, as her non-labor income is reduced her reservation wage decline, and at some points she finds it advantageous to join the labor force.</a:t>
            </a:r>
          </a:p>
        </p:txBody>
      </p:sp>
    </p:spTree>
    <p:extLst>
      <p:ext uri="{BB962C8B-B14F-4D97-AF65-F5344CB8AC3E}">
        <p14:creationId xmlns:p14="http://schemas.microsoft.com/office/powerpoint/2010/main" val="21901878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534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Labor Force Growth during recessions</a:t>
            </a:r>
            <a:endParaRPr lang="en-US" sz="3200" b="1" dirty="0">
              <a:solidFill>
                <a:schemeClr val="tx1"/>
              </a:solidFill>
            </a:endParaRPr>
          </a:p>
        </p:txBody>
      </p:sp>
      <p:sp>
        <p:nvSpPr>
          <p:cNvPr id="3" name="Content Placeholder 2"/>
          <p:cNvSpPr>
            <a:spLocks noGrp="1"/>
          </p:cNvSpPr>
          <p:nvPr>
            <p:ph sz="quarter" idx="1"/>
          </p:nvPr>
        </p:nvSpPr>
        <p:spPr>
          <a:xfrm>
            <a:off x="381000" y="1295400"/>
            <a:ext cx="8077200" cy="5105400"/>
          </a:xfrm>
          <a:solidFill>
            <a:schemeClr val="accent1">
              <a:lumMod val="20000"/>
              <a:lumOff val="80000"/>
            </a:schemeClr>
          </a:solidFill>
        </p:spPr>
        <p:txBody>
          <a:bodyPr>
            <a:normAutofit/>
          </a:bodyPr>
          <a:lstStyle/>
          <a:p>
            <a:pPr marL="457200" indent="-457200" algn="just">
              <a:buAutoNum type="arabicPeriod"/>
            </a:pPr>
            <a:r>
              <a:rPr lang="en-US" b="1" dirty="0" smtClean="0"/>
              <a:t>The Added Worker Effect</a:t>
            </a:r>
            <a:r>
              <a:rPr lang="en-US" dirty="0" smtClean="0"/>
              <a:t>:</a:t>
            </a:r>
          </a:p>
          <a:p>
            <a:pPr marL="0" indent="0" algn="just">
              <a:buNone/>
            </a:pPr>
            <a:endParaRPr lang="en-US" dirty="0" smtClean="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028470"/>
            <a:ext cx="6858000" cy="4372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6838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534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Labor Force Growth during recessions</a:t>
            </a:r>
            <a:endParaRPr lang="en-US" sz="3200" b="1" dirty="0">
              <a:solidFill>
                <a:schemeClr val="tx1"/>
              </a:solidFill>
            </a:endParaRPr>
          </a:p>
        </p:txBody>
      </p:sp>
      <p:sp>
        <p:nvSpPr>
          <p:cNvPr id="3" name="Content Placeholder 2"/>
          <p:cNvSpPr>
            <a:spLocks noGrp="1"/>
          </p:cNvSpPr>
          <p:nvPr>
            <p:ph sz="quarter" idx="1"/>
          </p:nvPr>
        </p:nvSpPr>
        <p:spPr>
          <a:xfrm>
            <a:off x="381000" y="1295400"/>
            <a:ext cx="8153400" cy="5334000"/>
          </a:xfrm>
          <a:solidFill>
            <a:schemeClr val="accent1">
              <a:lumMod val="20000"/>
              <a:lumOff val="80000"/>
            </a:schemeClr>
          </a:solidFill>
        </p:spPr>
        <p:txBody>
          <a:bodyPr>
            <a:normAutofit/>
          </a:bodyPr>
          <a:lstStyle/>
          <a:p>
            <a:pPr marL="457200" indent="-457200" algn="just">
              <a:buNone/>
            </a:pPr>
            <a:r>
              <a:rPr lang="en-US" b="1" dirty="0" smtClean="0"/>
              <a:t>2.) The Discourage Worker Effect:</a:t>
            </a:r>
          </a:p>
          <a:p>
            <a:pPr marL="457200" indent="-457200" algn="just">
              <a:buNone/>
            </a:pPr>
            <a:r>
              <a:rPr lang="en-US" dirty="0" smtClean="0"/>
              <a:t>The positive impact on labor force growth of the added worker effect is offset by the simultaneous occurrence during recessions of the discourage worker effect.</a:t>
            </a:r>
          </a:p>
          <a:p>
            <a:pPr marL="457200" indent="-457200" algn="just">
              <a:buNone/>
            </a:pPr>
            <a:r>
              <a:rPr lang="en-US" dirty="0" smtClean="0"/>
              <a:t>Suppose, individual’s ongoing market wage is W</a:t>
            </a:r>
            <a:r>
              <a:rPr lang="en-US" sz="1400" b="1" dirty="0" smtClean="0"/>
              <a:t>1 </a:t>
            </a:r>
            <a:r>
              <a:rPr lang="en-US" dirty="0" smtClean="0"/>
              <a:t>per hour.</a:t>
            </a:r>
          </a:p>
          <a:p>
            <a:pPr marL="457200" indent="-457200" algn="just">
              <a:buNone/>
            </a:pPr>
            <a:r>
              <a:rPr lang="en-US" dirty="0" smtClean="0"/>
              <a:t>The budget constraint is AB and hours of work per week are H</a:t>
            </a:r>
            <a:r>
              <a:rPr lang="en-US" sz="1600" dirty="0" smtClean="0"/>
              <a:t>1</a:t>
            </a:r>
            <a:r>
              <a:rPr lang="en-US" dirty="0" smtClean="0"/>
              <a:t>.</a:t>
            </a:r>
          </a:p>
          <a:p>
            <a:pPr marL="457200" indent="-457200" algn="just">
              <a:buNone/>
            </a:pPr>
            <a:r>
              <a:rPr lang="en-US" dirty="0" smtClean="0"/>
              <a:t>Assume that a recession begins and the person is laid off from his or her job, however, each hour spent in the labor force does </a:t>
            </a:r>
            <a:r>
              <a:rPr lang="en-US" dirty="0"/>
              <a:t>not pay </a:t>
            </a:r>
            <a:r>
              <a:rPr lang="en-US" dirty="0" smtClean="0"/>
              <a:t>W</a:t>
            </a:r>
            <a:r>
              <a:rPr lang="en-US" sz="1400" b="1" dirty="0" smtClean="0"/>
              <a:t>1</a:t>
            </a:r>
            <a:r>
              <a:rPr lang="en-US" dirty="0" smtClean="0"/>
              <a:t>, but some lesser amount.</a:t>
            </a:r>
          </a:p>
        </p:txBody>
      </p:sp>
    </p:spTree>
    <p:extLst>
      <p:ext uri="{BB962C8B-B14F-4D97-AF65-F5344CB8AC3E}">
        <p14:creationId xmlns:p14="http://schemas.microsoft.com/office/powerpoint/2010/main" val="37449658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534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Labor Force Growth during recessions</a:t>
            </a:r>
            <a:endParaRPr lang="en-US" sz="3200" b="1" dirty="0">
              <a:solidFill>
                <a:schemeClr val="tx1"/>
              </a:solidFill>
            </a:endParaRPr>
          </a:p>
        </p:txBody>
      </p:sp>
      <p:sp>
        <p:nvSpPr>
          <p:cNvPr id="3" name="Content Placeholder 2"/>
          <p:cNvSpPr>
            <a:spLocks noGrp="1"/>
          </p:cNvSpPr>
          <p:nvPr>
            <p:ph sz="quarter" idx="1"/>
          </p:nvPr>
        </p:nvSpPr>
        <p:spPr>
          <a:xfrm>
            <a:off x="381000" y="1295400"/>
            <a:ext cx="8153400" cy="5334000"/>
          </a:xfrm>
          <a:solidFill>
            <a:schemeClr val="accent1">
              <a:lumMod val="20000"/>
              <a:lumOff val="80000"/>
            </a:schemeClr>
          </a:solidFill>
        </p:spPr>
        <p:txBody>
          <a:bodyPr>
            <a:normAutofit/>
          </a:bodyPr>
          <a:lstStyle/>
          <a:p>
            <a:pPr marL="457200" indent="-457200" algn="just">
              <a:buNone/>
            </a:pPr>
            <a:r>
              <a:rPr lang="en-US" b="1" dirty="0" smtClean="0"/>
              <a:t>2.) The Discourage Worker Effect:</a:t>
            </a:r>
          </a:p>
          <a:p>
            <a:pPr marL="457200" indent="-457200" algn="just">
              <a:buNone/>
            </a:pPr>
            <a:r>
              <a:rPr lang="en-US" dirty="0" smtClean="0"/>
              <a:t>The lesser amount of wage is equal to E(W</a:t>
            </a:r>
            <a:r>
              <a:rPr lang="en-US" sz="1400" dirty="0" smtClean="0"/>
              <a:t>1</a:t>
            </a:r>
            <a:r>
              <a:rPr lang="en-US" dirty="0" smtClean="0"/>
              <a:t>), the expected value of wage. In equation, this expected value is equal to: </a:t>
            </a:r>
            <a:r>
              <a:rPr lang="en-US" b="1" dirty="0" smtClean="0"/>
              <a:t>E(W</a:t>
            </a:r>
            <a:r>
              <a:rPr lang="en-US" sz="1400" b="1" dirty="0" smtClean="0"/>
              <a:t>1</a:t>
            </a:r>
            <a:r>
              <a:rPr lang="en-US" b="1" dirty="0" smtClean="0"/>
              <a:t>)= pW</a:t>
            </a:r>
            <a:r>
              <a:rPr lang="en-US" sz="1600" b="1" dirty="0" smtClean="0"/>
              <a:t>1</a:t>
            </a:r>
          </a:p>
          <a:p>
            <a:pPr marL="457200" indent="-457200" algn="just">
              <a:buNone/>
            </a:pPr>
            <a:r>
              <a:rPr lang="en-US" dirty="0" smtClean="0"/>
              <a:t>Where p is the probability of finding another job paying W</a:t>
            </a:r>
            <a:r>
              <a:rPr lang="en-US" sz="1600" dirty="0" smtClean="0"/>
              <a:t>1</a:t>
            </a:r>
            <a:r>
              <a:rPr lang="en-US" sz="1600" b="1" dirty="0" smtClean="0"/>
              <a:t>. </a:t>
            </a:r>
          </a:p>
          <a:p>
            <a:pPr marL="457200" indent="-457200" algn="just">
              <a:buNone/>
            </a:pPr>
            <a:r>
              <a:rPr lang="en-US" dirty="0" smtClean="0"/>
              <a:t>If W</a:t>
            </a:r>
            <a:r>
              <a:rPr lang="en-US" sz="1600" dirty="0" smtClean="0"/>
              <a:t>1</a:t>
            </a:r>
            <a:r>
              <a:rPr lang="en-US" dirty="0" smtClean="0"/>
              <a:t>= $8 and there is a 50% chance of  obtaining such a job (p= 0.5), the average return the unemployed worker can expect from this hour in the labor force is only 0.5x$8= $4. </a:t>
            </a:r>
          </a:p>
          <a:p>
            <a:pPr marL="457200" indent="-457200" algn="just">
              <a:buNone/>
            </a:pPr>
            <a:r>
              <a:rPr lang="en-US" dirty="0" smtClean="0"/>
              <a:t>For someone without a job, the opportunity cost of not working is only </a:t>
            </a:r>
            <a:r>
              <a:rPr lang="en-US" b="1" dirty="0" smtClean="0"/>
              <a:t>E(W</a:t>
            </a:r>
            <a:r>
              <a:rPr lang="en-US" sz="1400" b="1" dirty="0" smtClean="0"/>
              <a:t>1</a:t>
            </a:r>
            <a:r>
              <a:rPr lang="en-US" b="1" dirty="0" smtClean="0"/>
              <a:t>), not W</a:t>
            </a:r>
            <a:r>
              <a:rPr lang="en-US" sz="1600" b="1" dirty="0" smtClean="0"/>
              <a:t>1</a:t>
            </a:r>
            <a:endParaRPr lang="en-US" dirty="0" smtClean="0"/>
          </a:p>
        </p:txBody>
      </p:sp>
    </p:spTree>
    <p:extLst>
      <p:ext uri="{BB962C8B-B14F-4D97-AF65-F5344CB8AC3E}">
        <p14:creationId xmlns:p14="http://schemas.microsoft.com/office/powerpoint/2010/main" val="452242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53400" cy="457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a:t>2.) The Discourage Worker </a:t>
            </a:r>
            <a:r>
              <a:rPr lang="en-US" sz="3200" b="1" dirty="0" smtClean="0"/>
              <a:t>Effect</a:t>
            </a:r>
            <a:endParaRPr lang="en-US" sz="3200" b="1" dirty="0">
              <a:solidFill>
                <a:schemeClr val="tx1"/>
              </a:solidFill>
            </a:endParaRPr>
          </a:p>
        </p:txBody>
      </p:sp>
      <p:sp>
        <p:nvSpPr>
          <p:cNvPr id="3" name="Content Placeholder 2"/>
          <p:cNvSpPr>
            <a:spLocks noGrp="1"/>
          </p:cNvSpPr>
          <p:nvPr>
            <p:ph sz="quarter" idx="1"/>
          </p:nvPr>
        </p:nvSpPr>
        <p:spPr>
          <a:xfrm>
            <a:off x="381000" y="762000"/>
            <a:ext cx="8153400" cy="5867400"/>
          </a:xfrm>
          <a:solidFill>
            <a:schemeClr val="accent1">
              <a:lumMod val="20000"/>
              <a:lumOff val="80000"/>
            </a:schemeClr>
          </a:solidFill>
        </p:spPr>
        <p:txBody>
          <a:bodyPr>
            <a:normAutofit/>
          </a:bodyPr>
          <a:lstStyle/>
          <a:p>
            <a:pPr marL="457200" indent="-457200" algn="just">
              <a:buNone/>
            </a:pPr>
            <a:r>
              <a:rPr lang="en-US" dirty="0" smtClean="0"/>
              <a:t>If the probability of finding a job is sufficiently low, the expected value of wage will fall below the person’s reservation wage, and he or she will give up the job search altogether and drop out of the labor force.</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286000"/>
            <a:ext cx="64770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15047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4037</TotalTime>
  <Words>1798</Words>
  <Application>Microsoft Office PowerPoint</Application>
  <PresentationFormat>On-screen Show (4:3)</PresentationFormat>
  <Paragraphs>138</Paragraphs>
  <Slides>25</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Oriel</vt:lpstr>
      <vt:lpstr>Equation</vt:lpstr>
      <vt:lpstr>Chapter 3   Labor force participation</vt:lpstr>
      <vt:lpstr>Definition and Measurement of Labor Force</vt:lpstr>
      <vt:lpstr>Definition and Measurement of Labor Force</vt:lpstr>
      <vt:lpstr>Definition and Measurement of Labor Force</vt:lpstr>
      <vt:lpstr>Definition and Measurement of Labor Force</vt:lpstr>
      <vt:lpstr>Definition and Measurement of Labor Force</vt:lpstr>
      <vt:lpstr>Decision to Work</vt:lpstr>
      <vt:lpstr>A corner solution and non-participation in the labor force</vt:lpstr>
      <vt:lpstr>The Effect on Participation of a Change in the Wage Rate</vt:lpstr>
      <vt:lpstr>The effect of participation of A Change in the wage rate</vt:lpstr>
      <vt:lpstr>Participation and Changes in  Non-labor Income</vt:lpstr>
      <vt:lpstr>A Household model of labor supply</vt:lpstr>
      <vt:lpstr>A Household model of labor supply</vt:lpstr>
      <vt:lpstr>A Household model of labor supply</vt:lpstr>
      <vt:lpstr>A Household model of labor supply</vt:lpstr>
      <vt:lpstr>A Household model of labor supply</vt:lpstr>
      <vt:lpstr>A Household model of labor supply</vt:lpstr>
      <vt:lpstr>Changes in participation over time</vt:lpstr>
      <vt:lpstr>Business Cycle</vt:lpstr>
      <vt:lpstr>Labor Force Growth during recessions</vt:lpstr>
      <vt:lpstr>Labor Force Growth during recessions</vt:lpstr>
      <vt:lpstr>Labor Force Growth during recessions</vt:lpstr>
      <vt:lpstr>Labor Force Growth during recessions</vt:lpstr>
      <vt:lpstr>Labor Force Growth during recessions</vt:lpstr>
      <vt:lpstr>2.) The Discourage Worker Effect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Conduct of Monetary Policy: Tools, Goals, Strategy, and Tactics</dc:title>
  <dc:creator>user</dc:creator>
  <cp:lastModifiedBy>Windows User</cp:lastModifiedBy>
  <cp:revision>224</cp:revision>
  <dcterms:created xsi:type="dcterms:W3CDTF">2018-04-08T16:39:12Z</dcterms:created>
  <dcterms:modified xsi:type="dcterms:W3CDTF">2022-09-08T02:19:29Z</dcterms:modified>
</cp:coreProperties>
</file>