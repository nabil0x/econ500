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36" r:id="rId21"/>
    <p:sldId id="324" r:id="rId22"/>
    <p:sldId id="325" r:id="rId23"/>
    <p:sldId id="326" r:id="rId24"/>
    <p:sldId id="327" r:id="rId25"/>
    <p:sldId id="333" r:id="rId26"/>
    <p:sldId id="328" r:id="rId27"/>
    <p:sldId id="334" r:id="rId28"/>
    <p:sldId id="335" r:id="rId29"/>
    <p:sldId id="329" r:id="rId30"/>
    <p:sldId id="330" r:id="rId31"/>
    <p:sldId id="331" r:id="rId32"/>
    <p:sldId id="332"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6BBFB-1FA1-47F0-B754-665758543D90}" type="datetimeFigureOut">
              <a:rPr lang="en-US" smtClean="0"/>
              <a:pPr/>
              <a:t>6/28/2021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61856A-F4E1-4BD0-98EE-E2E6F68B468F}" type="slidenum">
              <a:rPr lang="en-US" smtClean="0"/>
              <a:pPr/>
              <a:t>‹#›</a:t>
            </a:fld>
            <a:endParaRPr lang="en-US"/>
          </a:p>
        </p:txBody>
      </p:sp>
    </p:spTree>
    <p:extLst>
      <p:ext uri="{BB962C8B-B14F-4D97-AF65-F5344CB8AC3E}">
        <p14:creationId xmlns:p14="http://schemas.microsoft.com/office/powerpoint/2010/main" val="2810295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061856A-F4E1-4BD0-98EE-E2E6F68B468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BCBC5D6-258E-4EE7-934E-04D162054CF0}" type="datetimeFigureOut">
              <a:rPr lang="en-US" smtClean="0"/>
              <a:pPr/>
              <a:t>6/28/2021</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676C59F-4DD3-4BF4-891B-84E8AA5885A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BCBC5D6-258E-4EE7-934E-04D162054CF0}" type="datetimeFigureOut">
              <a:rPr lang="en-US" smtClean="0"/>
              <a:pPr/>
              <a:t>6/28/2021</a:t>
            </a:fld>
            <a:endParaRPr lang="en-US"/>
          </a:p>
        </p:txBody>
      </p:sp>
      <p:sp>
        <p:nvSpPr>
          <p:cNvPr id="9" name="Slide Number Placeholder 8"/>
          <p:cNvSpPr>
            <a:spLocks noGrp="1"/>
          </p:cNvSpPr>
          <p:nvPr>
            <p:ph type="sldNum" sz="quarter" idx="15"/>
          </p:nvPr>
        </p:nvSpPr>
        <p:spPr/>
        <p:txBody>
          <a:bodyPr rtlCol="0"/>
          <a:lstStyle/>
          <a:p>
            <a:fld id="{3676C59F-4DD3-4BF4-891B-84E8AA5885A1}"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BCBC5D6-258E-4EE7-934E-04D162054CF0}" type="datetimeFigureOut">
              <a:rPr lang="en-US" smtClean="0"/>
              <a:pPr/>
              <a:t>6/28/2021</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676C59F-4DD3-4BF4-891B-84E8AA5885A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BCBC5D6-258E-4EE7-934E-04D162054CF0}" type="datetimeFigureOut">
              <a:rPr lang="en-US" smtClean="0"/>
              <a:pPr/>
              <a:t>6/28/2021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6C59F-4DD3-4BF4-891B-84E8AA5885A1}"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BCBC5D6-258E-4EE7-934E-04D162054CF0}" type="datetimeFigureOut">
              <a:rPr lang="en-US" smtClean="0"/>
              <a:pPr/>
              <a:t>6/28/2021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6C59F-4DD3-4BF4-891B-84E8AA5885A1}"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BCBC5D6-258E-4EE7-934E-04D162054CF0}" type="datetimeFigureOut">
              <a:rPr lang="en-US" smtClean="0"/>
              <a:pPr/>
              <a:t>6/28/2021</a:t>
            </a:fld>
            <a:endParaRPr lang="en-US"/>
          </a:p>
        </p:txBody>
      </p:sp>
      <p:sp>
        <p:nvSpPr>
          <p:cNvPr id="7" name="Slide Number Placeholder 6"/>
          <p:cNvSpPr>
            <a:spLocks noGrp="1"/>
          </p:cNvSpPr>
          <p:nvPr>
            <p:ph type="sldNum" sz="quarter" idx="11"/>
          </p:nvPr>
        </p:nvSpPr>
        <p:spPr/>
        <p:txBody>
          <a:bodyPr rtlCol="0"/>
          <a:lstStyle/>
          <a:p>
            <a:fld id="{3676C59F-4DD3-4BF4-891B-84E8AA5885A1}"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C5D6-258E-4EE7-934E-04D162054CF0}" type="datetimeFigureOut">
              <a:rPr lang="en-US" smtClean="0"/>
              <a:pPr/>
              <a:t>6/28/2021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BCBC5D6-258E-4EE7-934E-04D162054CF0}" type="datetimeFigureOut">
              <a:rPr lang="en-US" smtClean="0"/>
              <a:pPr/>
              <a:t>6/28/2021</a:t>
            </a:fld>
            <a:endParaRPr lang="en-US"/>
          </a:p>
        </p:txBody>
      </p:sp>
      <p:sp>
        <p:nvSpPr>
          <p:cNvPr id="22" name="Slide Number Placeholder 21"/>
          <p:cNvSpPr>
            <a:spLocks noGrp="1"/>
          </p:cNvSpPr>
          <p:nvPr>
            <p:ph type="sldNum" sz="quarter" idx="15"/>
          </p:nvPr>
        </p:nvSpPr>
        <p:spPr/>
        <p:txBody>
          <a:bodyPr rtlCol="0"/>
          <a:lstStyle/>
          <a:p>
            <a:fld id="{3676C59F-4DD3-4BF4-891B-84E8AA5885A1}"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BCBC5D6-258E-4EE7-934E-04D162054CF0}" type="datetimeFigureOut">
              <a:rPr lang="en-US" smtClean="0"/>
              <a:pPr/>
              <a:t>6/28/2021</a:t>
            </a:fld>
            <a:endParaRPr lang="en-US"/>
          </a:p>
        </p:txBody>
      </p:sp>
      <p:sp>
        <p:nvSpPr>
          <p:cNvPr id="18" name="Slide Number Placeholder 17"/>
          <p:cNvSpPr>
            <a:spLocks noGrp="1"/>
          </p:cNvSpPr>
          <p:nvPr>
            <p:ph type="sldNum" sz="quarter" idx="11"/>
          </p:nvPr>
        </p:nvSpPr>
        <p:spPr/>
        <p:txBody>
          <a:bodyPr rtlCol="0"/>
          <a:lstStyle/>
          <a:p>
            <a:fld id="{3676C59F-4DD3-4BF4-891B-84E8AA5885A1}"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6/28/2021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6/28/2021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BCBC5D6-258E-4EE7-934E-04D162054CF0}" type="datetimeFigureOut">
              <a:rPr lang="en-US" smtClean="0"/>
              <a:pPr/>
              <a:t>6/28/2021</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676C59F-4DD3-4BF4-891B-84E8AA5885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381000"/>
            <a:ext cx="6553200" cy="3962400"/>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smtClean="0"/>
              <a:t>Chapter </a:t>
            </a:r>
            <a:r>
              <a:rPr lang="en-US" sz="6600" dirty="0" smtClean="0"/>
              <a:t>4</a:t>
            </a:r>
            <a:r>
              <a:rPr lang="en-US" dirty="0" smtClean="0"/>
              <a:t/>
            </a:r>
            <a:br>
              <a:rPr lang="en-US" dirty="0" smtClean="0"/>
            </a:br>
            <a:r>
              <a:rPr lang="en-US" dirty="0"/>
              <a:t/>
            </a:r>
            <a:br>
              <a:rPr lang="en-US" dirty="0"/>
            </a:br>
            <a:r>
              <a:rPr lang="en-US" dirty="0" smtClean="0"/>
              <a:t/>
            </a:r>
            <a:br>
              <a:rPr lang="en-US" dirty="0" smtClean="0"/>
            </a:br>
            <a:r>
              <a:rPr lang="en-US" dirty="0" smtClean="0"/>
              <a:t>The demand for labor in the short run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dirty="0" smtClean="0"/>
              <a:t>	To develop the neoclassical marginal productivity  model, several simplifying assumptions must be made:  </a:t>
            </a:r>
          </a:p>
          <a:p>
            <a:pPr algn="just">
              <a:buNone/>
            </a:pPr>
            <a:r>
              <a:rPr lang="en-US" dirty="0" smtClean="0"/>
              <a:t>	</a:t>
            </a:r>
            <a:r>
              <a:rPr lang="en-US" b="1" dirty="0" smtClean="0">
                <a:solidFill>
                  <a:schemeClr val="accent3">
                    <a:lumMod val="75000"/>
                  </a:schemeClr>
                </a:solidFill>
              </a:rPr>
              <a:t>First:</a:t>
            </a:r>
            <a:r>
              <a:rPr lang="en-US" dirty="0" smtClean="0">
                <a:solidFill>
                  <a:schemeClr val="accent3">
                    <a:lumMod val="75000"/>
                  </a:schemeClr>
                </a:solidFill>
              </a:rPr>
              <a:t> </a:t>
            </a:r>
            <a:r>
              <a:rPr lang="en-US" dirty="0" smtClean="0"/>
              <a:t>the goal of business firms is to maximize dollar profits.</a:t>
            </a:r>
          </a:p>
          <a:p>
            <a:pPr algn="just">
              <a:buNone/>
            </a:pPr>
            <a:r>
              <a:rPr lang="en-US" dirty="0" smtClean="0"/>
              <a:t>	</a:t>
            </a:r>
            <a:r>
              <a:rPr lang="en-US" b="1" dirty="0" smtClean="0">
                <a:solidFill>
                  <a:schemeClr val="accent3">
                    <a:lumMod val="75000"/>
                  </a:schemeClr>
                </a:solidFill>
              </a:rPr>
              <a:t>Second:</a:t>
            </a:r>
            <a:r>
              <a:rPr lang="en-US" b="1" dirty="0" smtClean="0"/>
              <a:t> </a:t>
            </a:r>
            <a:r>
              <a:rPr lang="en-US" dirty="0" smtClean="0"/>
              <a:t>in order to simplify the graphic analysis, it is assumed that the firm uses only two factors of production, capital and labor, to produce its product.</a:t>
            </a:r>
          </a:p>
          <a:p>
            <a:pPr algn="just">
              <a:buNone/>
            </a:pPr>
            <a:r>
              <a:rPr lang="en-US" dirty="0" smtClean="0"/>
              <a:t>	</a:t>
            </a:r>
            <a:r>
              <a:rPr lang="en-US" b="1" dirty="0" smtClean="0">
                <a:solidFill>
                  <a:schemeClr val="accent3">
                    <a:lumMod val="75000"/>
                  </a:schemeClr>
                </a:solidFill>
              </a:rPr>
              <a:t>Third:</a:t>
            </a:r>
            <a:r>
              <a:rPr lang="en-US" dirty="0" smtClean="0">
                <a:solidFill>
                  <a:schemeClr val="accent3">
                    <a:lumMod val="75000"/>
                  </a:schemeClr>
                </a:solidFill>
              </a:rPr>
              <a:t> </a:t>
            </a:r>
            <a:r>
              <a:rPr lang="en-US" dirty="0" smtClean="0"/>
              <a:t>The business firm  operates in perfectly competitive product and labor markets.</a:t>
            </a:r>
          </a:p>
          <a:p>
            <a:pPr algn="just">
              <a:buNone/>
            </a:pPr>
            <a:r>
              <a:rPr lang="en-US" dirty="0" smtClean="0"/>
              <a:t>	</a:t>
            </a:r>
            <a:r>
              <a:rPr lang="en-US" b="1" dirty="0" smtClean="0">
                <a:solidFill>
                  <a:schemeClr val="accent3">
                    <a:lumMod val="75000"/>
                  </a:schemeClr>
                </a:solidFill>
              </a:rPr>
              <a:t>Finally:</a:t>
            </a:r>
            <a:r>
              <a:rPr lang="en-US" dirty="0" smtClean="0">
                <a:solidFill>
                  <a:schemeClr val="accent3">
                    <a:lumMod val="75000"/>
                  </a:schemeClr>
                </a:solidFill>
              </a:rPr>
              <a:t> </a:t>
            </a:r>
            <a:r>
              <a:rPr lang="en-US" dirty="0" smtClean="0"/>
              <a:t>wages represent the only cost of labor and that labor is completely homogeneous, meaning that each worker  is identical.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b="1" dirty="0" smtClean="0"/>
              <a:t>Q. How many workers should a business firm hire? </a:t>
            </a:r>
          </a:p>
          <a:p>
            <a:pPr algn="just">
              <a:buNone/>
            </a:pPr>
            <a:r>
              <a:rPr lang="en-US" dirty="0" smtClean="0"/>
              <a:t>As long as additional workers bring in more revenue than the cost of hiring them, the firm adds of its profit by increasing employment; when the last worker added by the firm brings in revenue no greater than the labor cost, hiring should stop and profits will be at a maximum.`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b="1" dirty="0" smtClean="0"/>
              <a:t>Production Function: </a:t>
            </a:r>
            <a:r>
              <a:rPr lang="en-US" dirty="0" smtClean="0"/>
              <a:t> Q = f (K, L)</a:t>
            </a:r>
          </a:p>
          <a:p>
            <a:pPr algn="just">
              <a:buNone/>
            </a:pPr>
            <a:r>
              <a:rPr lang="en-US" dirty="0" smtClean="0"/>
              <a:t>Since the amount of capital is fixed in the short run, additional output can be produced by the firm only hiring additional workers. Holding capital constant, production function implies the increase in output that would result from these extra workers.</a:t>
            </a:r>
          </a:p>
          <a:p>
            <a:pPr algn="just">
              <a:buNone/>
            </a:pPr>
            <a:r>
              <a:rPr lang="en-US" b="1" dirty="0" smtClean="0"/>
              <a:t>Marginal Product of Labor: </a:t>
            </a:r>
          </a:p>
          <a:p>
            <a:pPr algn="just">
              <a:buNone/>
            </a:pPr>
            <a:r>
              <a:rPr lang="en-US" b="1" dirty="0"/>
              <a:t>	</a:t>
            </a:r>
            <a:r>
              <a:rPr lang="en-US" b="1" dirty="0" smtClean="0"/>
              <a:t>			MP</a:t>
            </a:r>
            <a:r>
              <a:rPr lang="en-US" sz="1400" b="1" dirty="0" smtClean="0"/>
              <a:t>L</a:t>
            </a:r>
            <a:r>
              <a:rPr lang="en-US" b="1" dirty="0" smtClean="0"/>
              <a:t>= ∆Q </a:t>
            </a:r>
            <a:r>
              <a:rPr lang="en-US" b="1" dirty="0"/>
              <a:t>/ </a:t>
            </a:r>
            <a:r>
              <a:rPr lang="en-US" b="1" dirty="0" smtClean="0"/>
              <a:t>∆L</a:t>
            </a:r>
          </a:p>
          <a:p>
            <a:pPr algn="just">
              <a:buNone/>
            </a:pPr>
            <a:r>
              <a:rPr lang="en-US" b="1" dirty="0" smtClean="0"/>
              <a:t>That is- </a:t>
            </a:r>
            <a:r>
              <a:rPr lang="en-US" dirty="0" smtClean="0"/>
              <a:t>the marginal product of labor is defined as the increase in total </a:t>
            </a:r>
            <a:r>
              <a:rPr lang="en-US" dirty="0"/>
              <a:t>production (∆Q) </a:t>
            </a:r>
            <a:r>
              <a:rPr lang="en-US" dirty="0" smtClean="0"/>
              <a:t>from adding one more unit of </a:t>
            </a:r>
            <a:r>
              <a:rPr lang="en-US" dirty="0"/>
              <a:t>labor (∆L)</a:t>
            </a:r>
            <a:endParaRPr lang="en-US" dirty="0" smtClean="0"/>
          </a:p>
        </p:txBody>
      </p:sp>
    </p:spTree>
    <p:extLst>
      <p:ext uri="{BB962C8B-B14F-4D97-AF65-F5344CB8AC3E}">
        <p14:creationId xmlns:p14="http://schemas.microsoft.com/office/powerpoint/2010/main" val="2243939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b="1" dirty="0" smtClean="0"/>
              <a:t>Law of Diminishing Return:</a:t>
            </a:r>
          </a:p>
          <a:p>
            <a:pPr algn="just">
              <a:buNone/>
            </a:pPr>
            <a:r>
              <a:rPr lang="en-US" b="1" i="1" dirty="0" smtClean="0">
                <a:solidFill>
                  <a:srgbClr val="0070C0"/>
                </a:solidFill>
              </a:rPr>
              <a:t>It states that, holding one factor of production constant, adding additional units of another factor will increase production, but eventually only at a diminishing rate</a:t>
            </a:r>
            <a:r>
              <a:rPr lang="en-US" b="1" dirty="0" smtClean="0">
                <a:solidFill>
                  <a:srgbClr val="0070C0"/>
                </a:solidFill>
              </a:rPr>
              <a:t>.</a:t>
            </a:r>
          </a:p>
          <a:p>
            <a:pPr algn="just">
              <a:buNone/>
            </a:pPr>
            <a:r>
              <a:rPr lang="en-US" b="1" dirty="0" smtClean="0"/>
              <a:t>Average product of Labor: AP</a:t>
            </a:r>
            <a:r>
              <a:rPr lang="en-US" sz="1400" b="1" dirty="0" smtClean="0"/>
              <a:t>L</a:t>
            </a:r>
            <a:r>
              <a:rPr lang="en-US" b="1" dirty="0" smtClean="0"/>
              <a:t> = Q/L </a:t>
            </a:r>
          </a:p>
          <a:p>
            <a:pPr algn="just">
              <a:buNone/>
            </a:pPr>
            <a:r>
              <a:rPr lang="en-US" dirty="0" smtClean="0"/>
              <a:t>The average amount of output produced per worker.</a:t>
            </a:r>
          </a:p>
          <a:p>
            <a:pPr algn="just">
              <a:buNone/>
            </a:pPr>
            <a:r>
              <a:rPr lang="en-US" dirty="0" smtClean="0"/>
              <a:t>As long as the MP is greater than the AP, the latter continues to rise, and when the MP is less than AP the latter falls.</a:t>
            </a:r>
          </a:p>
        </p:txBody>
      </p:sp>
    </p:spTree>
    <p:extLst>
      <p:ext uri="{BB962C8B-B14F-4D97-AF65-F5344CB8AC3E}">
        <p14:creationId xmlns:p14="http://schemas.microsoft.com/office/powerpoint/2010/main" val="1353378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7696200" cy="524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3378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b="1" dirty="0" smtClean="0"/>
              <a:t>Marginal Revenue Product of Labor:</a:t>
            </a:r>
            <a:r>
              <a:rPr lang="en-US" dirty="0" smtClean="0"/>
              <a:t> </a:t>
            </a:r>
          </a:p>
          <a:p>
            <a:pPr algn="ctr">
              <a:buNone/>
            </a:pPr>
            <a:r>
              <a:rPr lang="en-US" b="1" dirty="0" smtClean="0"/>
              <a:t>MRP</a:t>
            </a:r>
            <a:r>
              <a:rPr lang="en-US" sz="1400" b="1" dirty="0" smtClean="0"/>
              <a:t>L</a:t>
            </a:r>
            <a:r>
              <a:rPr lang="en-US" b="1" dirty="0" smtClean="0"/>
              <a:t>= MR. MP</a:t>
            </a:r>
            <a:r>
              <a:rPr lang="en-US" sz="1400" b="1" dirty="0" smtClean="0"/>
              <a:t>L</a:t>
            </a:r>
          </a:p>
          <a:p>
            <a:pPr algn="just">
              <a:buNone/>
            </a:pPr>
            <a:r>
              <a:rPr lang="en-US" dirty="0"/>
              <a:t>MRP</a:t>
            </a:r>
            <a:r>
              <a:rPr lang="en-US" sz="1600" dirty="0"/>
              <a:t>L</a:t>
            </a:r>
            <a:r>
              <a:rPr lang="en-US" dirty="0"/>
              <a:t>  express the marginal benefit to the firm from hiring additional workers. The decision rule to maximize profits is to continue to hire workers as long as the marginal benefit exceeds the marginal cost</a:t>
            </a:r>
            <a:r>
              <a:rPr lang="en-US" dirty="0" smtClean="0"/>
              <a:t>.</a:t>
            </a:r>
          </a:p>
          <a:p>
            <a:pPr algn="just">
              <a:buNone/>
            </a:pPr>
            <a:endParaRPr lang="en-US" dirty="0"/>
          </a:p>
          <a:p>
            <a:pPr algn="just">
              <a:buNone/>
            </a:pPr>
            <a:r>
              <a:rPr lang="en-US" b="1" dirty="0" smtClean="0"/>
              <a:t>Marginal Cost of Labor: </a:t>
            </a:r>
          </a:p>
          <a:p>
            <a:pPr algn="just">
              <a:buNone/>
            </a:pPr>
            <a:r>
              <a:rPr lang="en-US" dirty="0" smtClean="0"/>
              <a:t>The cost per hour to the firm of hiring each worker is equal to the wage rate. That is-</a:t>
            </a:r>
          </a:p>
          <a:p>
            <a:pPr algn="ctr">
              <a:buNone/>
            </a:pPr>
            <a:r>
              <a:rPr lang="en-US" dirty="0"/>
              <a:t> </a:t>
            </a:r>
            <a:r>
              <a:rPr lang="en-US" b="1" dirty="0" smtClean="0"/>
              <a:t>MC= W</a:t>
            </a:r>
          </a:p>
        </p:txBody>
      </p:sp>
    </p:spTree>
    <p:extLst>
      <p:ext uri="{BB962C8B-B14F-4D97-AF65-F5344CB8AC3E}">
        <p14:creationId xmlns:p14="http://schemas.microsoft.com/office/powerpoint/2010/main" val="1611179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marginal productivity theory of Labor</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b="1" dirty="0" smtClean="0">
                <a:solidFill>
                  <a:srgbClr val="0070C0"/>
                </a:solidFill>
              </a:rPr>
              <a:t>Equilibrium Level of Employment:</a:t>
            </a:r>
          </a:p>
          <a:p>
            <a:pPr algn="just">
              <a:buNone/>
            </a:pPr>
            <a:r>
              <a:rPr lang="en-US" b="1" dirty="0" smtClean="0"/>
              <a:t>At equilibrium,	</a:t>
            </a:r>
          </a:p>
          <a:p>
            <a:pPr algn="just">
              <a:buNone/>
            </a:pPr>
            <a:r>
              <a:rPr lang="en-US" b="1" dirty="0"/>
              <a:t>	</a:t>
            </a:r>
            <a:r>
              <a:rPr lang="en-US" b="1" dirty="0" smtClean="0"/>
              <a:t>		Marginal Cost = Marginal Benefit</a:t>
            </a:r>
          </a:p>
          <a:p>
            <a:pPr algn="just">
              <a:buNone/>
            </a:pPr>
            <a:r>
              <a:rPr lang="en-US" b="1" dirty="0" smtClean="0"/>
              <a:t>		=&gt; W = MRP</a:t>
            </a:r>
            <a:r>
              <a:rPr lang="en-US" sz="1400" b="1" dirty="0" smtClean="0"/>
              <a:t>L</a:t>
            </a:r>
          </a:p>
          <a:p>
            <a:pPr algn="just">
              <a:buNone/>
            </a:pPr>
            <a:r>
              <a:rPr lang="en-US" b="1" dirty="0"/>
              <a:t>	</a:t>
            </a:r>
            <a:r>
              <a:rPr lang="en-US" b="1" dirty="0" smtClean="0"/>
              <a:t>	=&gt; W = MR. MP</a:t>
            </a:r>
            <a:r>
              <a:rPr lang="en-US" sz="1400" b="1" dirty="0" smtClean="0"/>
              <a:t>L</a:t>
            </a:r>
          </a:p>
          <a:p>
            <a:pPr algn="just">
              <a:buNone/>
            </a:pPr>
            <a:r>
              <a:rPr lang="en-US" b="1" dirty="0"/>
              <a:t>	</a:t>
            </a:r>
            <a:r>
              <a:rPr lang="en-US" b="1" dirty="0" smtClean="0"/>
              <a:t>For a competitive firm, P = MR</a:t>
            </a:r>
          </a:p>
          <a:p>
            <a:pPr algn="just">
              <a:buNone/>
            </a:pPr>
            <a:r>
              <a:rPr lang="en-US" b="1" dirty="0" smtClean="0"/>
              <a:t>   Therefore, W = P. MP</a:t>
            </a:r>
            <a:r>
              <a:rPr lang="en-US" sz="1400" b="1" dirty="0" smtClean="0"/>
              <a:t>L</a:t>
            </a:r>
          </a:p>
          <a:p>
            <a:pPr algn="just">
              <a:buNone/>
            </a:pPr>
            <a:r>
              <a:rPr lang="en-US" b="1" dirty="0"/>
              <a:t>	</a:t>
            </a:r>
            <a:r>
              <a:rPr lang="en-US" b="1" dirty="0" smtClean="0"/>
              <a:t>	=&gt; W/P = MP</a:t>
            </a:r>
            <a:r>
              <a:rPr lang="en-US" sz="1400" b="1" dirty="0" smtClean="0"/>
              <a:t>L     </a:t>
            </a:r>
            <a:r>
              <a:rPr lang="en-US" b="1" dirty="0" smtClean="0"/>
              <a:t>=&gt;  w = MP</a:t>
            </a:r>
            <a:r>
              <a:rPr lang="en-US" sz="1400" b="1" dirty="0" smtClean="0"/>
              <a:t>L </a:t>
            </a:r>
          </a:p>
        </p:txBody>
      </p:sp>
    </p:spTree>
    <p:extLst>
      <p:ext uri="{BB962C8B-B14F-4D97-AF65-F5344CB8AC3E}">
        <p14:creationId xmlns:p14="http://schemas.microsoft.com/office/powerpoint/2010/main" val="508599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Hypothetical MRP</a:t>
            </a:r>
            <a:r>
              <a:rPr lang="en-US" sz="1600" b="1" dirty="0" smtClean="0">
                <a:solidFill>
                  <a:schemeClr val="tx1"/>
                </a:solidFill>
              </a:rPr>
              <a:t>L</a:t>
            </a:r>
            <a:r>
              <a:rPr lang="en-US" sz="3200" b="1" dirty="0" smtClean="0">
                <a:solidFill>
                  <a:schemeClr val="tx1"/>
                </a:solidFill>
              </a:rPr>
              <a:t> Schedule and Labor Demand Curve</a:t>
            </a:r>
            <a:endParaRPr lang="en-US" sz="3200" b="1" dirty="0">
              <a:solidFill>
                <a:schemeClr val="tx1"/>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7696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9729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11430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A Hypothetical MRP</a:t>
            </a:r>
            <a:r>
              <a:rPr lang="en-US" sz="1600" b="1" dirty="0" smtClean="0">
                <a:solidFill>
                  <a:schemeClr val="tx1"/>
                </a:solidFill>
              </a:rPr>
              <a:t>L</a:t>
            </a:r>
            <a:r>
              <a:rPr lang="en-US" sz="3200" b="1" dirty="0" smtClean="0">
                <a:solidFill>
                  <a:schemeClr val="tx1"/>
                </a:solidFill>
              </a:rPr>
              <a:t> Schedule and Labor Demand Curve</a:t>
            </a:r>
            <a:endParaRPr lang="en-US" sz="3200" b="1" dirty="0">
              <a:solidFill>
                <a:schemeClr val="tx1"/>
              </a:solidFill>
            </a:endParaRPr>
          </a:p>
        </p:txBody>
      </p:sp>
      <p:sp>
        <p:nvSpPr>
          <p:cNvPr id="4" name="Content Placeholder 3"/>
          <p:cNvSpPr>
            <a:spLocks noGrp="1"/>
          </p:cNvSpPr>
          <p:nvPr>
            <p:ph sz="quarter" idx="1"/>
          </p:nvPr>
        </p:nvSpPr>
        <p:spPr>
          <a:xfrm>
            <a:off x="457200" y="1600200"/>
            <a:ext cx="7848600" cy="4873752"/>
          </a:xfrm>
        </p:spPr>
        <p:txBody>
          <a:bodyPr/>
          <a:lstStyle/>
          <a:p>
            <a:pPr marL="0" indent="0" algn="just">
              <a:buNone/>
            </a:pPr>
            <a:r>
              <a:rPr lang="en-US" dirty="0" smtClean="0"/>
              <a:t>To hire each additional worker as long as the increase in MRP</a:t>
            </a:r>
            <a:r>
              <a:rPr lang="en-US" sz="1200" dirty="0" smtClean="0"/>
              <a:t>L</a:t>
            </a:r>
            <a:r>
              <a:rPr lang="en-US" dirty="0" smtClean="0"/>
              <a:t> is greater than or equal to the increase in Wage cost.  </a:t>
            </a:r>
          </a:p>
          <a:p>
            <a:pPr marL="0" indent="0" algn="just">
              <a:buNone/>
            </a:pPr>
            <a:r>
              <a:rPr lang="en-US" b="1" dirty="0" smtClean="0"/>
              <a:t>Q. At a wage rate of $40 per hour, how many workers have a MRP</a:t>
            </a:r>
            <a:r>
              <a:rPr lang="en-US" sz="1400" b="1" dirty="0" smtClean="0"/>
              <a:t>L</a:t>
            </a:r>
            <a:r>
              <a:rPr lang="en-US" b="1" dirty="0" smtClean="0"/>
              <a:t> greater or equal to that wage?</a:t>
            </a:r>
          </a:p>
          <a:p>
            <a:pPr marL="0" indent="0" algn="just">
              <a:buNone/>
            </a:pPr>
            <a:r>
              <a:rPr lang="en-US" b="1" dirty="0" smtClean="0"/>
              <a:t>Q. What would happen to the firm’s demand for labor if the wage rate are to increase from $40 to $60 per hour?</a:t>
            </a:r>
            <a:endParaRPr lang="en-US" b="1" dirty="0"/>
          </a:p>
        </p:txBody>
      </p:sp>
    </p:spTree>
    <p:extLst>
      <p:ext uri="{BB962C8B-B14F-4D97-AF65-F5344CB8AC3E}">
        <p14:creationId xmlns:p14="http://schemas.microsoft.com/office/powerpoint/2010/main" val="763900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7921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Labor Demand Curve</a:t>
            </a:r>
            <a:endParaRPr lang="en-US" sz="3200" b="1" dirty="0">
              <a:solidFill>
                <a:schemeClr val="tx1"/>
              </a:solidFill>
            </a:endParaRPr>
          </a:p>
        </p:txBody>
      </p:sp>
      <p:sp>
        <p:nvSpPr>
          <p:cNvPr id="4" name="Content Placeholder 3"/>
          <p:cNvSpPr>
            <a:spLocks noGrp="1"/>
          </p:cNvSpPr>
          <p:nvPr>
            <p:ph sz="quarter" idx="1"/>
          </p:nvPr>
        </p:nvSpPr>
        <p:spPr>
          <a:xfrm>
            <a:off x="457200" y="1371600"/>
            <a:ext cx="7848600" cy="5102352"/>
          </a:xfrm>
        </p:spPr>
        <p:txBody>
          <a:bodyPr/>
          <a:lstStyle/>
          <a:p>
            <a:pPr marL="0" indent="0" algn="just">
              <a:buNone/>
            </a:pPr>
            <a:r>
              <a:rPr lang="en-US" dirty="0" smtClean="0"/>
              <a:t>For demand curve for labor, consider the following:</a:t>
            </a:r>
          </a:p>
          <a:p>
            <a:pPr marL="0" indent="0" algn="just">
              <a:buNone/>
            </a:pPr>
            <a:endParaRPr lang="en-US" sz="1000" dirty="0" smtClean="0"/>
          </a:p>
          <a:p>
            <a:pPr marL="0" indent="0" algn="just">
              <a:buNone/>
            </a:pPr>
            <a:r>
              <a:rPr lang="en-US" b="1" dirty="0" smtClean="0">
                <a:solidFill>
                  <a:srgbClr val="0070C0"/>
                </a:solidFill>
              </a:rPr>
              <a:t>First, </a:t>
            </a:r>
            <a:r>
              <a:rPr lang="en-US" dirty="0" smtClean="0"/>
              <a:t>a change in the wage rate causes a movement along one particular demand curve.</a:t>
            </a:r>
          </a:p>
          <a:p>
            <a:pPr marL="0" indent="0" algn="just">
              <a:buNone/>
            </a:pPr>
            <a:endParaRPr lang="en-US" dirty="0" smtClean="0"/>
          </a:p>
          <a:p>
            <a:pPr marL="0" indent="0" algn="just">
              <a:buNone/>
            </a:pPr>
            <a:r>
              <a:rPr lang="en-US" b="1" dirty="0" smtClean="0">
                <a:solidFill>
                  <a:srgbClr val="0070C0"/>
                </a:solidFill>
              </a:rPr>
              <a:t>Second, </a:t>
            </a:r>
            <a:r>
              <a:rPr lang="en-US" dirty="0" smtClean="0"/>
              <a:t>a change in the firm demand curve for labor for the following reasons will shift in the demand curve:</a:t>
            </a:r>
          </a:p>
          <a:p>
            <a:pPr marL="457200" indent="-457200" algn="just">
              <a:buAutoNum type="alphaLcParenR"/>
            </a:pPr>
            <a:r>
              <a:rPr lang="en-US" dirty="0" smtClean="0"/>
              <a:t>A change in product demand</a:t>
            </a:r>
          </a:p>
          <a:p>
            <a:pPr marL="457200" indent="-457200" algn="just">
              <a:buAutoNum type="alphaLcParenR"/>
            </a:pPr>
            <a:r>
              <a:rPr lang="en-US" dirty="0" smtClean="0"/>
              <a:t>Imperfect competition in the product market.</a:t>
            </a:r>
            <a:endParaRPr lang="en-US" dirty="0"/>
          </a:p>
        </p:txBody>
      </p:sp>
    </p:spTree>
    <p:extLst>
      <p:ext uri="{BB962C8B-B14F-4D97-AF65-F5344CB8AC3E}">
        <p14:creationId xmlns:p14="http://schemas.microsoft.com/office/powerpoint/2010/main" val="1371966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792162"/>
          </a:xfrm>
        </p:spPr>
        <p:style>
          <a:lnRef idx="1">
            <a:schemeClr val="accent3"/>
          </a:lnRef>
          <a:fillRef idx="2">
            <a:schemeClr val="accent3"/>
          </a:fillRef>
          <a:effectRef idx="1">
            <a:schemeClr val="accent3"/>
          </a:effectRef>
          <a:fontRef idx="minor">
            <a:schemeClr val="dk1"/>
          </a:fontRef>
        </p:style>
        <p:txBody>
          <a:bodyPr>
            <a:noAutofit/>
          </a:bodyPr>
          <a:lstStyle/>
          <a:p>
            <a:pPr marL="457200" indent="-457200" algn="ctr"/>
            <a:r>
              <a:rPr lang="en-US" sz="3200" dirty="0" smtClean="0"/>
              <a:t>A </a:t>
            </a:r>
            <a:r>
              <a:rPr lang="en-US" sz="3200" dirty="0"/>
              <a:t>change in product demand</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7162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0935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9248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a:t>Imperfect competition in the product market</a:t>
            </a:r>
            <a:r>
              <a:rPr lang="en-US" sz="3200" b="1" dirty="0" smtClean="0"/>
              <a:t>.</a:t>
            </a:r>
            <a:endParaRPr lang="en-US" sz="3200" b="1" dirty="0">
              <a:solidFill>
                <a:schemeClr val="tx1"/>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391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3322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9445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a:t>Imperfect competition in the product market</a:t>
            </a:r>
            <a:endParaRPr lang="en-US" sz="3200" b="1" dirty="0">
              <a:solidFill>
                <a:schemeClr val="tx1"/>
              </a:solidFill>
            </a:endParaRPr>
          </a:p>
        </p:txBody>
      </p:sp>
      <p:sp>
        <p:nvSpPr>
          <p:cNvPr id="4" name="Content Placeholder 3"/>
          <p:cNvSpPr>
            <a:spLocks noGrp="1"/>
          </p:cNvSpPr>
          <p:nvPr>
            <p:ph sz="quarter" idx="1"/>
          </p:nvPr>
        </p:nvSpPr>
        <p:spPr>
          <a:xfrm>
            <a:off x="457200" y="1371600"/>
            <a:ext cx="7848600" cy="5102352"/>
          </a:xfrm>
        </p:spPr>
        <p:txBody>
          <a:bodyPr/>
          <a:lstStyle/>
          <a:p>
            <a:pPr marL="0" indent="0" algn="just">
              <a:buNone/>
            </a:pPr>
            <a:r>
              <a:rPr lang="en-US" dirty="0" smtClean="0"/>
              <a:t>The diagram shows that the labor demand curve for an imperfectly competitive firm D</a:t>
            </a:r>
            <a:r>
              <a:rPr lang="en-US" sz="1600" dirty="0" smtClean="0"/>
              <a:t>I</a:t>
            </a:r>
            <a:r>
              <a:rPr lang="en-US" dirty="0" smtClean="0"/>
              <a:t> will lie to the left and be steeper than the demand curve for a competitive firm D</a:t>
            </a:r>
            <a:r>
              <a:rPr lang="en-US" sz="1400" dirty="0" smtClean="0"/>
              <a:t>C</a:t>
            </a:r>
            <a:r>
              <a:rPr lang="en-US" dirty="0" smtClean="0"/>
              <a:t>. </a:t>
            </a:r>
          </a:p>
          <a:p>
            <a:pPr marL="0" indent="0" algn="just">
              <a:buNone/>
            </a:pPr>
            <a:r>
              <a:rPr lang="en-US" dirty="0" smtClean="0"/>
              <a:t>At the prevailing wage of W, the imperfectly competitive firm will hire fewer workers (L</a:t>
            </a:r>
            <a:r>
              <a:rPr lang="en-US" sz="1600" dirty="0" smtClean="0"/>
              <a:t>I</a:t>
            </a:r>
            <a:r>
              <a:rPr lang="en-US" dirty="0" smtClean="0"/>
              <a:t>) than the competitive firm (L</a:t>
            </a:r>
            <a:r>
              <a:rPr lang="en-US" sz="1400" dirty="0" smtClean="0"/>
              <a:t>C</a:t>
            </a:r>
            <a:r>
              <a:rPr lang="en-US" dirty="0" smtClean="0"/>
              <a:t>). It will also expand employment by a smaller amount than would a perfectly competitive firm in response to a decrease in the wage.</a:t>
            </a:r>
            <a:endParaRPr lang="en-US" dirty="0"/>
          </a:p>
        </p:txBody>
      </p:sp>
    </p:spTree>
    <p:extLst>
      <p:ext uri="{BB962C8B-B14F-4D97-AF65-F5344CB8AC3E}">
        <p14:creationId xmlns:p14="http://schemas.microsoft.com/office/powerpoint/2010/main" val="2651550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9445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a:t>Imperfect competition in the product market</a:t>
            </a:r>
            <a:endParaRPr lang="en-US" sz="3200" b="1" dirty="0">
              <a:solidFill>
                <a:schemeClr val="tx1"/>
              </a:solidFill>
            </a:endParaRPr>
          </a:p>
        </p:txBody>
      </p:sp>
      <p:sp>
        <p:nvSpPr>
          <p:cNvPr id="4" name="Content Placeholder 3"/>
          <p:cNvSpPr>
            <a:spLocks noGrp="1"/>
          </p:cNvSpPr>
          <p:nvPr>
            <p:ph sz="quarter" idx="1"/>
          </p:nvPr>
        </p:nvSpPr>
        <p:spPr>
          <a:xfrm>
            <a:off x="457200" y="1371600"/>
            <a:ext cx="7848600" cy="5102352"/>
          </a:xfrm>
        </p:spPr>
        <p:txBody>
          <a:bodyPr/>
          <a:lstStyle/>
          <a:p>
            <a:pPr marL="0" indent="0" algn="just">
              <a:buNone/>
            </a:pPr>
            <a:r>
              <a:rPr lang="en-US" dirty="0" smtClean="0"/>
              <a:t>The </a:t>
            </a:r>
            <a:r>
              <a:rPr lang="en-US" dirty="0"/>
              <a:t>labor demand curve for an imperfectly competitive firm </a:t>
            </a:r>
            <a:r>
              <a:rPr lang="en-US" dirty="0" smtClean="0"/>
              <a:t>will </a:t>
            </a:r>
            <a:r>
              <a:rPr lang="en-US" dirty="0"/>
              <a:t>lie to the left and be steeper than the demand curve for a competitive </a:t>
            </a:r>
            <a:r>
              <a:rPr lang="en-US" dirty="0" smtClean="0"/>
              <a:t>firm. </a:t>
            </a:r>
            <a:endParaRPr lang="en-US" dirty="0"/>
          </a:p>
          <a:p>
            <a:pPr marL="0" indent="0" algn="just">
              <a:buNone/>
            </a:pPr>
            <a:endParaRPr lang="en-US" dirty="0" smtClean="0"/>
          </a:p>
          <a:p>
            <a:pPr marL="0" indent="0" algn="just">
              <a:buNone/>
            </a:pPr>
            <a:r>
              <a:rPr lang="en-US" dirty="0" smtClean="0"/>
              <a:t>The reasons behind that—</a:t>
            </a:r>
          </a:p>
          <a:p>
            <a:pPr marL="0" indent="0" algn="just">
              <a:buNone/>
            </a:pPr>
            <a:r>
              <a:rPr lang="en-US" b="1" dirty="0" smtClean="0">
                <a:solidFill>
                  <a:srgbClr val="0070C0"/>
                </a:solidFill>
              </a:rPr>
              <a:t>First: </a:t>
            </a:r>
            <a:r>
              <a:rPr lang="en-US" dirty="0" smtClean="0"/>
              <a:t>Because the MP</a:t>
            </a:r>
            <a:r>
              <a:rPr lang="en-US" sz="1800" dirty="0" smtClean="0"/>
              <a:t>L</a:t>
            </a:r>
            <a:r>
              <a:rPr lang="en-US" dirty="0" smtClean="0"/>
              <a:t> for each worker declines due to diminishing return in production, as for the competitive firm.</a:t>
            </a:r>
          </a:p>
          <a:p>
            <a:pPr marL="0" indent="0" algn="just">
              <a:buNone/>
            </a:pPr>
            <a:r>
              <a:rPr lang="en-US" b="1" dirty="0" smtClean="0">
                <a:solidFill>
                  <a:srgbClr val="0070C0"/>
                </a:solidFill>
              </a:rPr>
              <a:t>Second</a:t>
            </a:r>
            <a:r>
              <a:rPr lang="en-US" dirty="0" smtClean="0"/>
              <a:t>: Because its marginal revenue for extra production also declines, unlike that of the competitive firm. </a:t>
            </a:r>
            <a:endParaRPr lang="en-US" dirty="0"/>
          </a:p>
        </p:txBody>
      </p:sp>
    </p:spTree>
    <p:extLst>
      <p:ext uri="{BB962C8B-B14F-4D97-AF65-F5344CB8AC3E}">
        <p14:creationId xmlns:p14="http://schemas.microsoft.com/office/powerpoint/2010/main" val="6998345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9445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Derivation of the Market Labor Demand Curve</a:t>
            </a:r>
            <a:endParaRPr lang="en-US" sz="3200" b="1" dirty="0">
              <a:solidFill>
                <a:schemeClr val="tx1"/>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295400"/>
            <a:ext cx="8686799" cy="518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79386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9445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t>The Elasticity of Demand for Labor</a:t>
            </a:r>
            <a:endParaRPr lang="en-US" sz="3200" b="1" dirty="0">
              <a:solidFill>
                <a:schemeClr val="tx1"/>
              </a:solidFill>
            </a:endParaRPr>
          </a:p>
        </p:txBody>
      </p:sp>
      <p:sp>
        <p:nvSpPr>
          <p:cNvPr id="4" name="Content Placeholder 3"/>
          <p:cNvSpPr>
            <a:spLocks noGrp="1"/>
          </p:cNvSpPr>
          <p:nvPr>
            <p:ph sz="quarter" idx="1"/>
          </p:nvPr>
        </p:nvSpPr>
        <p:spPr>
          <a:xfrm>
            <a:off x="457200" y="1371600"/>
            <a:ext cx="7848600" cy="5102352"/>
          </a:xfrm>
        </p:spPr>
        <p:txBody>
          <a:bodyPr/>
          <a:lstStyle/>
          <a:p>
            <a:pPr marL="0" indent="0" algn="just">
              <a:buNone/>
            </a:pPr>
            <a:r>
              <a:rPr lang="en-US" dirty="0" smtClean="0"/>
              <a:t>The elasticity of labor demand shows that how sensitive employment is to changes in the cost of labor (i.e. wage rate). It is defined as—</a:t>
            </a:r>
          </a:p>
          <a:p>
            <a:pPr marL="0" indent="0" algn="just">
              <a:buNone/>
            </a:pPr>
            <a:r>
              <a:rPr lang="en-US" dirty="0"/>
              <a:t>	</a:t>
            </a:r>
            <a:r>
              <a:rPr lang="en-US" dirty="0" smtClean="0"/>
              <a:t>	</a:t>
            </a:r>
            <a:r>
              <a:rPr lang="en-US" b="1" dirty="0" smtClean="0"/>
              <a:t>E</a:t>
            </a:r>
            <a:r>
              <a:rPr lang="en-US" sz="1400" b="1" dirty="0" smtClean="0"/>
              <a:t>D</a:t>
            </a:r>
            <a:r>
              <a:rPr lang="en-US" b="1" dirty="0" smtClean="0"/>
              <a:t>= (%∆L) / </a:t>
            </a:r>
            <a:r>
              <a:rPr lang="en-US" b="1" dirty="0"/>
              <a:t>(%</a:t>
            </a:r>
            <a:r>
              <a:rPr lang="en-US" b="1" dirty="0" smtClean="0"/>
              <a:t>∆W)</a:t>
            </a:r>
          </a:p>
          <a:p>
            <a:pPr marL="0" indent="0" algn="just">
              <a:buNone/>
            </a:pPr>
            <a:r>
              <a:rPr lang="en-US" dirty="0" smtClean="0"/>
              <a:t>Where, </a:t>
            </a:r>
          </a:p>
          <a:p>
            <a:pPr marL="0" indent="0" algn="just">
              <a:buNone/>
            </a:pPr>
            <a:r>
              <a:rPr lang="en-US" b="1" dirty="0" smtClean="0"/>
              <a:t>%</a:t>
            </a:r>
            <a:r>
              <a:rPr lang="en-US" b="1" dirty="0"/>
              <a:t>∆</a:t>
            </a:r>
            <a:r>
              <a:rPr lang="en-US" b="1" dirty="0" smtClean="0"/>
              <a:t>L =</a:t>
            </a:r>
            <a:r>
              <a:rPr lang="en-US" dirty="0" smtClean="0"/>
              <a:t> Percentage change in Employment</a:t>
            </a:r>
          </a:p>
          <a:p>
            <a:pPr marL="0" indent="0" algn="just">
              <a:buNone/>
            </a:pPr>
            <a:r>
              <a:rPr lang="en-US" b="1" dirty="0"/>
              <a:t>%∆</a:t>
            </a:r>
            <a:r>
              <a:rPr lang="en-US" b="1" dirty="0" smtClean="0"/>
              <a:t>W= </a:t>
            </a:r>
            <a:r>
              <a:rPr lang="en-US" dirty="0" smtClean="0"/>
              <a:t>Percentage </a:t>
            </a:r>
            <a:r>
              <a:rPr lang="en-US" dirty="0"/>
              <a:t>change in </a:t>
            </a:r>
            <a:r>
              <a:rPr lang="en-US" dirty="0" smtClean="0"/>
              <a:t>wage rate.  </a:t>
            </a:r>
          </a:p>
          <a:p>
            <a:pPr marL="0" indent="0" algn="just">
              <a:buNone/>
            </a:pPr>
            <a:r>
              <a:rPr lang="en-US" dirty="0" smtClean="0"/>
              <a:t>The following five types of elasticity of labor demand are:</a:t>
            </a:r>
          </a:p>
          <a:p>
            <a:pPr marL="457200" indent="-457200" algn="just">
              <a:buAutoNum type="alphaLcParenR"/>
            </a:pPr>
            <a:r>
              <a:rPr lang="en-US" b="1" dirty="0" smtClean="0">
                <a:solidFill>
                  <a:schemeClr val="accent1">
                    <a:lumMod val="75000"/>
                  </a:schemeClr>
                </a:solidFill>
              </a:rPr>
              <a:t>When E</a:t>
            </a:r>
            <a:r>
              <a:rPr lang="en-US" sz="1400" b="1" dirty="0" smtClean="0">
                <a:solidFill>
                  <a:schemeClr val="accent1">
                    <a:lumMod val="75000"/>
                  </a:schemeClr>
                </a:solidFill>
              </a:rPr>
              <a:t>D</a:t>
            </a:r>
            <a:r>
              <a:rPr lang="en-US" b="1" dirty="0" smtClean="0">
                <a:solidFill>
                  <a:schemeClr val="accent1">
                    <a:lumMod val="75000"/>
                  </a:schemeClr>
                </a:solidFill>
              </a:rPr>
              <a:t>= 0, perfectly inelastic labor demand.</a:t>
            </a:r>
          </a:p>
          <a:p>
            <a:pPr marL="0" indent="0" algn="just">
              <a:buNone/>
            </a:pPr>
            <a:r>
              <a:rPr lang="en-US" dirty="0" smtClean="0"/>
              <a:t>If 10% increase in the wage rate causes no change in the demand for labor.</a:t>
            </a:r>
            <a:endParaRPr lang="en-US" dirty="0"/>
          </a:p>
        </p:txBody>
      </p:sp>
    </p:spTree>
    <p:extLst>
      <p:ext uri="{BB962C8B-B14F-4D97-AF65-F5344CB8AC3E}">
        <p14:creationId xmlns:p14="http://schemas.microsoft.com/office/powerpoint/2010/main" val="41590484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t>The Elasticity of Demand for Labor</a:t>
            </a:r>
            <a:endParaRPr lang="en-US" sz="3200" b="1" dirty="0">
              <a:solidFill>
                <a:schemeClr val="tx1"/>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143000"/>
            <a:ext cx="8229600" cy="5270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42522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9445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t>The Elasticity of Demand for Labor</a:t>
            </a:r>
            <a:endParaRPr lang="en-US" sz="3200" b="1" dirty="0">
              <a:solidFill>
                <a:schemeClr val="tx1"/>
              </a:solidFill>
            </a:endParaRPr>
          </a:p>
        </p:txBody>
      </p:sp>
      <p:sp>
        <p:nvSpPr>
          <p:cNvPr id="4" name="Content Placeholder 3"/>
          <p:cNvSpPr>
            <a:spLocks noGrp="1"/>
          </p:cNvSpPr>
          <p:nvPr>
            <p:ph sz="quarter" idx="1"/>
          </p:nvPr>
        </p:nvSpPr>
        <p:spPr>
          <a:xfrm>
            <a:off x="457200" y="1371600"/>
            <a:ext cx="7848600" cy="5102352"/>
          </a:xfrm>
        </p:spPr>
        <p:txBody>
          <a:bodyPr/>
          <a:lstStyle/>
          <a:p>
            <a:pPr marL="457200" indent="-457200" algn="just">
              <a:buFont typeface="+mj-lt"/>
              <a:buAutoNum type="alphaLcParenR" startAt="2"/>
            </a:pPr>
            <a:r>
              <a:rPr lang="en-US" b="1" dirty="0" smtClean="0">
                <a:solidFill>
                  <a:schemeClr val="accent1">
                    <a:lumMod val="75000"/>
                  </a:schemeClr>
                </a:solidFill>
              </a:rPr>
              <a:t>When E</a:t>
            </a:r>
            <a:r>
              <a:rPr lang="en-US" sz="1400" b="1" dirty="0" smtClean="0">
                <a:solidFill>
                  <a:schemeClr val="accent1">
                    <a:lumMod val="75000"/>
                  </a:schemeClr>
                </a:solidFill>
              </a:rPr>
              <a:t>D</a:t>
            </a:r>
            <a:r>
              <a:rPr lang="en-US" b="1" dirty="0" smtClean="0">
                <a:solidFill>
                  <a:schemeClr val="accent1">
                    <a:lumMod val="75000"/>
                  </a:schemeClr>
                </a:solidFill>
              </a:rPr>
              <a:t>&lt; 1, inelastic labor demand. </a:t>
            </a:r>
            <a:r>
              <a:rPr lang="en-US" dirty="0"/>
              <a:t>If </a:t>
            </a:r>
            <a:r>
              <a:rPr lang="en-US" dirty="0" smtClean="0"/>
              <a:t>a 10</a:t>
            </a:r>
            <a:r>
              <a:rPr lang="en-US" dirty="0"/>
              <a:t>% increase in the wage rate </a:t>
            </a:r>
            <a:r>
              <a:rPr lang="en-US" dirty="0" smtClean="0"/>
              <a:t>led to only a 5% reduction in </a:t>
            </a:r>
            <a:r>
              <a:rPr lang="en-US" dirty="0"/>
              <a:t>the demand for labor.</a:t>
            </a:r>
          </a:p>
          <a:p>
            <a:pPr marL="457200" indent="-457200" algn="just">
              <a:buFont typeface="+mj-lt"/>
              <a:buAutoNum type="alphaLcParenR" startAt="2"/>
            </a:pPr>
            <a:r>
              <a:rPr lang="en-US" b="1" dirty="0" smtClean="0">
                <a:solidFill>
                  <a:schemeClr val="accent1">
                    <a:lumMod val="75000"/>
                  </a:schemeClr>
                </a:solidFill>
              </a:rPr>
              <a:t>When E</a:t>
            </a:r>
            <a:r>
              <a:rPr lang="en-US" sz="1400" b="1" dirty="0" smtClean="0">
                <a:solidFill>
                  <a:schemeClr val="accent1">
                    <a:lumMod val="75000"/>
                  </a:schemeClr>
                </a:solidFill>
              </a:rPr>
              <a:t>D</a:t>
            </a:r>
            <a:r>
              <a:rPr lang="en-US" b="1" dirty="0" smtClean="0">
                <a:solidFill>
                  <a:schemeClr val="accent1">
                    <a:lumMod val="75000"/>
                  </a:schemeClr>
                </a:solidFill>
              </a:rPr>
              <a:t>= </a:t>
            </a:r>
            <a:r>
              <a:rPr lang="en-US" b="1" dirty="0">
                <a:solidFill>
                  <a:schemeClr val="accent1">
                    <a:lumMod val="75000"/>
                  </a:schemeClr>
                </a:solidFill>
              </a:rPr>
              <a:t>1, </a:t>
            </a:r>
            <a:r>
              <a:rPr lang="en-US" b="1" dirty="0" smtClean="0">
                <a:solidFill>
                  <a:schemeClr val="accent1">
                    <a:lumMod val="75000"/>
                  </a:schemeClr>
                </a:solidFill>
              </a:rPr>
              <a:t>unit elastic </a:t>
            </a:r>
            <a:r>
              <a:rPr lang="en-US" b="1" dirty="0">
                <a:solidFill>
                  <a:schemeClr val="accent1">
                    <a:lumMod val="75000"/>
                  </a:schemeClr>
                </a:solidFill>
              </a:rPr>
              <a:t>labor demand. </a:t>
            </a:r>
            <a:r>
              <a:rPr lang="en-US" dirty="0"/>
              <a:t>If a 10% increase in the wage rate </a:t>
            </a:r>
            <a:r>
              <a:rPr lang="en-US" dirty="0" smtClean="0"/>
              <a:t>causes a 10% reduction </a:t>
            </a:r>
            <a:r>
              <a:rPr lang="en-US" dirty="0"/>
              <a:t>in the demand for labor</a:t>
            </a:r>
            <a:r>
              <a:rPr lang="en-US" dirty="0" smtClean="0"/>
              <a:t>.</a:t>
            </a:r>
          </a:p>
          <a:p>
            <a:pPr marL="457200" indent="-457200" algn="just">
              <a:buFont typeface="+mj-lt"/>
              <a:buAutoNum type="alphaLcParenR" startAt="2"/>
            </a:pPr>
            <a:r>
              <a:rPr lang="en-US" b="1" dirty="0">
                <a:solidFill>
                  <a:schemeClr val="accent1">
                    <a:lumMod val="75000"/>
                  </a:schemeClr>
                </a:solidFill>
              </a:rPr>
              <a:t>When </a:t>
            </a:r>
            <a:r>
              <a:rPr lang="en-US" b="1" dirty="0" smtClean="0">
                <a:solidFill>
                  <a:schemeClr val="accent1">
                    <a:lumMod val="75000"/>
                  </a:schemeClr>
                </a:solidFill>
              </a:rPr>
              <a:t>E</a:t>
            </a:r>
            <a:r>
              <a:rPr lang="en-US" sz="1400" b="1" dirty="0" smtClean="0">
                <a:solidFill>
                  <a:schemeClr val="accent1">
                    <a:lumMod val="75000"/>
                  </a:schemeClr>
                </a:solidFill>
              </a:rPr>
              <a:t>D </a:t>
            </a:r>
            <a:r>
              <a:rPr lang="en-US" b="1" dirty="0" smtClean="0">
                <a:solidFill>
                  <a:schemeClr val="accent1">
                    <a:lumMod val="75000"/>
                  </a:schemeClr>
                </a:solidFill>
              </a:rPr>
              <a:t>&gt; </a:t>
            </a:r>
            <a:r>
              <a:rPr lang="en-US" b="1" dirty="0">
                <a:solidFill>
                  <a:schemeClr val="accent1">
                    <a:lumMod val="75000"/>
                  </a:schemeClr>
                </a:solidFill>
              </a:rPr>
              <a:t>1, </a:t>
            </a:r>
            <a:r>
              <a:rPr lang="en-US" b="1" dirty="0" smtClean="0">
                <a:solidFill>
                  <a:schemeClr val="accent1">
                    <a:lumMod val="75000"/>
                  </a:schemeClr>
                </a:solidFill>
              </a:rPr>
              <a:t>elastic </a:t>
            </a:r>
            <a:r>
              <a:rPr lang="en-US" b="1" dirty="0">
                <a:solidFill>
                  <a:schemeClr val="accent1">
                    <a:lumMod val="75000"/>
                  </a:schemeClr>
                </a:solidFill>
              </a:rPr>
              <a:t>labor demand. </a:t>
            </a:r>
            <a:r>
              <a:rPr lang="en-US" dirty="0"/>
              <a:t>If a 10% increase in the wage rate led to </a:t>
            </a:r>
            <a:r>
              <a:rPr lang="en-US" dirty="0" smtClean="0"/>
              <a:t>more than 10% </a:t>
            </a:r>
            <a:r>
              <a:rPr lang="en-US" dirty="0"/>
              <a:t>reduction in the demand for labor</a:t>
            </a:r>
            <a:r>
              <a:rPr lang="en-US" dirty="0" smtClean="0"/>
              <a:t>.</a:t>
            </a:r>
          </a:p>
          <a:p>
            <a:pPr marL="457200" indent="-457200" algn="just">
              <a:buFont typeface="+mj-lt"/>
              <a:buAutoNum type="alphaLcParenR" startAt="2"/>
            </a:pPr>
            <a:r>
              <a:rPr lang="en-US" b="1" dirty="0">
                <a:solidFill>
                  <a:schemeClr val="accent1">
                    <a:lumMod val="75000"/>
                  </a:schemeClr>
                </a:solidFill>
              </a:rPr>
              <a:t>When </a:t>
            </a:r>
            <a:r>
              <a:rPr lang="en-US" b="1" dirty="0" smtClean="0">
                <a:solidFill>
                  <a:schemeClr val="accent1">
                    <a:lumMod val="75000"/>
                  </a:schemeClr>
                </a:solidFill>
              </a:rPr>
              <a:t>E</a:t>
            </a:r>
            <a:r>
              <a:rPr lang="en-US" sz="1400" b="1" dirty="0" smtClean="0">
                <a:solidFill>
                  <a:schemeClr val="accent1">
                    <a:lumMod val="75000"/>
                  </a:schemeClr>
                </a:solidFill>
              </a:rPr>
              <a:t>D = </a:t>
            </a:r>
            <a:r>
              <a:rPr lang="en-US" b="1" dirty="0" smtClean="0">
                <a:solidFill>
                  <a:schemeClr val="accent1">
                    <a:lumMod val="75000"/>
                  </a:schemeClr>
                </a:solidFill>
              </a:rPr>
              <a:t>∞, perfectly elastic </a:t>
            </a:r>
            <a:r>
              <a:rPr lang="en-US" b="1" dirty="0">
                <a:solidFill>
                  <a:schemeClr val="accent1">
                    <a:lumMod val="75000"/>
                  </a:schemeClr>
                </a:solidFill>
              </a:rPr>
              <a:t>labor demand. </a:t>
            </a:r>
            <a:r>
              <a:rPr lang="en-US" dirty="0" smtClean="0"/>
              <a:t>If the firm is willing to hire all the additional employees it can at the prevailing wage, but will hire no employee at any higher wage.</a:t>
            </a:r>
            <a:endParaRPr lang="en-US" dirty="0"/>
          </a:p>
          <a:p>
            <a:pPr marL="457200" indent="-457200" algn="just">
              <a:buFont typeface="+mj-lt"/>
              <a:buAutoNum type="alphaLcParenR" startAt="2"/>
            </a:pPr>
            <a:endParaRPr lang="en-US" dirty="0"/>
          </a:p>
          <a:p>
            <a:pPr marL="457200" indent="-457200" algn="just">
              <a:buFont typeface="+mj-lt"/>
              <a:buAutoNum type="alphaLcParenR" startAt="2"/>
            </a:pPr>
            <a:endParaRPr lang="en-US" b="1" dirty="0" smtClean="0">
              <a:solidFill>
                <a:schemeClr val="accent1">
                  <a:lumMod val="75000"/>
                </a:schemeClr>
              </a:solidFill>
            </a:endParaRPr>
          </a:p>
          <a:p>
            <a:pPr marL="457200" indent="-457200" algn="just">
              <a:buFont typeface="+mj-lt"/>
              <a:buAutoNum type="alphaLcParenR" startAt="2"/>
            </a:pPr>
            <a:endParaRPr lang="en-US" b="1" dirty="0" smtClean="0">
              <a:solidFill>
                <a:schemeClr val="accent1">
                  <a:lumMod val="75000"/>
                </a:schemeClr>
              </a:solidFill>
            </a:endParaRPr>
          </a:p>
          <a:p>
            <a:pPr marL="457200" indent="-457200" algn="just">
              <a:buFont typeface="+mj-lt"/>
              <a:buAutoNum type="alphaLcParenR" startAt="2"/>
            </a:pPr>
            <a:endParaRPr lang="en-US" b="1" dirty="0" smtClean="0">
              <a:solidFill>
                <a:schemeClr val="accent1">
                  <a:lumMod val="75000"/>
                </a:schemeClr>
              </a:solidFill>
            </a:endParaRPr>
          </a:p>
          <a:p>
            <a:pPr marL="0" indent="0" algn="just">
              <a:buNone/>
            </a:pPr>
            <a:endParaRPr lang="en-US" dirty="0"/>
          </a:p>
        </p:txBody>
      </p:sp>
    </p:spTree>
    <p:extLst>
      <p:ext uri="{BB962C8B-B14F-4D97-AF65-F5344CB8AC3E}">
        <p14:creationId xmlns:p14="http://schemas.microsoft.com/office/powerpoint/2010/main" val="16365492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6397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t>The Wage Bill</a:t>
            </a:r>
            <a:endParaRPr lang="en-US" sz="3200" b="1" dirty="0">
              <a:solidFill>
                <a:schemeClr val="tx1"/>
              </a:solidFill>
            </a:endParaRPr>
          </a:p>
        </p:txBody>
      </p:sp>
      <p:sp>
        <p:nvSpPr>
          <p:cNvPr id="4" name="Content Placeholder 3"/>
          <p:cNvSpPr>
            <a:spLocks noGrp="1"/>
          </p:cNvSpPr>
          <p:nvPr>
            <p:ph sz="quarter" idx="1"/>
          </p:nvPr>
        </p:nvSpPr>
        <p:spPr>
          <a:xfrm>
            <a:off x="457200" y="1066800"/>
            <a:ext cx="7848600" cy="5407152"/>
          </a:xfrm>
        </p:spPr>
        <p:txBody>
          <a:bodyPr>
            <a:normAutofit lnSpcReduction="10000"/>
          </a:bodyPr>
          <a:lstStyle/>
          <a:p>
            <a:pPr marL="0" indent="0" algn="just">
              <a:buNone/>
            </a:pPr>
            <a:r>
              <a:rPr lang="en-US" dirty="0" smtClean="0"/>
              <a:t>The wage bill is defined as the firm’s total money outlay for labor. It is calculated by multiplying the average wage rate per hour (W) times the total number of worker employed (L). That is—</a:t>
            </a:r>
          </a:p>
          <a:p>
            <a:pPr marL="0" indent="0" algn="just">
              <a:buNone/>
            </a:pPr>
            <a:r>
              <a:rPr lang="en-US" dirty="0"/>
              <a:t>	</a:t>
            </a:r>
            <a:r>
              <a:rPr lang="en-US" dirty="0" smtClean="0"/>
              <a:t>		</a:t>
            </a:r>
            <a:r>
              <a:rPr lang="en-US" b="1" i="1" dirty="0" smtClean="0">
                <a:solidFill>
                  <a:srgbClr val="0070C0"/>
                </a:solidFill>
              </a:rPr>
              <a:t>Wage Bill = W. L</a:t>
            </a:r>
          </a:p>
          <a:p>
            <a:pPr marL="0" indent="0" algn="just">
              <a:buNone/>
            </a:pPr>
            <a:r>
              <a:rPr lang="en-US" b="1" i="1" dirty="0" smtClean="0">
                <a:solidFill>
                  <a:srgbClr val="0070C0"/>
                </a:solidFill>
              </a:rPr>
              <a:t>If the labor demand is inelastic, </a:t>
            </a:r>
            <a:r>
              <a:rPr lang="en-US" dirty="0" smtClean="0"/>
              <a:t>a rise in wage rate will result in a net increase in the total wage bill, since the percentage increase in the wage W will exceed the percentage decline in employment, L, making the product (W.L) greater than before.</a:t>
            </a:r>
          </a:p>
          <a:p>
            <a:pPr marL="0" indent="0" algn="just">
              <a:buNone/>
            </a:pPr>
            <a:r>
              <a:rPr lang="en-US" b="1" i="1" dirty="0">
                <a:solidFill>
                  <a:srgbClr val="0070C0"/>
                </a:solidFill>
              </a:rPr>
              <a:t>If the labor demand is </a:t>
            </a:r>
            <a:r>
              <a:rPr lang="en-US" b="1" i="1" dirty="0" smtClean="0">
                <a:solidFill>
                  <a:srgbClr val="0070C0"/>
                </a:solidFill>
              </a:rPr>
              <a:t>elastic</a:t>
            </a:r>
            <a:r>
              <a:rPr lang="en-US" b="1" i="1" dirty="0">
                <a:solidFill>
                  <a:srgbClr val="0070C0"/>
                </a:solidFill>
              </a:rPr>
              <a:t>, </a:t>
            </a:r>
            <a:r>
              <a:rPr lang="en-US" dirty="0"/>
              <a:t>a rise in wage rate will result in a net </a:t>
            </a:r>
            <a:r>
              <a:rPr lang="en-US" dirty="0" smtClean="0"/>
              <a:t>decline </a:t>
            </a:r>
            <a:r>
              <a:rPr lang="en-US" dirty="0"/>
              <a:t>in the total wage bill, since the percentage </a:t>
            </a:r>
            <a:r>
              <a:rPr lang="en-US" dirty="0" smtClean="0"/>
              <a:t>decrease </a:t>
            </a:r>
            <a:r>
              <a:rPr lang="en-US" dirty="0"/>
              <a:t>in </a:t>
            </a:r>
            <a:r>
              <a:rPr lang="en-US" dirty="0" smtClean="0"/>
              <a:t>employment will be greater than </a:t>
            </a:r>
            <a:r>
              <a:rPr lang="en-US" dirty="0"/>
              <a:t>the percentage </a:t>
            </a:r>
            <a:r>
              <a:rPr lang="en-US" dirty="0" smtClean="0"/>
              <a:t>increase </a:t>
            </a:r>
            <a:r>
              <a:rPr lang="en-US" dirty="0"/>
              <a:t>in </a:t>
            </a:r>
            <a:r>
              <a:rPr lang="en-US" dirty="0" smtClean="0"/>
              <a:t>W, </a:t>
            </a:r>
            <a:r>
              <a:rPr lang="en-US" dirty="0"/>
              <a:t>making the product (W.L) </a:t>
            </a:r>
            <a:r>
              <a:rPr lang="en-US" dirty="0" smtClean="0"/>
              <a:t>smaller </a:t>
            </a:r>
            <a:r>
              <a:rPr lang="en-US" dirty="0"/>
              <a:t>than before.</a:t>
            </a:r>
          </a:p>
          <a:p>
            <a:pPr marL="0" indent="0" algn="just">
              <a:buNone/>
            </a:pPr>
            <a:endParaRPr lang="en-US" dirty="0"/>
          </a:p>
        </p:txBody>
      </p:sp>
    </p:spTree>
    <p:extLst>
      <p:ext uri="{BB962C8B-B14F-4D97-AF65-F5344CB8AC3E}">
        <p14:creationId xmlns:p14="http://schemas.microsoft.com/office/powerpoint/2010/main" val="32832448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6397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Wage Subsidy Programs</a:t>
            </a:r>
            <a:endParaRPr lang="en-US" sz="3200" b="1" dirty="0">
              <a:solidFill>
                <a:schemeClr val="tx1"/>
              </a:solidFill>
            </a:endParaRPr>
          </a:p>
        </p:txBody>
      </p:sp>
      <p:sp>
        <p:nvSpPr>
          <p:cNvPr id="4" name="Content Placeholder 3"/>
          <p:cNvSpPr>
            <a:spLocks noGrp="1"/>
          </p:cNvSpPr>
          <p:nvPr>
            <p:ph sz="quarter" idx="1"/>
          </p:nvPr>
        </p:nvSpPr>
        <p:spPr>
          <a:xfrm>
            <a:off x="457200" y="1143000"/>
            <a:ext cx="7924800" cy="5330952"/>
          </a:xfrm>
        </p:spPr>
        <p:txBody>
          <a:bodyPr/>
          <a:lstStyle/>
          <a:p>
            <a:pPr marL="0" indent="0" algn="just">
              <a:buNone/>
            </a:pPr>
            <a:r>
              <a:rPr lang="en-US" dirty="0" smtClean="0"/>
              <a:t>Even in the best of times a significant number of persons face great difficulty finding employment, persons sometimes identified as the structural or hard-core unemployed. Prominent among the hard-core unemployed are people in three problems groups:</a:t>
            </a:r>
          </a:p>
          <a:p>
            <a:pPr marL="514350" indent="-514350" algn="just">
              <a:buAutoNum type="romanLcParenR"/>
            </a:pPr>
            <a:r>
              <a:rPr lang="en-US" dirty="0" smtClean="0"/>
              <a:t>Low-skilled adults</a:t>
            </a:r>
          </a:p>
          <a:p>
            <a:pPr marL="514350" indent="-514350" algn="just">
              <a:buAutoNum type="romanLcParenR"/>
            </a:pPr>
            <a:r>
              <a:rPr lang="en-US" dirty="0" smtClean="0"/>
              <a:t>Disadvantaged youth, and </a:t>
            </a:r>
          </a:p>
          <a:p>
            <a:pPr marL="514350" indent="-514350" algn="just">
              <a:buAutoNum type="romanLcParenR"/>
            </a:pPr>
            <a:r>
              <a:rPr lang="en-US" dirty="0" smtClean="0"/>
              <a:t>Residents of economically depressed areas.</a:t>
            </a:r>
          </a:p>
          <a:p>
            <a:pPr marL="0" indent="0" algn="just">
              <a:buNone/>
            </a:pPr>
            <a:r>
              <a:rPr lang="en-US" b="1" dirty="0" smtClean="0">
                <a:solidFill>
                  <a:srgbClr val="FF0000"/>
                </a:solidFill>
              </a:rPr>
              <a:t>Q. Why cannot the hard-core unemployed find work? </a:t>
            </a:r>
          </a:p>
          <a:p>
            <a:pPr marL="0" indent="0" algn="just">
              <a:buNone/>
            </a:pPr>
            <a:r>
              <a:rPr lang="en-US" b="1" dirty="0" smtClean="0">
                <a:solidFill>
                  <a:srgbClr val="FF0000"/>
                </a:solidFill>
              </a:rPr>
              <a:t>One ordinary answer is—</a:t>
            </a:r>
          </a:p>
          <a:p>
            <a:pPr marL="0" indent="0" algn="just">
              <a:buNone/>
            </a:pPr>
            <a:r>
              <a:rPr lang="en-US" b="1" i="1" dirty="0" smtClean="0"/>
              <a:t>A combination of discrimination and a shortage of jobs in the economy.</a:t>
            </a:r>
            <a:endParaRPr lang="en-US" b="1" i="1" dirty="0"/>
          </a:p>
        </p:txBody>
      </p:sp>
    </p:spTree>
    <p:extLst>
      <p:ext uri="{BB962C8B-B14F-4D97-AF65-F5344CB8AC3E}">
        <p14:creationId xmlns:p14="http://schemas.microsoft.com/office/powerpoint/2010/main" val="23047298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6397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Wage Subsidy Programs</a:t>
            </a:r>
            <a:endParaRPr lang="en-US" sz="3200" b="1" dirty="0">
              <a:solidFill>
                <a:schemeClr val="tx1"/>
              </a:solidFill>
            </a:endParaRPr>
          </a:p>
        </p:txBody>
      </p:sp>
      <p:sp>
        <p:nvSpPr>
          <p:cNvPr id="4" name="Content Placeholder 3"/>
          <p:cNvSpPr>
            <a:spLocks noGrp="1"/>
          </p:cNvSpPr>
          <p:nvPr>
            <p:ph sz="quarter" idx="1"/>
          </p:nvPr>
        </p:nvSpPr>
        <p:spPr>
          <a:xfrm>
            <a:off x="457200" y="990600"/>
            <a:ext cx="7924800" cy="5483352"/>
          </a:xfrm>
        </p:spPr>
        <p:txBody>
          <a:bodyPr>
            <a:normAutofit lnSpcReduction="10000"/>
          </a:bodyPr>
          <a:lstStyle/>
          <a:p>
            <a:pPr marL="0" indent="0" algn="just">
              <a:buNone/>
            </a:pPr>
            <a:r>
              <a:rPr lang="en-US" b="1" dirty="0" smtClean="0">
                <a:solidFill>
                  <a:srgbClr val="FF0000"/>
                </a:solidFill>
              </a:rPr>
              <a:t>Q. Why cannot the hard-core unemployed find work? </a:t>
            </a:r>
          </a:p>
          <a:p>
            <a:pPr marL="0" indent="0" algn="just">
              <a:buNone/>
            </a:pPr>
            <a:r>
              <a:rPr lang="en-US" b="1" dirty="0" smtClean="0">
                <a:solidFill>
                  <a:srgbClr val="00B050"/>
                </a:solidFill>
              </a:rPr>
              <a:t>One ordinary answer is—</a:t>
            </a:r>
          </a:p>
          <a:p>
            <a:pPr marL="0" indent="0" algn="just">
              <a:buNone/>
            </a:pPr>
            <a:r>
              <a:rPr lang="en-US" b="1" i="1" dirty="0" smtClean="0"/>
              <a:t>A combination of discrimination and a shortage of jobs in the economy.</a:t>
            </a:r>
          </a:p>
          <a:p>
            <a:pPr marL="0" indent="0" algn="just">
              <a:buNone/>
            </a:pPr>
            <a:r>
              <a:rPr lang="en-US" b="1" dirty="0" smtClean="0">
                <a:solidFill>
                  <a:srgbClr val="00B050"/>
                </a:solidFill>
              </a:rPr>
              <a:t>However, the most acceptable answer is</a:t>
            </a:r>
            <a:r>
              <a:rPr lang="en-US" b="1" i="1" dirty="0" smtClean="0"/>
              <a:t>—</a:t>
            </a:r>
          </a:p>
          <a:p>
            <a:pPr marL="0" indent="0" algn="just">
              <a:buNone/>
            </a:pPr>
            <a:r>
              <a:rPr lang="en-US" dirty="0" smtClean="0"/>
              <a:t>Applying the marginal productivity theory of labor, the firms simply do not find it profitable to hire these people. Because—</a:t>
            </a:r>
          </a:p>
          <a:p>
            <a:pPr marL="514350" indent="-514350" algn="just">
              <a:buAutoNum type="romanLcParenR"/>
            </a:pPr>
            <a:r>
              <a:rPr lang="en-US" dirty="0" smtClean="0"/>
              <a:t>These workers have a very low level of productivity. The main reason is that many disadvantaged youths are high school dropout who have neither the basic educational skills nor the good work habits that are necessary in today’s job market.</a:t>
            </a:r>
          </a:p>
          <a:p>
            <a:pPr marL="514350" indent="-514350" algn="just">
              <a:buAutoNum type="romanLcParenR"/>
            </a:pPr>
            <a:endParaRPr lang="en-US" dirty="0"/>
          </a:p>
        </p:txBody>
      </p:sp>
    </p:spTree>
    <p:extLst>
      <p:ext uri="{BB962C8B-B14F-4D97-AF65-F5344CB8AC3E}">
        <p14:creationId xmlns:p14="http://schemas.microsoft.com/office/powerpoint/2010/main" val="33920900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639762"/>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Wage Subsidy Programs</a:t>
            </a:r>
            <a:endParaRPr lang="en-US" sz="3200" b="1" dirty="0">
              <a:solidFill>
                <a:schemeClr val="tx1"/>
              </a:solidFill>
            </a:endParaRPr>
          </a:p>
        </p:txBody>
      </p:sp>
      <p:sp>
        <p:nvSpPr>
          <p:cNvPr id="4" name="Content Placeholder 3"/>
          <p:cNvSpPr>
            <a:spLocks noGrp="1"/>
          </p:cNvSpPr>
          <p:nvPr>
            <p:ph sz="quarter" idx="1"/>
          </p:nvPr>
        </p:nvSpPr>
        <p:spPr>
          <a:xfrm>
            <a:off x="457200" y="990600"/>
            <a:ext cx="7924800" cy="5483352"/>
          </a:xfrm>
        </p:spPr>
        <p:txBody>
          <a:bodyPr>
            <a:normAutofit/>
          </a:bodyPr>
          <a:lstStyle/>
          <a:p>
            <a:pPr marL="514350" indent="-514350" algn="just">
              <a:buAutoNum type="romanLcPeriod" startAt="2"/>
            </a:pPr>
            <a:r>
              <a:rPr lang="en-US" dirty="0" smtClean="0"/>
              <a:t>The minimum wage law prevents employers from lowering their rate of pay enough to make it profitable to hire the hard-core employed. </a:t>
            </a:r>
          </a:p>
          <a:p>
            <a:pPr marL="0" indent="0" algn="just">
              <a:buNone/>
            </a:pPr>
            <a:r>
              <a:rPr lang="en-US" dirty="0" smtClean="0"/>
              <a:t>From the perspective of MPT, the policymakers have suggested two alternative solutions to attack the problems:</a:t>
            </a:r>
          </a:p>
          <a:p>
            <a:pPr marL="457200" indent="-457200" algn="just">
              <a:buAutoNum type="alphaLcParenR"/>
            </a:pPr>
            <a:r>
              <a:rPr lang="en-US" dirty="0" smtClean="0"/>
              <a:t>Manpower training programs that provide the hard-to-employ with specific job skills. And </a:t>
            </a:r>
          </a:p>
          <a:p>
            <a:pPr marL="457200" indent="-457200" algn="just">
              <a:buAutoNum type="alphaLcParenR"/>
            </a:pPr>
            <a:r>
              <a:rPr lang="en-US" dirty="0" smtClean="0"/>
              <a:t>To lower the cost to the firm of hiring the hard-core unemployed.</a:t>
            </a:r>
            <a:endParaRPr lang="en-US" dirty="0"/>
          </a:p>
        </p:txBody>
      </p:sp>
    </p:spTree>
    <p:extLst>
      <p:ext uri="{BB962C8B-B14F-4D97-AF65-F5344CB8AC3E}">
        <p14:creationId xmlns:p14="http://schemas.microsoft.com/office/powerpoint/2010/main" val="37424056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A Wage Subsidy Program on Labor Demand</a:t>
            </a:r>
            <a:endParaRPr lang="en-US" sz="2800" b="1" dirty="0">
              <a:solidFill>
                <a:schemeClr val="tx1"/>
              </a:solidFill>
            </a:endParaRPr>
          </a:p>
        </p:txBody>
      </p:sp>
      <p:sp>
        <p:nvSpPr>
          <p:cNvPr id="4" name="Content Placeholder 3"/>
          <p:cNvSpPr>
            <a:spLocks noGrp="1"/>
          </p:cNvSpPr>
          <p:nvPr>
            <p:ph sz="quarter" idx="1"/>
          </p:nvPr>
        </p:nvSpPr>
        <p:spPr>
          <a:xfrm>
            <a:off x="457200" y="1143000"/>
            <a:ext cx="8077200" cy="5330952"/>
          </a:xfrm>
        </p:spPr>
        <p:txBody>
          <a:bodyPr>
            <a:normAutofit lnSpcReduction="10000"/>
          </a:bodyPr>
          <a:lstStyle/>
          <a:p>
            <a:pPr marL="0" indent="0" algn="just">
              <a:buNone/>
            </a:pPr>
            <a:r>
              <a:rPr lang="en-US" dirty="0" smtClean="0"/>
              <a:t>The wage subsidy program aims to create additional jobs in the economy by subsidizing the employ’s cost of labor. Unlike public-service-type programs that create new jobs through expanded government employment, wage subsidy programs focus on employment in the private sector. </a:t>
            </a:r>
          </a:p>
          <a:p>
            <a:pPr marL="0" indent="0" algn="just">
              <a:buNone/>
            </a:pPr>
            <a:r>
              <a:rPr lang="en-US" dirty="0" smtClean="0"/>
              <a:t>In designing a wage subsidy program, policy makers can choose the following alternatives:</a:t>
            </a:r>
          </a:p>
          <a:p>
            <a:pPr marL="0" indent="0" algn="just">
              <a:buNone/>
            </a:pPr>
            <a:r>
              <a:rPr lang="en-US" b="1" dirty="0" smtClean="0">
                <a:solidFill>
                  <a:srgbClr val="00B050"/>
                </a:solidFill>
              </a:rPr>
              <a:t>First, </a:t>
            </a:r>
            <a:r>
              <a:rPr lang="en-US" dirty="0" smtClean="0"/>
              <a:t>the program is “categorical” in that the wage subsidy applies only to workers of some identifiable low-skill group, such as teenagers or welfare recipients.</a:t>
            </a:r>
          </a:p>
          <a:p>
            <a:pPr marL="0" indent="0" algn="just">
              <a:buNone/>
            </a:pPr>
            <a:r>
              <a:rPr lang="en-US" b="1" dirty="0" smtClean="0">
                <a:solidFill>
                  <a:srgbClr val="00B050"/>
                </a:solidFill>
              </a:rPr>
              <a:t>Second, </a:t>
            </a:r>
            <a:r>
              <a:rPr lang="en-US" dirty="0" smtClean="0"/>
              <a:t>the firm receives a wage subsidy only for people newly hired, not for existing employees. This type is sometimes called ‘marginal’ or ‘incremental’ subsidy.</a:t>
            </a:r>
            <a:endParaRPr lang="en-US" dirty="0"/>
          </a:p>
        </p:txBody>
      </p:sp>
    </p:spTree>
    <p:extLst>
      <p:ext uri="{BB962C8B-B14F-4D97-AF65-F5344CB8AC3E}">
        <p14:creationId xmlns:p14="http://schemas.microsoft.com/office/powerpoint/2010/main" val="33377624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A Wage Subsidy Program on Labor Demand</a:t>
            </a:r>
            <a:endParaRPr lang="en-US" sz="2800" b="1" dirty="0">
              <a:solidFill>
                <a:schemeClr val="tx1"/>
              </a:solidFill>
            </a:endParaRPr>
          </a:p>
        </p:txBody>
      </p:sp>
      <p:sp>
        <p:nvSpPr>
          <p:cNvPr id="4" name="Content Placeholder 3"/>
          <p:cNvSpPr>
            <a:spLocks noGrp="1"/>
          </p:cNvSpPr>
          <p:nvPr>
            <p:ph sz="quarter" idx="1"/>
          </p:nvPr>
        </p:nvSpPr>
        <p:spPr>
          <a:xfrm>
            <a:off x="457200" y="1143000"/>
            <a:ext cx="8077200" cy="5330952"/>
          </a:xfrm>
        </p:spPr>
        <p:txBody>
          <a:bodyPr>
            <a:normAutofit/>
          </a:bodyPr>
          <a:lstStyle/>
          <a:p>
            <a:pPr marL="0" indent="0" algn="just">
              <a:buNone/>
            </a:pPr>
            <a:r>
              <a:rPr lang="en-US" b="1" dirty="0" smtClean="0">
                <a:solidFill>
                  <a:srgbClr val="00B050"/>
                </a:solidFill>
              </a:rPr>
              <a:t>Third</a:t>
            </a:r>
            <a:r>
              <a:rPr lang="en-US" dirty="0" smtClean="0"/>
              <a:t>, applicable those new workers who earn a wage less than a target wage rate of </a:t>
            </a:r>
            <a:r>
              <a:rPr lang="en-US" b="1" i="1" dirty="0" smtClean="0"/>
              <a:t>W</a:t>
            </a:r>
            <a:r>
              <a:rPr lang="en-US" sz="1800" b="1" i="1" dirty="0" smtClean="0"/>
              <a:t>t</a:t>
            </a:r>
            <a:r>
              <a:rPr lang="en-US" dirty="0" smtClean="0"/>
              <a:t> qualify for subsidy.</a:t>
            </a:r>
          </a:p>
          <a:p>
            <a:pPr marL="0" indent="0" algn="just">
              <a:buNone/>
            </a:pPr>
            <a:r>
              <a:rPr lang="en-US" b="1" dirty="0" smtClean="0">
                <a:solidFill>
                  <a:srgbClr val="00B050"/>
                </a:solidFill>
              </a:rPr>
              <a:t>Fourth, </a:t>
            </a:r>
            <a:r>
              <a:rPr lang="en-US" dirty="0" smtClean="0"/>
              <a:t>for every worker hired the employer receives a subsidy payment per hour </a:t>
            </a:r>
            <a:r>
              <a:rPr lang="en-US" b="1" i="1" dirty="0" smtClean="0"/>
              <a:t>S</a:t>
            </a:r>
            <a:r>
              <a:rPr lang="en-US" dirty="0" smtClean="0"/>
              <a:t> equal to some percent </a:t>
            </a:r>
            <a:r>
              <a:rPr lang="en-US" b="1" i="1" dirty="0" smtClean="0"/>
              <a:t>r</a:t>
            </a:r>
            <a:r>
              <a:rPr lang="en-US" dirty="0" smtClean="0"/>
              <a:t> of the difference between the target wage, Wt and the pre-subsidy wage, </a:t>
            </a:r>
            <a:r>
              <a:rPr lang="en-US" b="1" i="1" dirty="0" smtClean="0"/>
              <a:t>Wp</a:t>
            </a:r>
            <a:r>
              <a:rPr lang="en-US" dirty="0" smtClean="0"/>
              <a:t>. The subsidy payment is given by the formula: </a:t>
            </a:r>
          </a:p>
          <a:p>
            <a:pPr marL="0" indent="0" algn="just">
              <a:buNone/>
            </a:pPr>
            <a:r>
              <a:rPr lang="en-US" dirty="0"/>
              <a:t>	</a:t>
            </a:r>
            <a:r>
              <a:rPr lang="en-US" dirty="0" smtClean="0"/>
              <a:t>	</a:t>
            </a:r>
            <a:r>
              <a:rPr lang="en-US" b="1" i="1" dirty="0" smtClean="0">
                <a:solidFill>
                  <a:schemeClr val="accent1">
                    <a:lumMod val="75000"/>
                  </a:schemeClr>
                </a:solidFill>
              </a:rPr>
              <a:t>S= r (W</a:t>
            </a:r>
            <a:r>
              <a:rPr lang="en-US" sz="1800" b="1" i="1" dirty="0" smtClean="0">
                <a:solidFill>
                  <a:schemeClr val="accent1">
                    <a:lumMod val="75000"/>
                  </a:schemeClr>
                </a:solidFill>
              </a:rPr>
              <a:t>t</a:t>
            </a:r>
            <a:r>
              <a:rPr lang="en-US" b="1" i="1" dirty="0" smtClean="0">
                <a:solidFill>
                  <a:schemeClr val="accent1">
                    <a:lumMod val="75000"/>
                  </a:schemeClr>
                </a:solidFill>
              </a:rPr>
              <a:t> - W</a:t>
            </a:r>
            <a:r>
              <a:rPr lang="en-US" sz="1800" b="1" i="1" dirty="0" smtClean="0">
                <a:solidFill>
                  <a:schemeClr val="accent1">
                    <a:lumMod val="75000"/>
                  </a:schemeClr>
                </a:solidFill>
              </a:rPr>
              <a:t>p</a:t>
            </a:r>
            <a:r>
              <a:rPr lang="en-US" b="1" i="1" dirty="0" smtClean="0">
                <a:solidFill>
                  <a:schemeClr val="accent1">
                    <a:lumMod val="75000"/>
                  </a:schemeClr>
                </a:solidFill>
              </a:rPr>
              <a:t>)</a:t>
            </a:r>
          </a:p>
          <a:p>
            <a:pPr marL="0" indent="0" algn="just">
              <a:buNone/>
            </a:pPr>
            <a:r>
              <a:rPr lang="en-US" b="1" i="1" dirty="0" smtClean="0">
                <a:solidFill>
                  <a:schemeClr val="accent1">
                    <a:lumMod val="75000"/>
                  </a:schemeClr>
                </a:solidFill>
              </a:rPr>
              <a:t>The subsidy payment received by the firm will be greater for higher values of the subsidy rate r or the greater the difference between </a:t>
            </a:r>
            <a:r>
              <a:rPr lang="en-US" b="1" i="1" dirty="0">
                <a:solidFill>
                  <a:schemeClr val="accent1">
                    <a:lumMod val="75000"/>
                  </a:schemeClr>
                </a:solidFill>
              </a:rPr>
              <a:t>Wt </a:t>
            </a:r>
            <a:r>
              <a:rPr lang="en-US" b="1" i="1" dirty="0" smtClean="0">
                <a:solidFill>
                  <a:schemeClr val="accent1">
                    <a:lumMod val="75000"/>
                  </a:schemeClr>
                </a:solidFill>
              </a:rPr>
              <a:t>and Wp.</a:t>
            </a:r>
            <a:endParaRPr lang="en-US" b="1" i="1" dirty="0">
              <a:solidFill>
                <a:schemeClr val="accent1">
                  <a:lumMod val="75000"/>
                </a:schemeClr>
              </a:solidFill>
            </a:endParaRPr>
          </a:p>
        </p:txBody>
      </p:sp>
    </p:spTree>
    <p:extLst>
      <p:ext uri="{BB962C8B-B14F-4D97-AF65-F5344CB8AC3E}">
        <p14:creationId xmlns:p14="http://schemas.microsoft.com/office/powerpoint/2010/main" val="13435595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A Wage Subsidy Program on Labor Demand</a:t>
            </a:r>
            <a:endParaRPr lang="en-US" sz="2800" b="1" dirty="0">
              <a:solidFill>
                <a:schemeClr val="tx1"/>
              </a:solidFill>
            </a:endParaRP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770" y="1066800"/>
            <a:ext cx="835603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41616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A Wage Subsidy Program on Labor Demand</a:t>
            </a:r>
            <a:endParaRPr lang="en-US" sz="2800" b="1" dirty="0">
              <a:solidFill>
                <a:schemeClr val="tx1"/>
              </a:solidFill>
            </a:endParaRPr>
          </a:p>
        </p:txBody>
      </p:sp>
      <p:sp>
        <p:nvSpPr>
          <p:cNvPr id="4" name="Content Placeholder 3"/>
          <p:cNvSpPr>
            <a:spLocks noGrp="1"/>
          </p:cNvSpPr>
          <p:nvPr>
            <p:ph sz="quarter" idx="1"/>
          </p:nvPr>
        </p:nvSpPr>
        <p:spPr>
          <a:xfrm>
            <a:off x="457200" y="1143000"/>
            <a:ext cx="8077200" cy="5330952"/>
          </a:xfrm>
        </p:spPr>
        <p:txBody>
          <a:bodyPr>
            <a:normAutofit/>
          </a:bodyPr>
          <a:lstStyle/>
          <a:p>
            <a:pPr marL="0" indent="0" algn="just">
              <a:buNone/>
            </a:pPr>
            <a:r>
              <a:rPr lang="en-US" b="1" i="1" dirty="0" smtClean="0">
                <a:solidFill>
                  <a:schemeClr val="accent1">
                    <a:lumMod val="75000"/>
                  </a:schemeClr>
                </a:solidFill>
              </a:rPr>
              <a:t>Q. What are the positive and negative aspect of wage subsidy program?</a:t>
            </a:r>
          </a:p>
          <a:p>
            <a:pPr marL="0" indent="0" algn="just">
              <a:buNone/>
            </a:pPr>
            <a:r>
              <a:rPr lang="en-US" b="1" i="1" dirty="0" smtClean="0">
                <a:solidFill>
                  <a:schemeClr val="accent1">
                    <a:lumMod val="75000"/>
                  </a:schemeClr>
                </a:solidFill>
              </a:rPr>
              <a:t>Advantages:</a:t>
            </a:r>
          </a:p>
          <a:p>
            <a:pPr marL="457200" indent="-457200" algn="just">
              <a:buAutoNum type="alphaLcParenR"/>
            </a:pPr>
            <a:r>
              <a:rPr lang="en-US" b="1" i="1" dirty="0" smtClean="0"/>
              <a:t>Stimulates employment for those workers who are the lowest paid or most marginal in the labor market.</a:t>
            </a:r>
          </a:p>
          <a:p>
            <a:pPr marL="457200" indent="-457200" algn="just">
              <a:buAutoNum type="alphaLcParenR"/>
            </a:pPr>
            <a:r>
              <a:rPr lang="en-US" b="1" i="1" dirty="0" smtClean="0"/>
              <a:t>Subsidy payment is reduced as the worker’s wage increases with experience and training, gradually weaning the worker from the program.</a:t>
            </a:r>
            <a:endParaRPr lang="en-US" b="1" i="1" dirty="0"/>
          </a:p>
        </p:txBody>
      </p:sp>
    </p:spTree>
    <p:extLst>
      <p:ext uri="{BB962C8B-B14F-4D97-AF65-F5344CB8AC3E}">
        <p14:creationId xmlns:p14="http://schemas.microsoft.com/office/powerpoint/2010/main" val="32976214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A Wage Subsidy Program on Labor Demand</a:t>
            </a:r>
            <a:endParaRPr lang="en-US" sz="2800" b="1" dirty="0">
              <a:solidFill>
                <a:schemeClr val="tx1"/>
              </a:solidFill>
            </a:endParaRPr>
          </a:p>
        </p:txBody>
      </p:sp>
      <p:sp>
        <p:nvSpPr>
          <p:cNvPr id="4" name="Content Placeholder 3"/>
          <p:cNvSpPr>
            <a:spLocks noGrp="1"/>
          </p:cNvSpPr>
          <p:nvPr>
            <p:ph sz="quarter" idx="1"/>
          </p:nvPr>
        </p:nvSpPr>
        <p:spPr>
          <a:xfrm>
            <a:off x="457200" y="1143000"/>
            <a:ext cx="8077200" cy="5330952"/>
          </a:xfrm>
        </p:spPr>
        <p:txBody>
          <a:bodyPr>
            <a:normAutofit/>
          </a:bodyPr>
          <a:lstStyle/>
          <a:p>
            <a:pPr marL="0" indent="0" algn="just">
              <a:buNone/>
            </a:pPr>
            <a:r>
              <a:rPr lang="en-US" b="1" i="1" dirty="0" smtClean="0">
                <a:solidFill>
                  <a:schemeClr val="accent1">
                    <a:lumMod val="75000"/>
                  </a:schemeClr>
                </a:solidFill>
              </a:rPr>
              <a:t>Q. What are the positive and negative aspect of wage subsidy program?</a:t>
            </a:r>
          </a:p>
          <a:p>
            <a:pPr marL="0" indent="0" algn="just">
              <a:buNone/>
            </a:pPr>
            <a:r>
              <a:rPr lang="en-US" b="1" i="1" dirty="0" smtClean="0">
                <a:solidFill>
                  <a:schemeClr val="accent1">
                    <a:lumMod val="75000"/>
                  </a:schemeClr>
                </a:solidFill>
              </a:rPr>
              <a:t>Disadvantages:</a:t>
            </a:r>
          </a:p>
          <a:p>
            <a:pPr marL="457200" indent="-457200" algn="just">
              <a:buAutoNum type="alphaLcParenR"/>
            </a:pPr>
            <a:r>
              <a:rPr lang="en-US" b="1" i="1" dirty="0" smtClean="0"/>
              <a:t>Encourage employers to replace full-time workers with part-time workers.</a:t>
            </a:r>
          </a:p>
          <a:p>
            <a:pPr marL="457200" indent="-457200" algn="just">
              <a:buAutoNum type="alphaLcParenR"/>
            </a:pPr>
            <a:r>
              <a:rPr lang="en-US" b="1" i="1" dirty="0" smtClean="0"/>
              <a:t>The employers may churn their labor force by replacing experienced, higher-wage employees with inexperienced, low-wage workers from the target group in order to maximize the amount of subsidy per worker. </a:t>
            </a:r>
          </a:p>
          <a:p>
            <a:pPr marL="457200" indent="-457200" algn="just">
              <a:buAutoNum type="alphaLcParenR"/>
            </a:pPr>
            <a:r>
              <a:rPr lang="en-US" b="1" i="1" dirty="0" smtClean="0"/>
              <a:t>It may reduce employment prospects for the very group of people it is meant to help.</a:t>
            </a:r>
            <a:endParaRPr lang="en-US" b="1" i="1" dirty="0"/>
          </a:p>
        </p:txBody>
      </p:sp>
    </p:spTree>
    <p:extLst>
      <p:ext uri="{BB962C8B-B14F-4D97-AF65-F5344CB8AC3E}">
        <p14:creationId xmlns:p14="http://schemas.microsoft.com/office/powerpoint/2010/main" val="29394099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Import Restrictions on Auto Employment</a:t>
            </a:r>
            <a:endParaRPr lang="en-US" sz="2800" b="1" dirty="0">
              <a:solidFill>
                <a:schemeClr val="tx1"/>
              </a:solidFill>
            </a:endParaRPr>
          </a:p>
        </p:txBody>
      </p:sp>
      <p:sp>
        <p:nvSpPr>
          <p:cNvPr id="4" name="Content Placeholder 3"/>
          <p:cNvSpPr>
            <a:spLocks noGrp="1"/>
          </p:cNvSpPr>
          <p:nvPr>
            <p:ph sz="quarter" idx="1"/>
          </p:nvPr>
        </p:nvSpPr>
        <p:spPr>
          <a:xfrm>
            <a:off x="457200" y="1143000"/>
            <a:ext cx="8077200" cy="5330952"/>
          </a:xfrm>
        </p:spPr>
        <p:txBody>
          <a:bodyPr>
            <a:normAutofit/>
          </a:bodyPr>
          <a:lstStyle/>
          <a:p>
            <a:pPr marL="0" indent="0" algn="just">
              <a:buNone/>
            </a:pPr>
            <a:r>
              <a:rPr lang="en-US" dirty="0" smtClean="0"/>
              <a:t>The marginal productivity theory of labor demand can be used to illustrate the effect of import restriction on auto workers. </a:t>
            </a:r>
          </a:p>
          <a:p>
            <a:pPr marL="0" indent="0" algn="just">
              <a:buNone/>
            </a:pPr>
            <a:r>
              <a:rPr lang="en-US" dirty="0" smtClean="0"/>
              <a:t>Reducing competition in any market drives up the price. When the price for a final product is higher, the marginal revenue product of labor in that industry is higher, leading to higher level of employment. The restriction might take in the form of either tariff or quota. </a:t>
            </a:r>
          </a:p>
          <a:p>
            <a:pPr marL="0" indent="0" algn="just">
              <a:buNone/>
            </a:pPr>
            <a:r>
              <a:rPr lang="en-US" dirty="0" smtClean="0"/>
              <a:t>This simple model predicts that import restrictions would lead higher output, higher prices, and higher employment in the domestic industry.</a:t>
            </a:r>
            <a:endParaRPr lang="en-US" dirty="0"/>
          </a:p>
        </p:txBody>
      </p:sp>
    </p:spTree>
    <p:extLst>
      <p:ext uri="{BB962C8B-B14F-4D97-AF65-F5344CB8AC3E}">
        <p14:creationId xmlns:p14="http://schemas.microsoft.com/office/powerpoint/2010/main" val="30826992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Effect of Import Restrictions on Auto Employment</a:t>
            </a:r>
            <a:endParaRPr lang="en-US" sz="2800" b="1" dirty="0">
              <a:solidFill>
                <a:schemeClr val="tx1"/>
              </a:solidFill>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513" y="1066800"/>
            <a:ext cx="8262287" cy="5596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85494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0772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Demand for Labor </a:t>
            </a:r>
            <a:r>
              <a:rPr lang="en-US" sz="2800" b="1" dirty="0">
                <a:solidFill>
                  <a:schemeClr val="tx1"/>
                </a:solidFill>
              </a:rPr>
              <a:t>and Union </a:t>
            </a:r>
            <a:r>
              <a:rPr lang="en-US" sz="2800" b="1" dirty="0" smtClean="0">
                <a:solidFill>
                  <a:schemeClr val="tx1"/>
                </a:solidFill>
              </a:rPr>
              <a:t/>
            </a:r>
            <a:br>
              <a:rPr lang="en-US" sz="2800" b="1" dirty="0" smtClean="0">
                <a:solidFill>
                  <a:schemeClr val="tx1"/>
                </a:solidFill>
              </a:rPr>
            </a:br>
            <a:r>
              <a:rPr lang="en-US" sz="2800" b="1" dirty="0" smtClean="0">
                <a:solidFill>
                  <a:schemeClr val="tx1"/>
                </a:solidFill>
              </a:rPr>
              <a:t>Wage Concessions</a:t>
            </a:r>
            <a:endParaRPr lang="en-US" sz="2800" b="1" dirty="0">
              <a:solidFill>
                <a:schemeClr val="tx1"/>
              </a:solidFill>
            </a:endParaRPr>
          </a:p>
        </p:txBody>
      </p:sp>
      <p:sp>
        <p:nvSpPr>
          <p:cNvPr id="4" name="Content Placeholder 3"/>
          <p:cNvSpPr>
            <a:spLocks noGrp="1"/>
          </p:cNvSpPr>
          <p:nvPr>
            <p:ph sz="quarter" idx="1"/>
          </p:nvPr>
        </p:nvSpPr>
        <p:spPr>
          <a:xfrm>
            <a:off x="457200" y="1143000"/>
            <a:ext cx="8077200" cy="5330952"/>
          </a:xfrm>
        </p:spPr>
        <p:txBody>
          <a:bodyPr>
            <a:normAutofit/>
          </a:bodyPr>
          <a:lstStyle/>
          <a:p>
            <a:pPr marL="0" indent="0" algn="just">
              <a:buNone/>
            </a:pPr>
            <a:r>
              <a:rPr lang="en-US" sz="2800" dirty="0" smtClean="0"/>
              <a:t>Empirical evidence reflects that the unions are more likely to agree to wage concessions when the demand for their labor becomes more elastic and when they face a decrease in overall demand for their labor. </a:t>
            </a:r>
          </a:p>
          <a:p>
            <a:pPr marL="0" indent="0" algn="just">
              <a:buNone/>
            </a:pPr>
            <a:endParaRPr lang="en-US" sz="2800" dirty="0" smtClean="0"/>
          </a:p>
          <a:p>
            <a:pPr marL="0" indent="0" algn="just">
              <a:buNone/>
            </a:pPr>
            <a:r>
              <a:rPr lang="en-US" sz="2800" dirty="0" smtClean="0"/>
              <a:t>The reason implies that when labor demand becomes more elastic, a wage increase of a certain percentage will be accompanied by a decrease in employment by an even larger percentage than originally projected.</a:t>
            </a:r>
            <a:endParaRPr lang="en-US" sz="2800" dirty="0"/>
          </a:p>
        </p:txBody>
      </p:sp>
    </p:spTree>
    <p:extLst>
      <p:ext uri="{BB962C8B-B14F-4D97-AF65-F5344CB8AC3E}">
        <p14:creationId xmlns:p14="http://schemas.microsoft.com/office/powerpoint/2010/main" val="175402517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1" y="152400"/>
            <a:ext cx="8458199"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Demand for Labor </a:t>
            </a:r>
            <a:r>
              <a:rPr lang="en-US" sz="2800" b="1" dirty="0">
                <a:solidFill>
                  <a:schemeClr val="tx1"/>
                </a:solidFill>
              </a:rPr>
              <a:t>and Union </a:t>
            </a:r>
            <a:r>
              <a:rPr lang="en-US" sz="2800" b="1" dirty="0" smtClean="0">
                <a:solidFill>
                  <a:schemeClr val="tx1"/>
                </a:solidFill>
              </a:rPr>
              <a:t/>
            </a:r>
            <a:br>
              <a:rPr lang="en-US" sz="2800" b="1" dirty="0" smtClean="0">
                <a:solidFill>
                  <a:schemeClr val="tx1"/>
                </a:solidFill>
              </a:rPr>
            </a:br>
            <a:r>
              <a:rPr lang="en-US" sz="2800" b="1" dirty="0" smtClean="0">
                <a:solidFill>
                  <a:schemeClr val="tx1"/>
                </a:solidFill>
              </a:rPr>
              <a:t>Wage Concessions</a:t>
            </a:r>
            <a:endParaRPr lang="en-US" sz="2800" b="1" dirty="0">
              <a:solidFill>
                <a:schemeClr val="tx1"/>
              </a:solidFill>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1" y="1066800"/>
            <a:ext cx="84582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527981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3460</TotalTime>
  <Words>1717</Words>
  <Application>Microsoft Office PowerPoint</Application>
  <PresentationFormat>On-screen Show (4:3)</PresentationFormat>
  <Paragraphs>141</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Oriel</vt:lpstr>
      <vt:lpstr>Chapter 4   The demand for labor in the short run</vt:lpstr>
      <vt:lpstr>The marginal productivity theory of Labor</vt:lpstr>
      <vt:lpstr>The marginal productivity theory of Labor</vt:lpstr>
      <vt:lpstr>The marginal productivity theory of Labor</vt:lpstr>
      <vt:lpstr>The marginal productivity theory of Labor</vt:lpstr>
      <vt:lpstr>The marginal productivity theory of Labor</vt:lpstr>
      <vt:lpstr>The marginal productivity theory of Labor</vt:lpstr>
      <vt:lpstr>The marginal productivity theory of Labor</vt:lpstr>
      <vt:lpstr>A Hypothetical MRPL Schedule and Labor Demand Curve</vt:lpstr>
      <vt:lpstr>A Hypothetical MRPL Schedule and Labor Demand Curve</vt:lpstr>
      <vt:lpstr>Labor Demand Curve</vt:lpstr>
      <vt:lpstr>A change in product demand</vt:lpstr>
      <vt:lpstr>Imperfect competition in the product market.</vt:lpstr>
      <vt:lpstr>Imperfect competition in the product market</vt:lpstr>
      <vt:lpstr>Imperfect competition in the product market</vt:lpstr>
      <vt:lpstr>Derivation of the Market Labor Demand Curve</vt:lpstr>
      <vt:lpstr>The Elasticity of Demand for Labor</vt:lpstr>
      <vt:lpstr>The Elasticity of Demand for Labor</vt:lpstr>
      <vt:lpstr>The Elasticity of Demand for Labor</vt:lpstr>
      <vt:lpstr>The Wage Bill</vt:lpstr>
      <vt:lpstr>Wage Subsidy Programs</vt:lpstr>
      <vt:lpstr>Wage Subsidy Programs</vt:lpstr>
      <vt:lpstr>Wage Subsidy Programs</vt:lpstr>
      <vt:lpstr>The Effect of A Wage Subsidy Program on Labor Demand</vt:lpstr>
      <vt:lpstr>The Effect of A Wage Subsidy Program on Labor Demand</vt:lpstr>
      <vt:lpstr>The Effect of A Wage Subsidy Program on Labor Demand</vt:lpstr>
      <vt:lpstr>The Effect of A Wage Subsidy Program on Labor Demand</vt:lpstr>
      <vt:lpstr>The Effect of A Wage Subsidy Program on Labor Demand</vt:lpstr>
      <vt:lpstr>The Effect of Import Restrictions on Auto Employment</vt:lpstr>
      <vt:lpstr>The Effect of Import Restrictions on Auto Employment</vt:lpstr>
      <vt:lpstr>The Demand for Labor and Union  Wage Concessions</vt:lpstr>
      <vt:lpstr>The Demand for Labor and Union  Wage Concessions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Conduct of Monetary Policy: Tools, Goals, Strategy, and Tactics</dc:title>
  <dc:creator>user</dc:creator>
  <cp:lastModifiedBy>Windows User</cp:lastModifiedBy>
  <cp:revision>237</cp:revision>
  <dcterms:created xsi:type="dcterms:W3CDTF">2018-04-08T16:39:12Z</dcterms:created>
  <dcterms:modified xsi:type="dcterms:W3CDTF">2021-06-28T18:05:18Z</dcterms:modified>
</cp:coreProperties>
</file>