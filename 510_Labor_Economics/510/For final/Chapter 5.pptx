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312" r:id="rId4"/>
    <p:sldId id="311" r:id="rId5"/>
    <p:sldId id="310" r:id="rId6"/>
    <p:sldId id="309" r:id="rId7"/>
    <p:sldId id="307" r:id="rId8"/>
    <p:sldId id="313" r:id="rId9"/>
    <p:sldId id="314" r:id="rId10"/>
    <p:sldId id="315" r:id="rId11"/>
    <p:sldId id="316" r:id="rId12"/>
    <p:sldId id="317" r:id="rId13"/>
    <p:sldId id="318" r:id="rId14"/>
    <p:sldId id="319" r:id="rId15"/>
    <p:sldId id="322" r:id="rId16"/>
    <p:sldId id="320" r:id="rId17"/>
    <p:sldId id="323"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u"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86BBFB-1FA1-47F0-B754-665758543D90}" type="datetimeFigureOut">
              <a:rPr lang="en-US" smtClean="0"/>
              <a:pPr/>
              <a:t>7/15/2021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061856A-F4E1-4BD0-98EE-E2E6F68B468F}" type="slidenum">
              <a:rPr lang="en-US" smtClean="0"/>
              <a:pPr/>
              <a:t>‹#›</a:t>
            </a:fld>
            <a:endParaRPr lang="en-US"/>
          </a:p>
        </p:txBody>
      </p:sp>
    </p:spTree>
    <p:extLst>
      <p:ext uri="{BB962C8B-B14F-4D97-AF65-F5344CB8AC3E}">
        <p14:creationId xmlns:p14="http://schemas.microsoft.com/office/powerpoint/2010/main" val="806162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061856A-F4E1-4BD0-98EE-E2E6F68B468F}"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0BCBC5D6-258E-4EE7-934E-04D162054CF0}" type="datetimeFigureOut">
              <a:rPr lang="en-US" smtClean="0"/>
              <a:pPr/>
              <a:t>7/15/2021</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676C59F-4DD3-4BF4-891B-84E8AA5885A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0BCBC5D6-258E-4EE7-934E-04D162054CF0}" type="datetimeFigureOut">
              <a:rPr lang="en-US" smtClean="0"/>
              <a:pPr/>
              <a:t>7/15/2021</a:t>
            </a:fld>
            <a:endParaRPr lang="en-US"/>
          </a:p>
        </p:txBody>
      </p:sp>
      <p:sp>
        <p:nvSpPr>
          <p:cNvPr id="9" name="Slide Number Placeholder 8"/>
          <p:cNvSpPr>
            <a:spLocks noGrp="1"/>
          </p:cNvSpPr>
          <p:nvPr>
            <p:ph type="sldNum" sz="quarter" idx="15"/>
          </p:nvPr>
        </p:nvSpPr>
        <p:spPr/>
        <p:txBody>
          <a:bodyPr rtlCol="0"/>
          <a:lstStyle/>
          <a:p>
            <a:fld id="{3676C59F-4DD3-4BF4-891B-84E8AA5885A1}"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0BCBC5D6-258E-4EE7-934E-04D162054CF0}" type="datetimeFigureOut">
              <a:rPr lang="en-US" smtClean="0"/>
              <a:pPr/>
              <a:t>7/15/2021</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676C59F-4DD3-4BF4-891B-84E8AA5885A1}"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BCBC5D6-258E-4EE7-934E-04D162054CF0}" type="datetimeFigureOut">
              <a:rPr lang="en-US" smtClean="0"/>
              <a:pPr/>
              <a:t>7/15/2021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76C59F-4DD3-4BF4-891B-84E8AA5885A1}"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0BCBC5D6-258E-4EE7-934E-04D162054CF0}" type="datetimeFigureOut">
              <a:rPr lang="en-US" smtClean="0"/>
              <a:pPr/>
              <a:t>7/15/2021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76C59F-4DD3-4BF4-891B-84E8AA5885A1}"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0BCBC5D6-258E-4EE7-934E-04D162054CF0}" type="datetimeFigureOut">
              <a:rPr lang="en-US" smtClean="0"/>
              <a:pPr/>
              <a:t>7/15/2021</a:t>
            </a:fld>
            <a:endParaRPr lang="en-US"/>
          </a:p>
        </p:txBody>
      </p:sp>
      <p:sp>
        <p:nvSpPr>
          <p:cNvPr id="7" name="Slide Number Placeholder 6"/>
          <p:cNvSpPr>
            <a:spLocks noGrp="1"/>
          </p:cNvSpPr>
          <p:nvPr>
            <p:ph type="sldNum" sz="quarter" idx="11"/>
          </p:nvPr>
        </p:nvSpPr>
        <p:spPr/>
        <p:txBody>
          <a:bodyPr rtlCol="0"/>
          <a:lstStyle/>
          <a:p>
            <a:fld id="{3676C59F-4DD3-4BF4-891B-84E8AA5885A1}"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BC5D6-258E-4EE7-934E-04D162054CF0}" type="datetimeFigureOut">
              <a:rPr lang="en-US" smtClean="0"/>
              <a:pPr/>
              <a:t>7/15/2021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0BCBC5D6-258E-4EE7-934E-04D162054CF0}" type="datetimeFigureOut">
              <a:rPr lang="en-US" smtClean="0"/>
              <a:pPr/>
              <a:t>7/15/2021</a:t>
            </a:fld>
            <a:endParaRPr lang="en-US"/>
          </a:p>
        </p:txBody>
      </p:sp>
      <p:sp>
        <p:nvSpPr>
          <p:cNvPr id="22" name="Slide Number Placeholder 21"/>
          <p:cNvSpPr>
            <a:spLocks noGrp="1"/>
          </p:cNvSpPr>
          <p:nvPr>
            <p:ph type="sldNum" sz="quarter" idx="15"/>
          </p:nvPr>
        </p:nvSpPr>
        <p:spPr/>
        <p:txBody>
          <a:bodyPr rtlCol="0"/>
          <a:lstStyle/>
          <a:p>
            <a:fld id="{3676C59F-4DD3-4BF4-891B-84E8AA5885A1}"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0BCBC5D6-258E-4EE7-934E-04D162054CF0}" type="datetimeFigureOut">
              <a:rPr lang="en-US" smtClean="0"/>
              <a:pPr/>
              <a:t>7/15/2021</a:t>
            </a:fld>
            <a:endParaRPr lang="en-US"/>
          </a:p>
        </p:txBody>
      </p:sp>
      <p:sp>
        <p:nvSpPr>
          <p:cNvPr id="18" name="Slide Number Placeholder 17"/>
          <p:cNvSpPr>
            <a:spLocks noGrp="1"/>
          </p:cNvSpPr>
          <p:nvPr>
            <p:ph type="sldNum" sz="quarter" idx="11"/>
          </p:nvPr>
        </p:nvSpPr>
        <p:spPr/>
        <p:txBody>
          <a:bodyPr rtlCol="0"/>
          <a:lstStyle/>
          <a:p>
            <a:fld id="{3676C59F-4DD3-4BF4-891B-84E8AA5885A1}"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7/15/2021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CBC5D6-258E-4EE7-934E-04D162054CF0}" type="datetimeFigureOut">
              <a:rPr lang="en-US" smtClean="0"/>
              <a:pPr/>
              <a:t>7/15/2021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6C59F-4DD3-4BF4-891B-84E8AA5885A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0BCBC5D6-258E-4EE7-934E-04D162054CF0}" type="datetimeFigureOut">
              <a:rPr lang="en-US" smtClean="0"/>
              <a:pPr/>
              <a:t>7/15/2021</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676C59F-4DD3-4BF4-891B-84E8AA5885A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381000"/>
            <a:ext cx="6553200" cy="3962400"/>
          </a:xfrm>
        </p:spPr>
        <p:style>
          <a:lnRef idx="1">
            <a:schemeClr val="accent3"/>
          </a:lnRef>
          <a:fillRef idx="2">
            <a:schemeClr val="accent3"/>
          </a:fillRef>
          <a:effectRef idx="1">
            <a:schemeClr val="accent3"/>
          </a:effectRef>
          <a:fontRef idx="minor">
            <a:schemeClr val="dk1"/>
          </a:fontRef>
        </p:style>
        <p:txBody>
          <a:bodyPr>
            <a:normAutofit/>
          </a:bodyPr>
          <a:lstStyle/>
          <a:p>
            <a:r>
              <a:rPr lang="en-US" dirty="0" smtClean="0"/>
              <a:t>Chapter </a:t>
            </a:r>
            <a:r>
              <a:rPr lang="en-US" sz="6600" dirty="0" smtClean="0"/>
              <a:t>5</a:t>
            </a:r>
            <a:r>
              <a:rPr lang="en-US" dirty="0" smtClean="0"/>
              <a:t/>
            </a:r>
            <a:br>
              <a:rPr lang="en-US" dirty="0" smtClean="0"/>
            </a:br>
            <a:r>
              <a:rPr lang="en-US" dirty="0"/>
              <a:t/>
            </a:r>
            <a:br>
              <a:rPr lang="en-US" dirty="0"/>
            </a:br>
            <a:r>
              <a:rPr lang="en-US" dirty="0" smtClean="0"/>
              <a:t/>
            </a:r>
            <a:br>
              <a:rPr lang="en-US" dirty="0" smtClean="0"/>
            </a:br>
            <a:r>
              <a:rPr lang="en-US" dirty="0" smtClean="0"/>
              <a:t>The demand for labor in the Long run</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4000" b="1" dirty="0" smtClean="0">
                <a:solidFill>
                  <a:schemeClr val="tx1"/>
                </a:solidFill>
              </a:rPr>
              <a:t>Chapter Summary</a:t>
            </a:r>
            <a:endParaRPr lang="en-US" sz="40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sz="3200" dirty="0" smtClean="0"/>
              <a:t>The distinctive feature of the long run is a sufficiently long period of time for the firm to vary the amount of both labor and capital in response to changes in factor prices, product demand, and technology.</a:t>
            </a:r>
          </a:p>
          <a:p>
            <a:pPr algn="just">
              <a:buNone/>
            </a:pPr>
            <a:r>
              <a:rPr lang="en-US" sz="3200" dirty="0" smtClean="0"/>
              <a:t>Over time technological change and productivity growth continuously reduce the amount of labor needed to produce a unit of output.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Technology of production: </a:t>
            </a:r>
            <a:r>
              <a:rPr lang="en-US" sz="3200" b="1" dirty="0" err="1" smtClean="0">
                <a:solidFill>
                  <a:schemeClr val="tx1"/>
                </a:solidFill>
              </a:rPr>
              <a:t>Isoquants</a:t>
            </a:r>
            <a:endParaRPr lang="en-US" sz="3200" b="1" dirty="0">
              <a:solidFill>
                <a:schemeClr val="tx1"/>
              </a:solidFill>
            </a:endParaRPr>
          </a:p>
        </p:txBody>
      </p:sp>
      <p:sp>
        <p:nvSpPr>
          <p:cNvPr id="3" name="Content Placeholder 2"/>
          <p:cNvSpPr>
            <a:spLocks noGrp="1"/>
          </p:cNvSpPr>
          <p:nvPr>
            <p:ph sz="quarter" idx="1"/>
          </p:nvPr>
        </p:nvSpPr>
        <p:spPr>
          <a:xfrm>
            <a:off x="381000" y="1371600"/>
            <a:ext cx="8153400" cy="5257800"/>
          </a:xfrm>
          <a:solidFill>
            <a:schemeClr val="accent1">
              <a:lumMod val="20000"/>
              <a:lumOff val="80000"/>
            </a:schemeClr>
          </a:solidFill>
        </p:spPr>
        <p:txBody>
          <a:bodyPr>
            <a:normAutofit/>
          </a:bodyPr>
          <a:lstStyle/>
          <a:p>
            <a:pPr algn="just">
              <a:buNone/>
            </a:pPr>
            <a:r>
              <a:rPr lang="en-US" sz="2800" dirty="0" smtClean="0"/>
              <a:t>The goal of the firm is to produce the level of output that maximizes profit. To accomplish this, the firm must decide on the least-cost production method and, in particular on the appropriate combination of capital and labor. This decision is influenced by two considerations:</a:t>
            </a:r>
          </a:p>
          <a:p>
            <a:pPr algn="just">
              <a:buNone/>
            </a:pPr>
            <a:r>
              <a:rPr lang="en-US" sz="2800" b="1" dirty="0" smtClean="0">
                <a:solidFill>
                  <a:schemeClr val="accent3">
                    <a:lumMod val="75000"/>
                  </a:schemeClr>
                </a:solidFill>
              </a:rPr>
              <a:t>First, </a:t>
            </a:r>
            <a:r>
              <a:rPr lang="en-US" sz="2800" dirty="0" smtClean="0"/>
              <a:t>the constraints that technology places on the mix of capital and labor.</a:t>
            </a:r>
          </a:p>
          <a:p>
            <a:pPr algn="just">
              <a:buNone/>
            </a:pPr>
            <a:r>
              <a:rPr lang="en-US" sz="2800" b="1" dirty="0" smtClean="0">
                <a:solidFill>
                  <a:schemeClr val="accent3">
                    <a:lumMod val="75000"/>
                  </a:schemeClr>
                </a:solidFill>
              </a:rPr>
              <a:t>Second, </a:t>
            </a:r>
            <a:r>
              <a:rPr lang="en-US" sz="2800" dirty="0" smtClean="0"/>
              <a:t>the relative prices of the factor inputs.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4000" b="1" dirty="0" smtClean="0">
                <a:solidFill>
                  <a:schemeClr val="tx1"/>
                </a:solidFill>
              </a:rPr>
              <a:t>A set of </a:t>
            </a:r>
            <a:r>
              <a:rPr lang="en-US" sz="4000" b="1" dirty="0" err="1" smtClean="0">
                <a:solidFill>
                  <a:schemeClr val="tx1"/>
                </a:solidFill>
              </a:rPr>
              <a:t>isoquants</a:t>
            </a:r>
            <a:endParaRPr lang="en-US" sz="4000" b="1" dirty="0">
              <a:solidFill>
                <a:schemeClr val="tx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76200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Production technology with zero substitution possibilities</a:t>
            </a:r>
            <a:endParaRPr lang="en-US" sz="3200" b="1" dirty="0">
              <a:solidFill>
                <a:schemeClr val="tx1"/>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95400"/>
            <a:ext cx="76200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4000" b="1" dirty="0" smtClean="0">
                <a:solidFill>
                  <a:schemeClr val="tx1"/>
                </a:solidFill>
              </a:rPr>
              <a:t>A set of </a:t>
            </a:r>
            <a:r>
              <a:rPr lang="en-US" sz="4000" b="1" dirty="0" err="1" smtClean="0">
                <a:solidFill>
                  <a:schemeClr val="tx1"/>
                </a:solidFill>
              </a:rPr>
              <a:t>Isocost</a:t>
            </a:r>
            <a:r>
              <a:rPr lang="en-US" sz="4000" b="1" dirty="0" smtClean="0">
                <a:solidFill>
                  <a:schemeClr val="tx1"/>
                </a:solidFill>
              </a:rPr>
              <a:t> line</a:t>
            </a:r>
            <a:endParaRPr lang="en-US" sz="4000" b="1" dirty="0">
              <a:solidFill>
                <a:schemeClr val="tx1"/>
              </a:solidFill>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1447800"/>
            <a:ext cx="7772399" cy="4800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153400" cy="990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profit maximizing combination of capital and labor</a:t>
            </a:r>
            <a:endParaRPr lang="en-US" sz="3200" b="1" dirty="0">
              <a:solidFill>
                <a:schemeClr val="tx1"/>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1371600"/>
            <a:ext cx="7696199"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12954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800" b="1" dirty="0" smtClean="0">
                <a:solidFill>
                  <a:schemeClr val="tx1"/>
                </a:solidFill>
              </a:rPr>
              <a:t>The Change in the Short-run and Long-run Demand for Labor due a Wage Increase</a:t>
            </a:r>
            <a:endParaRPr lang="en-US" sz="2800" b="1" dirty="0">
              <a:solidFill>
                <a:schemeClr val="tx1"/>
              </a:solidFill>
            </a:endParaRPr>
          </a:p>
        </p:txBody>
      </p:sp>
      <p:sp>
        <p:nvSpPr>
          <p:cNvPr id="4" name="Content Placeholder 3"/>
          <p:cNvSpPr>
            <a:spLocks noGrp="1"/>
          </p:cNvSpPr>
          <p:nvPr>
            <p:ph sz="quarter" idx="1"/>
          </p:nvPr>
        </p:nvSpPr>
        <p:spPr>
          <a:xfrm>
            <a:off x="228600" y="1524000"/>
            <a:ext cx="8458200" cy="5029200"/>
          </a:xfrm>
        </p:spPr>
        <p:txBody>
          <a:bodyPr>
            <a:noAutofit/>
          </a:bodyPr>
          <a:lstStyle/>
          <a:p>
            <a:pPr algn="just"/>
            <a:r>
              <a:rPr lang="en-US" sz="2500" dirty="0" smtClean="0"/>
              <a:t>The rise in the wage causes the firm’s demand for labor fall in the short run due to </a:t>
            </a:r>
            <a:r>
              <a:rPr lang="en-US" sz="2500" b="1" dirty="0" smtClean="0"/>
              <a:t>the scale effect </a:t>
            </a:r>
            <a:r>
              <a:rPr lang="en-US" sz="2500" dirty="0" smtClean="0"/>
              <a:t>as the firm cuts back its production level. </a:t>
            </a:r>
          </a:p>
          <a:p>
            <a:pPr algn="just"/>
            <a:r>
              <a:rPr lang="en-US" sz="2500" dirty="0" smtClean="0"/>
              <a:t>In long-run, the firm is able to substitute capital for labor in the production line, leading to a further decline in labor demand due to </a:t>
            </a:r>
            <a:r>
              <a:rPr lang="en-US" sz="2500" b="1" dirty="0" smtClean="0"/>
              <a:t>substitution effect.</a:t>
            </a:r>
          </a:p>
          <a:p>
            <a:pPr algn="just"/>
            <a:r>
              <a:rPr lang="en-US" sz="2500" dirty="0" smtClean="0"/>
              <a:t>The decline in labor demand due to the decrease in the level of production is known as </a:t>
            </a:r>
            <a:r>
              <a:rPr lang="en-US" sz="2500" b="1" dirty="0" smtClean="0"/>
              <a:t>the scale effect</a:t>
            </a:r>
            <a:r>
              <a:rPr lang="en-US" sz="2500" dirty="0" smtClean="0"/>
              <a:t>.</a:t>
            </a:r>
          </a:p>
          <a:p>
            <a:pPr algn="just"/>
            <a:r>
              <a:rPr lang="en-US" sz="2500" dirty="0" smtClean="0"/>
              <a:t>The resulting change in labor demand due to capital/ labor substitution is known as the </a:t>
            </a:r>
            <a:r>
              <a:rPr lang="en-US" sz="2500" b="1" dirty="0" smtClean="0"/>
              <a:t>substation effect.</a:t>
            </a:r>
            <a:endParaRPr lang="en-US" sz="25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8534400" cy="8382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2400" b="1" dirty="0" smtClean="0">
                <a:solidFill>
                  <a:schemeClr val="tx1"/>
                </a:solidFill>
              </a:rPr>
              <a:t>The Change in the Short-run and Long-run Demand for Labor due a Wage Increase</a:t>
            </a:r>
            <a:endParaRPr lang="en-US" sz="2400" b="1" dirty="0">
              <a:solidFill>
                <a:schemeClr val="tx1"/>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143000"/>
            <a:ext cx="8382000" cy="541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382000" cy="6096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b="1" dirty="0" smtClean="0">
                <a:solidFill>
                  <a:schemeClr val="tx1"/>
                </a:solidFill>
              </a:rPr>
              <a:t>The long-run demand curve for labor</a:t>
            </a:r>
            <a:endParaRPr lang="en-US" b="1" dirty="0">
              <a:solidFill>
                <a:schemeClr val="tx1"/>
              </a:solidFill>
            </a:endParaRPr>
          </a:p>
        </p:txBody>
      </p:sp>
      <p:sp>
        <p:nvSpPr>
          <p:cNvPr id="4" name="Content Placeholder 3"/>
          <p:cNvSpPr>
            <a:spLocks noGrp="1"/>
          </p:cNvSpPr>
          <p:nvPr>
            <p:ph sz="quarter" idx="1"/>
          </p:nvPr>
        </p:nvSpPr>
        <p:spPr>
          <a:xfrm>
            <a:off x="304800" y="1066800"/>
            <a:ext cx="8305800" cy="5486400"/>
          </a:xfrm>
        </p:spPr>
        <p:txBody>
          <a:bodyPr>
            <a:noAutofit/>
          </a:bodyPr>
          <a:lstStyle/>
          <a:p>
            <a:pPr algn="just">
              <a:buNone/>
            </a:pPr>
            <a:r>
              <a:rPr lang="en-US" sz="2800" dirty="0" smtClean="0"/>
              <a:t>The long-run demand curve is more elastic than the short-demand curve.</a:t>
            </a:r>
          </a:p>
          <a:p>
            <a:pPr algn="just">
              <a:buNone/>
            </a:pPr>
            <a:r>
              <a:rPr lang="en-US" sz="2800" dirty="0" smtClean="0"/>
              <a:t>In the short-run,  the firm’s ability to adjust to a wage increase is limited because it is locked into a fixed amount of capital.</a:t>
            </a:r>
          </a:p>
          <a:p>
            <a:pPr algn="just">
              <a:buNone/>
            </a:pPr>
            <a:r>
              <a:rPr lang="en-US" sz="2800" dirty="0" smtClean="0"/>
              <a:t>In the long-run,  however, the ability to change not only the level of production but also the amount of capital provides the firm with much more flexibility in adapting to higher or lower wages, resulting in a demand curve for labor that is more sensitive than to changes in wage costs in the long-run than in the short run.</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382000" cy="685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b="1" dirty="0" smtClean="0">
                <a:solidFill>
                  <a:schemeClr val="tx1"/>
                </a:solidFill>
              </a:rPr>
              <a:t>The long-run demand curve for labor</a:t>
            </a:r>
            <a:endParaRPr lang="en-US" b="1" dirty="0">
              <a:solidFill>
                <a:schemeClr val="tx1"/>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229600" cy="5333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effect of technological change on  labor demand</a:t>
            </a:r>
            <a:endParaRPr lang="en-US" sz="3200" b="1" dirty="0">
              <a:solidFill>
                <a:schemeClr val="tx1"/>
              </a:solidFill>
            </a:endParaRPr>
          </a:p>
        </p:txBody>
      </p:sp>
      <p:sp>
        <p:nvSpPr>
          <p:cNvPr id="4" name="Content Placeholder 3"/>
          <p:cNvSpPr>
            <a:spLocks noGrp="1"/>
          </p:cNvSpPr>
          <p:nvPr>
            <p:ph sz="quarter" idx="1"/>
          </p:nvPr>
        </p:nvSpPr>
        <p:spPr>
          <a:xfrm>
            <a:off x="304800" y="1295400"/>
            <a:ext cx="8305800" cy="5257800"/>
          </a:xfrm>
        </p:spPr>
        <p:txBody>
          <a:bodyPr>
            <a:noAutofit/>
          </a:bodyPr>
          <a:lstStyle/>
          <a:p>
            <a:pPr algn="just">
              <a:buNone/>
            </a:pPr>
            <a:r>
              <a:rPr lang="en-US" sz="2800" dirty="0" smtClean="0"/>
              <a:t>Technological change has a two-pronged effect on the demand for labor. </a:t>
            </a:r>
          </a:p>
          <a:p>
            <a:pPr algn="just">
              <a:buNone/>
            </a:pPr>
            <a:endParaRPr lang="en-US" sz="1200" dirty="0" smtClean="0"/>
          </a:p>
          <a:p>
            <a:pPr algn="just">
              <a:buNone/>
            </a:pPr>
            <a:r>
              <a:rPr lang="en-US" sz="2800" dirty="0" smtClean="0"/>
              <a:t>The initial effect is to reduce the demand for labor as better technology allows firms to produce a given level of output with fewer workers.</a:t>
            </a:r>
          </a:p>
          <a:p>
            <a:pPr algn="just">
              <a:buNone/>
            </a:pPr>
            <a:endParaRPr lang="en-US" sz="1100" dirty="0" smtClean="0"/>
          </a:p>
          <a:p>
            <a:pPr algn="just">
              <a:buNone/>
            </a:pPr>
            <a:r>
              <a:rPr lang="en-US" sz="2800" dirty="0" smtClean="0"/>
              <a:t>The second effect is that improved technology results in lower production costs and, thus, lower product prices, increased sales, and a greater demand for labor.</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effect of technological change on  labor demand</a:t>
            </a:r>
            <a:endParaRPr lang="en-US" sz="3200" b="1" dirty="0">
              <a:solidFill>
                <a:schemeClr val="tx1"/>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71600"/>
            <a:ext cx="8382000" cy="518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impact of technological change on the long-run labor demand</a:t>
            </a:r>
            <a:endParaRPr lang="en-US" sz="3200" b="1" dirty="0">
              <a:solidFill>
                <a:schemeClr val="tx1"/>
              </a:solidFill>
            </a:endParaRPr>
          </a:p>
        </p:txBody>
      </p:sp>
      <p:sp>
        <p:nvSpPr>
          <p:cNvPr id="4" name="Content Placeholder 3"/>
          <p:cNvSpPr>
            <a:spLocks noGrp="1"/>
          </p:cNvSpPr>
          <p:nvPr>
            <p:ph sz="quarter" idx="1"/>
          </p:nvPr>
        </p:nvSpPr>
        <p:spPr/>
        <p:txBody>
          <a:bodyPr>
            <a:normAutofit lnSpcReduction="10000"/>
          </a:bodyPr>
          <a:lstStyle/>
          <a:p>
            <a:pPr algn="just">
              <a:buNone/>
            </a:pPr>
            <a:r>
              <a:rPr lang="en-US" sz="2800" dirty="0" smtClean="0"/>
              <a:t>Give the wage rate W</a:t>
            </a:r>
            <a:r>
              <a:rPr lang="en-US" sz="1800" dirty="0" smtClean="0"/>
              <a:t>1</a:t>
            </a:r>
            <a:r>
              <a:rPr lang="en-US" sz="2800" dirty="0" smtClean="0"/>
              <a:t>, the first impact of technological change is to displace labor as better technology enables the firm to produce same level of output, say Q</a:t>
            </a:r>
            <a:r>
              <a:rPr lang="en-US" sz="1800" dirty="0" smtClean="0"/>
              <a:t>1</a:t>
            </a:r>
            <a:r>
              <a:rPr lang="en-US" sz="2800" dirty="0" smtClean="0"/>
              <a:t>, with less labor. This shifts the long-run labor demand curve to the left. </a:t>
            </a:r>
          </a:p>
          <a:p>
            <a:pPr algn="just">
              <a:buNone/>
            </a:pPr>
            <a:endParaRPr lang="en-US" sz="2800" dirty="0" smtClean="0"/>
          </a:p>
          <a:p>
            <a:pPr algn="just">
              <a:buNone/>
            </a:pPr>
            <a:r>
              <a:rPr lang="en-US" sz="2800" dirty="0" smtClean="0"/>
              <a:t>The resulting decline in the production price, however, stimulates an increase in sales to Q</a:t>
            </a:r>
            <a:r>
              <a:rPr lang="en-US" sz="1800" dirty="0" smtClean="0"/>
              <a:t>2</a:t>
            </a:r>
            <a:r>
              <a:rPr lang="en-US" sz="2800" dirty="0" smtClean="0"/>
              <a:t>, leading to a rightward of the labor demand curve. </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impact of technological change on the long-run labor demand</a:t>
            </a:r>
            <a:endParaRPr lang="en-US" sz="3200" b="1" dirty="0">
              <a:solidFill>
                <a:schemeClr val="tx1"/>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 y="1371600"/>
            <a:ext cx="7743825" cy="5029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effect of changing factor prices on employment forecasting</a:t>
            </a:r>
            <a:endParaRPr lang="en-US" sz="3200" b="1" dirty="0">
              <a:solidFill>
                <a:schemeClr val="tx1"/>
              </a:solidFill>
            </a:endParaRPr>
          </a:p>
        </p:txBody>
      </p:sp>
      <p:sp>
        <p:nvSpPr>
          <p:cNvPr id="4" name="Content Placeholder 3"/>
          <p:cNvSpPr>
            <a:spLocks noGrp="1"/>
          </p:cNvSpPr>
          <p:nvPr>
            <p:ph sz="quarter" idx="1"/>
          </p:nvPr>
        </p:nvSpPr>
        <p:spPr>
          <a:xfrm>
            <a:off x="457200" y="1371600"/>
            <a:ext cx="8077200" cy="5102352"/>
          </a:xfrm>
        </p:spPr>
        <p:txBody>
          <a:bodyPr>
            <a:normAutofit/>
          </a:bodyPr>
          <a:lstStyle/>
          <a:p>
            <a:pPr algn="just">
              <a:buNone/>
            </a:pPr>
            <a:r>
              <a:rPr lang="en-US" sz="2800" dirty="0" smtClean="0"/>
              <a:t>Given the existing employment of L</a:t>
            </a:r>
            <a:r>
              <a:rPr lang="en-US" sz="1800" dirty="0" smtClean="0"/>
              <a:t>1</a:t>
            </a:r>
            <a:r>
              <a:rPr lang="en-US" sz="2800" dirty="0" smtClean="0"/>
              <a:t>, to forecast the future level of employment it is necessary to predict the level of output. Assuming the level of output to be Q</a:t>
            </a:r>
            <a:r>
              <a:rPr lang="en-US" sz="2000" dirty="0" smtClean="0"/>
              <a:t>2</a:t>
            </a:r>
            <a:r>
              <a:rPr lang="en-US" sz="2800" dirty="0" smtClean="0"/>
              <a:t>, if </a:t>
            </a:r>
            <a:r>
              <a:rPr lang="en-US" sz="2800" dirty="0" err="1" smtClean="0"/>
              <a:t>isoquants</a:t>
            </a:r>
            <a:r>
              <a:rPr lang="en-US" sz="2800" dirty="0" smtClean="0"/>
              <a:t> are convex allowing substitution possibilities between K and L, it is also necessary to predict the change in  relative factor prices and the curvature of the </a:t>
            </a:r>
            <a:r>
              <a:rPr lang="en-US" sz="2800" dirty="0" err="1" smtClean="0"/>
              <a:t>isoquants</a:t>
            </a:r>
            <a:r>
              <a:rPr lang="en-US" sz="2800" dirty="0" smtClean="0"/>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382000" cy="1066800"/>
          </a:xfrm>
        </p:spPr>
        <p:style>
          <a:lnRef idx="1">
            <a:schemeClr val="accent3"/>
          </a:lnRef>
          <a:fillRef idx="2">
            <a:schemeClr val="accent3"/>
          </a:fillRef>
          <a:effectRef idx="1">
            <a:schemeClr val="accent3"/>
          </a:effectRef>
          <a:fontRef idx="minor">
            <a:schemeClr val="dk1"/>
          </a:fontRef>
        </p:style>
        <p:txBody>
          <a:bodyPr>
            <a:noAutofit/>
          </a:bodyPr>
          <a:lstStyle/>
          <a:p>
            <a:pPr algn="ctr"/>
            <a:r>
              <a:rPr lang="en-US" sz="3200" b="1" dirty="0" smtClean="0">
                <a:solidFill>
                  <a:schemeClr val="tx1"/>
                </a:solidFill>
              </a:rPr>
              <a:t>The effect of changing factor prices on employment forecasting</a:t>
            </a:r>
            <a:endParaRPr lang="en-US" sz="3200" b="1" dirty="0">
              <a:solidFill>
                <a:schemeClr val="tx1"/>
              </a:solidFill>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77724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2294</TotalTime>
  <Words>671</Words>
  <Application>Microsoft Office PowerPoint</Application>
  <PresentationFormat>On-screen Show (4:3)</PresentationFormat>
  <Paragraphs>39</Paragraphs>
  <Slides>17</Slides>
  <Notes>1</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Oriel</vt:lpstr>
      <vt:lpstr>Chapter 5   The demand for labor in the Long run</vt:lpstr>
      <vt:lpstr>Chapter Summary</vt:lpstr>
      <vt:lpstr>Technology of production: Isoquants</vt:lpstr>
      <vt:lpstr>A set of isoquants</vt:lpstr>
      <vt:lpstr>Production technology with zero substitution possibilities</vt:lpstr>
      <vt:lpstr>A set of Isocost line</vt:lpstr>
      <vt:lpstr>The profit maximizing combination of capital and labor</vt:lpstr>
      <vt:lpstr>The Change in the Short-run and Long-run Demand for Labor due a Wage Increase</vt:lpstr>
      <vt:lpstr>The Change in the Short-run and Long-run Demand for Labor due a Wage Increase</vt:lpstr>
      <vt:lpstr>The long-run demand curve for labor</vt:lpstr>
      <vt:lpstr>The long-run demand curve for labor</vt:lpstr>
      <vt:lpstr>The effect of technological change on  labor demand</vt:lpstr>
      <vt:lpstr>The effect of technological change on  labor demand</vt:lpstr>
      <vt:lpstr>The impact of technological change on the long-run labor demand</vt:lpstr>
      <vt:lpstr>The impact of technological change on the long-run labor demand</vt:lpstr>
      <vt:lpstr>The effect of changing factor prices on employment forecasting</vt:lpstr>
      <vt:lpstr>The effect of changing factor prices on employment forecasting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Conduct of Monetary Policy: Tools, Goals, Strategy, and Tactics</dc:title>
  <dc:creator>user</dc:creator>
  <cp:lastModifiedBy>Windows User</cp:lastModifiedBy>
  <cp:revision>206</cp:revision>
  <dcterms:created xsi:type="dcterms:W3CDTF">2018-04-08T16:39:12Z</dcterms:created>
  <dcterms:modified xsi:type="dcterms:W3CDTF">2021-07-15T18:57:55Z</dcterms:modified>
</cp:coreProperties>
</file>