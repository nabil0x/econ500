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312" r:id="rId4"/>
    <p:sldId id="324" r:id="rId5"/>
    <p:sldId id="325" r:id="rId6"/>
    <p:sldId id="331" r:id="rId7"/>
    <p:sldId id="332" r:id="rId8"/>
    <p:sldId id="326" r:id="rId9"/>
    <p:sldId id="327" r:id="rId10"/>
    <p:sldId id="328" r:id="rId11"/>
    <p:sldId id="329" r:id="rId12"/>
    <p:sldId id="330" r:id="rId13"/>
    <p:sldId id="334" r:id="rId14"/>
    <p:sldId id="337" r:id="rId15"/>
    <p:sldId id="338" r:id="rId16"/>
    <p:sldId id="335" r:id="rId17"/>
    <p:sldId id="33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0" clrIdx="0"/>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86BBFB-1FA1-47F0-B754-665758543D90}" type="datetimeFigureOut">
              <a:rPr lang="en-US" smtClean="0"/>
              <a:pPr/>
              <a:t>8/19/2020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61856A-F4E1-4BD0-98EE-E2E6F68B468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061856A-F4E1-4BD0-98EE-E2E6F68B468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0BCBC5D6-258E-4EE7-934E-04D162054CF0}" type="datetimeFigureOut">
              <a:rPr lang="en-US" smtClean="0"/>
              <a:pPr/>
              <a:t>8/19/2020</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676C59F-4DD3-4BF4-891B-84E8AA5885A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0BCBC5D6-258E-4EE7-934E-04D162054CF0}" type="datetimeFigureOut">
              <a:rPr lang="en-US" smtClean="0"/>
              <a:pPr/>
              <a:t>8/19/2020</a:t>
            </a:fld>
            <a:endParaRPr lang="en-US"/>
          </a:p>
        </p:txBody>
      </p:sp>
      <p:sp>
        <p:nvSpPr>
          <p:cNvPr id="9" name="Slide Number Placeholder 8"/>
          <p:cNvSpPr>
            <a:spLocks noGrp="1"/>
          </p:cNvSpPr>
          <p:nvPr>
            <p:ph type="sldNum" sz="quarter" idx="15"/>
          </p:nvPr>
        </p:nvSpPr>
        <p:spPr/>
        <p:txBody>
          <a:bodyPr rtlCol="0"/>
          <a:lstStyle/>
          <a:p>
            <a:fld id="{3676C59F-4DD3-4BF4-891B-84E8AA5885A1}"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0BCBC5D6-258E-4EE7-934E-04D162054CF0}" type="datetimeFigureOut">
              <a:rPr lang="en-US" smtClean="0"/>
              <a:pPr/>
              <a:t>8/19/2020</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676C59F-4DD3-4BF4-891B-84E8AA5885A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BCBC5D6-258E-4EE7-934E-04D162054CF0}" type="datetimeFigureOut">
              <a:rPr lang="en-US" smtClean="0"/>
              <a:pPr/>
              <a:t>8/19/2020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6C59F-4DD3-4BF4-891B-84E8AA5885A1}"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0BCBC5D6-258E-4EE7-934E-04D162054CF0}" type="datetimeFigureOut">
              <a:rPr lang="en-US" smtClean="0"/>
              <a:pPr/>
              <a:t>8/19/2020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76C59F-4DD3-4BF4-891B-84E8AA5885A1}"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0BCBC5D6-258E-4EE7-934E-04D162054CF0}" type="datetimeFigureOut">
              <a:rPr lang="en-US" smtClean="0"/>
              <a:pPr/>
              <a:t>8/19/2020</a:t>
            </a:fld>
            <a:endParaRPr lang="en-US"/>
          </a:p>
        </p:txBody>
      </p:sp>
      <p:sp>
        <p:nvSpPr>
          <p:cNvPr id="7" name="Slide Number Placeholder 6"/>
          <p:cNvSpPr>
            <a:spLocks noGrp="1"/>
          </p:cNvSpPr>
          <p:nvPr>
            <p:ph type="sldNum" sz="quarter" idx="11"/>
          </p:nvPr>
        </p:nvSpPr>
        <p:spPr/>
        <p:txBody>
          <a:bodyPr rtlCol="0"/>
          <a:lstStyle/>
          <a:p>
            <a:fld id="{3676C59F-4DD3-4BF4-891B-84E8AA5885A1}"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C5D6-258E-4EE7-934E-04D162054CF0}" type="datetimeFigureOut">
              <a:rPr lang="en-US" smtClean="0"/>
              <a:pPr/>
              <a:t>8/19/2020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0BCBC5D6-258E-4EE7-934E-04D162054CF0}" type="datetimeFigureOut">
              <a:rPr lang="en-US" smtClean="0"/>
              <a:pPr/>
              <a:t>8/19/2020</a:t>
            </a:fld>
            <a:endParaRPr lang="en-US"/>
          </a:p>
        </p:txBody>
      </p:sp>
      <p:sp>
        <p:nvSpPr>
          <p:cNvPr id="22" name="Slide Number Placeholder 21"/>
          <p:cNvSpPr>
            <a:spLocks noGrp="1"/>
          </p:cNvSpPr>
          <p:nvPr>
            <p:ph type="sldNum" sz="quarter" idx="15"/>
          </p:nvPr>
        </p:nvSpPr>
        <p:spPr/>
        <p:txBody>
          <a:bodyPr rtlCol="0"/>
          <a:lstStyle/>
          <a:p>
            <a:fld id="{3676C59F-4DD3-4BF4-891B-84E8AA5885A1}"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0BCBC5D6-258E-4EE7-934E-04D162054CF0}" type="datetimeFigureOut">
              <a:rPr lang="en-US" smtClean="0"/>
              <a:pPr/>
              <a:t>8/19/2020</a:t>
            </a:fld>
            <a:endParaRPr lang="en-US"/>
          </a:p>
        </p:txBody>
      </p:sp>
      <p:sp>
        <p:nvSpPr>
          <p:cNvPr id="18" name="Slide Number Placeholder 17"/>
          <p:cNvSpPr>
            <a:spLocks noGrp="1"/>
          </p:cNvSpPr>
          <p:nvPr>
            <p:ph type="sldNum" sz="quarter" idx="11"/>
          </p:nvPr>
        </p:nvSpPr>
        <p:spPr/>
        <p:txBody>
          <a:bodyPr rtlCol="0"/>
          <a:lstStyle/>
          <a:p>
            <a:fld id="{3676C59F-4DD3-4BF4-891B-84E8AA5885A1}"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8/19/2020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8/19/2020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BCBC5D6-258E-4EE7-934E-04D162054CF0}" type="datetimeFigureOut">
              <a:rPr lang="en-US" smtClean="0"/>
              <a:pPr/>
              <a:t>8/19/2020</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676C59F-4DD3-4BF4-891B-84E8AA5885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381000"/>
            <a:ext cx="6553200" cy="3962400"/>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smtClean="0"/>
              <a:t>Chapter </a:t>
            </a:r>
            <a:r>
              <a:rPr lang="en-US" sz="6600" dirty="0" smtClean="0"/>
              <a:t>6</a:t>
            </a:r>
            <a:r>
              <a:rPr lang="en-US" dirty="0" smtClean="0"/>
              <a:t/>
            </a:r>
            <a:br>
              <a:rPr lang="en-US" dirty="0" smtClean="0"/>
            </a:br>
            <a:r>
              <a:rPr lang="en-US" dirty="0"/>
              <a:t/>
            </a:r>
            <a:br>
              <a:rPr lang="en-US" dirty="0"/>
            </a:br>
            <a:r>
              <a:rPr lang="en-US" dirty="0" smtClean="0"/>
              <a:t/>
            </a:r>
            <a:br>
              <a:rPr lang="en-US" dirty="0" smtClean="0"/>
            </a:br>
            <a:r>
              <a:rPr lang="en-US" sz="3200" dirty="0" smtClean="0"/>
              <a:t>The Determination of Wages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4000" b="1" dirty="0" smtClean="0">
                <a:solidFill>
                  <a:schemeClr val="tx1"/>
                </a:solidFill>
              </a:rPr>
              <a:t>Chapter Summary</a:t>
            </a:r>
            <a:endParaRPr lang="en-US" sz="40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lnSpcReduction="10000"/>
          </a:bodyPr>
          <a:lstStyle/>
          <a:p>
            <a:pPr algn="just">
              <a:buNone/>
            </a:pPr>
            <a:r>
              <a:rPr lang="en-US" sz="2800" dirty="0" smtClean="0"/>
              <a:t>Wage determination is at the core of labor economics, since the structure of wages and the change in wages over time are responsible for efficiently allocating labor and maintaining a balance between demand and supply in the market.</a:t>
            </a:r>
          </a:p>
          <a:p>
            <a:pPr algn="just">
              <a:buNone/>
            </a:pPr>
            <a:r>
              <a:rPr lang="en-US" sz="2800" dirty="0" smtClean="0"/>
              <a:t>In this chapter, several important issues of wage determination will be discussed such as the law of one wage in the competitive market, wage determination in the imperfect market, minimum wage, and efficiency wage theory,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Wage Determination in Competitive Markets</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lnSpcReduction="10000"/>
          </a:bodyPr>
          <a:lstStyle/>
          <a:p>
            <a:pPr algn="just">
              <a:buNone/>
            </a:pPr>
            <a:r>
              <a:rPr lang="en-US" sz="2800" dirty="0" smtClean="0"/>
              <a:t>There are five key assumptions in the model of perfect competition:</a:t>
            </a:r>
          </a:p>
          <a:p>
            <a:pPr marL="514350" indent="-514350" algn="just">
              <a:buAutoNum type="arabicParenR"/>
            </a:pPr>
            <a:r>
              <a:rPr lang="en-US" sz="2800" dirty="0" smtClean="0"/>
              <a:t>Business firms seek to maximize profit, and workers seek to maximize utility.</a:t>
            </a:r>
          </a:p>
          <a:p>
            <a:pPr marL="514350" indent="-514350" algn="just">
              <a:buAutoNum type="arabicParenR"/>
            </a:pPr>
            <a:r>
              <a:rPr lang="en-US" sz="2800" dirty="0" smtClean="0"/>
              <a:t>Workers and firms have perfect  information about wages and job opportunities in the labor market.</a:t>
            </a:r>
          </a:p>
          <a:p>
            <a:pPr marL="514350" indent="-514350" algn="just">
              <a:buAutoNum type="arabicParenR"/>
            </a:pPr>
            <a:r>
              <a:rPr lang="en-US" sz="2800" dirty="0" smtClean="0"/>
              <a:t>Workers in the labor market are identical with respect skills and productivity, jobs offered by the firms are identical with respect to working condition and other nonwage attributes.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Wage Determination in Competitive Markets</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marL="514350" indent="-514350" algn="just">
              <a:buFont typeface="+mj-lt"/>
              <a:buAutoNum type="arabicParenR" startAt="4"/>
            </a:pPr>
            <a:r>
              <a:rPr lang="en-US" sz="2800" dirty="0" smtClean="0"/>
              <a:t>The labor market is composed of many individual firms on buyer’s side of the market and many workers on the seller’s side. The workers do not belong to unions, and firms do not collude.</a:t>
            </a:r>
          </a:p>
          <a:p>
            <a:pPr marL="514350" indent="-514350" algn="just">
              <a:buFont typeface="+mj-lt"/>
              <a:buAutoNum type="arabicParenR" startAt="4"/>
            </a:pPr>
            <a:r>
              <a:rPr lang="en-US" sz="2800" dirty="0" smtClean="0"/>
              <a:t>All jobs in the labor markets are open to competition by workers, no institutional barriers (for instance, seniority provision and internal hiring rules) inhibit mobility of workers from one job to another. Costs of mobility </a:t>
            </a:r>
            <a:r>
              <a:rPr lang="en-US" sz="2800" smtClean="0"/>
              <a:t>are zero</a:t>
            </a:r>
            <a:r>
              <a:rPr lang="en-US" sz="2800" dirty="0" smtClean="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Determination of Wages in a Perfectly Competitive Market</a:t>
            </a:r>
            <a:endParaRPr lang="en-US" sz="3200" b="1" dirty="0">
              <a:solidFill>
                <a:schemeClr val="tx1"/>
              </a:solidFill>
            </a:endParaRPr>
          </a:p>
        </p:txBody>
      </p:sp>
      <p:pic>
        <p:nvPicPr>
          <p:cNvPr id="1026" name="Picture 2" descr="C:\Users\user\Downloads\20200722_215136.jpg"/>
          <p:cNvPicPr>
            <a:picLocks noGrp="1" noChangeAspect="1" noChangeArrowheads="1"/>
          </p:cNvPicPr>
          <p:nvPr>
            <p:ph sz="quarter" idx="1"/>
          </p:nvPr>
        </p:nvPicPr>
        <p:blipFill>
          <a:blip r:embed="rId2" cstate="print"/>
          <a:srcRect/>
          <a:stretch>
            <a:fillRect/>
          </a:stretch>
        </p:blipFill>
        <p:spPr bwMode="auto">
          <a:xfrm>
            <a:off x="304800" y="1295400"/>
            <a:ext cx="8382000" cy="5257799"/>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0772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Market Imperfections</a:t>
            </a:r>
            <a:endParaRPr lang="en-US" sz="3200" b="1" dirty="0">
              <a:solidFill>
                <a:schemeClr val="tx1"/>
              </a:solidFill>
            </a:endParaRPr>
          </a:p>
        </p:txBody>
      </p:sp>
      <p:sp>
        <p:nvSpPr>
          <p:cNvPr id="4" name="Content Placeholder 3"/>
          <p:cNvSpPr>
            <a:spLocks noGrp="1"/>
          </p:cNvSpPr>
          <p:nvPr>
            <p:ph sz="quarter" idx="1"/>
          </p:nvPr>
        </p:nvSpPr>
        <p:spPr>
          <a:xfrm>
            <a:off x="457200" y="1143000"/>
            <a:ext cx="8001000" cy="5330952"/>
          </a:xfrm>
        </p:spPr>
        <p:txBody>
          <a:bodyPr>
            <a:normAutofit/>
          </a:bodyPr>
          <a:lstStyle/>
          <a:p>
            <a:pPr algn="just">
              <a:buNone/>
            </a:pPr>
            <a:r>
              <a:rPr lang="en-US" sz="2800" b="1" dirty="0" smtClean="0">
                <a:solidFill>
                  <a:schemeClr val="accent3">
                    <a:lumMod val="75000"/>
                  </a:schemeClr>
                </a:solidFill>
              </a:rPr>
              <a:t>Why the labor market did not give rise to the predicted one wage? </a:t>
            </a:r>
          </a:p>
          <a:p>
            <a:pPr algn="just">
              <a:buNone/>
            </a:pPr>
            <a:r>
              <a:rPr lang="en-US" sz="2800" b="1" dirty="0" smtClean="0">
                <a:solidFill>
                  <a:schemeClr val="accent3">
                    <a:lumMod val="75000"/>
                  </a:schemeClr>
                </a:solidFill>
              </a:rPr>
              <a:t>Reason 1: </a:t>
            </a:r>
            <a:r>
              <a:rPr lang="en-US" sz="2800" dirty="0" smtClean="0"/>
              <a:t>the law of one wage describes a situation of long-run equilibrium, while real world labor market are in a constant state of change</a:t>
            </a:r>
            <a:r>
              <a:rPr lang="en-US" sz="2800" dirty="0" smtClean="0">
                <a:solidFill>
                  <a:schemeClr val="accent3">
                    <a:lumMod val="75000"/>
                  </a:schemeClr>
                </a:solidFill>
              </a:rPr>
              <a:t>.</a:t>
            </a:r>
          </a:p>
          <a:p>
            <a:pPr algn="just">
              <a:buNone/>
            </a:pPr>
            <a:r>
              <a:rPr lang="en-US" sz="2800" b="1" dirty="0" smtClean="0">
                <a:solidFill>
                  <a:schemeClr val="accent3">
                    <a:lumMod val="75000"/>
                  </a:schemeClr>
                </a:solidFill>
              </a:rPr>
              <a:t>Reason 2.: </a:t>
            </a:r>
            <a:r>
              <a:rPr lang="en-US" sz="2800" dirty="0" smtClean="0"/>
              <a:t>sometimes market for different categories violates one or more of the five of the assumptions of the perfectly competitive model.</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0772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Market Imperfections</a:t>
            </a:r>
            <a:endParaRPr lang="en-US" sz="3200" b="1" dirty="0">
              <a:solidFill>
                <a:schemeClr val="tx1"/>
              </a:solidFill>
            </a:endParaRPr>
          </a:p>
        </p:txBody>
      </p:sp>
      <p:sp>
        <p:nvSpPr>
          <p:cNvPr id="4" name="Content Placeholder 3"/>
          <p:cNvSpPr>
            <a:spLocks noGrp="1"/>
          </p:cNvSpPr>
          <p:nvPr>
            <p:ph sz="quarter" idx="1"/>
          </p:nvPr>
        </p:nvSpPr>
        <p:spPr>
          <a:xfrm>
            <a:off x="457200" y="1143000"/>
            <a:ext cx="8001000" cy="5330952"/>
          </a:xfrm>
        </p:spPr>
        <p:txBody>
          <a:bodyPr>
            <a:normAutofit/>
          </a:bodyPr>
          <a:lstStyle/>
          <a:p>
            <a:pPr algn="just">
              <a:buNone/>
            </a:pPr>
            <a:r>
              <a:rPr lang="en-US" sz="2800" dirty="0" smtClean="0"/>
              <a:t>There are several reasons for market imperfection in the real world. Some of the following reasons are:</a:t>
            </a:r>
          </a:p>
          <a:p>
            <a:pPr marL="514350" indent="-514350" algn="just">
              <a:buAutoNum type="arabicParenR"/>
            </a:pPr>
            <a:r>
              <a:rPr lang="en-US" sz="2800" dirty="0" smtClean="0"/>
              <a:t>Non-maximizing Behavior</a:t>
            </a:r>
          </a:p>
          <a:p>
            <a:pPr marL="514350" indent="-514350" algn="just">
              <a:buAutoNum type="arabicParenR"/>
            </a:pPr>
            <a:r>
              <a:rPr lang="en-US" sz="2800" dirty="0" smtClean="0"/>
              <a:t>Imperfect Information</a:t>
            </a:r>
          </a:p>
          <a:p>
            <a:pPr marL="514350" indent="-514350" algn="just">
              <a:buAutoNum type="arabicParenR"/>
            </a:pPr>
            <a:r>
              <a:rPr lang="en-US" sz="2800" dirty="0" smtClean="0"/>
              <a:t>Heterogeneity of workers and jobs</a:t>
            </a:r>
          </a:p>
          <a:p>
            <a:pPr marL="514350" indent="-514350" algn="just">
              <a:buAutoNum type="arabicParenR"/>
            </a:pPr>
            <a:r>
              <a:rPr lang="en-US" sz="2800" dirty="0" smtClean="0"/>
              <a:t>Union and </a:t>
            </a:r>
            <a:r>
              <a:rPr lang="en-US" sz="2800" smtClean="0"/>
              <a:t>employer collusion</a:t>
            </a:r>
            <a:endParaRPr lang="en-US" sz="2800" dirty="0" smtClean="0"/>
          </a:p>
          <a:p>
            <a:pPr marL="514350" indent="-514350" algn="just">
              <a:buAutoNum type="arabicParenR"/>
            </a:pPr>
            <a:r>
              <a:rPr lang="en-US" sz="2800" dirty="0" smtClean="0"/>
              <a:t>Costly mobility.</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More Realistic Model</a:t>
            </a:r>
            <a:endParaRPr lang="en-US" sz="3200" b="1" dirty="0">
              <a:solidFill>
                <a:schemeClr val="tx1"/>
              </a:solidFill>
            </a:endParaRPr>
          </a:p>
        </p:txBody>
      </p:sp>
      <p:sp>
        <p:nvSpPr>
          <p:cNvPr id="4" name="Content Placeholder 3"/>
          <p:cNvSpPr>
            <a:spLocks noGrp="1"/>
          </p:cNvSpPr>
          <p:nvPr>
            <p:ph sz="quarter" idx="1"/>
          </p:nvPr>
        </p:nvSpPr>
        <p:spPr>
          <a:xfrm>
            <a:off x="457200" y="990600"/>
            <a:ext cx="8001000" cy="5483352"/>
          </a:xfrm>
        </p:spPr>
        <p:txBody>
          <a:bodyPr/>
          <a:lstStyle/>
          <a:p>
            <a:pPr algn="just">
              <a:buNone/>
            </a:pPr>
            <a:r>
              <a:rPr lang="en-US" dirty="0" smtClean="0"/>
              <a:t>	</a:t>
            </a:r>
            <a:r>
              <a:rPr lang="en-US" sz="2800" dirty="0" smtClean="0"/>
              <a:t>Most real world labor markets feature imperfections such as non-maximizing behavior, limited information, and heterogeneous workers and jobs, that  prevent the forces of competition and labor mobility from completely eliminating all wage differentials.</a:t>
            </a:r>
          </a:p>
          <a:p>
            <a:pPr algn="just">
              <a:buNone/>
            </a:pPr>
            <a:r>
              <a:rPr lang="en-US" sz="2800" dirty="0" smtClean="0"/>
              <a:t>The dispersion of wage rates that results is illustrated in the figure shown on the following slide.  The area of indeterminacy in wages is represented by the band extending from upper limit W</a:t>
            </a:r>
            <a:r>
              <a:rPr lang="en-US" sz="1600" dirty="0" smtClean="0"/>
              <a:t>U</a:t>
            </a:r>
            <a:r>
              <a:rPr lang="en-US" sz="2800" dirty="0" smtClean="0"/>
              <a:t> to the lower limit W</a:t>
            </a:r>
            <a:r>
              <a:rPr lang="en-US" sz="1600" dirty="0" smtClean="0"/>
              <a:t>L</a:t>
            </a:r>
            <a:r>
              <a:rPr lang="en-US" sz="2800" dirty="0" smtClean="0"/>
              <a:t>. </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More Realistic Model</a:t>
            </a:r>
            <a:endParaRPr lang="en-US" sz="3200" b="1" dirty="0">
              <a:solidFill>
                <a:schemeClr val="tx1"/>
              </a:solidFill>
            </a:endParaRPr>
          </a:p>
        </p:txBody>
      </p:sp>
      <p:sp>
        <p:nvSpPr>
          <p:cNvPr id="4" name="Content Placeholder 3"/>
          <p:cNvSpPr>
            <a:spLocks noGrp="1"/>
          </p:cNvSpPr>
          <p:nvPr>
            <p:ph sz="quarter" idx="1"/>
          </p:nvPr>
        </p:nvSpPr>
        <p:spPr>
          <a:xfrm>
            <a:off x="457200" y="990600"/>
            <a:ext cx="8229600" cy="5483352"/>
          </a:xfrm>
        </p:spPr>
        <p:txBody>
          <a:bodyPr>
            <a:normAutofit/>
          </a:bodyPr>
          <a:lstStyle/>
          <a:p>
            <a:pPr algn="just">
              <a:buNone/>
            </a:pPr>
            <a:r>
              <a:rPr lang="en-US" dirty="0" smtClean="0"/>
              <a:t>	</a:t>
            </a:r>
          </a:p>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lgn="just">
              <a:buNone/>
            </a:pPr>
            <a:r>
              <a:rPr lang="en-US" dirty="0" smtClean="0"/>
              <a:t>The firm can not pay more than W</a:t>
            </a:r>
            <a:r>
              <a:rPr lang="en-US" sz="1600" dirty="0" smtClean="0"/>
              <a:t>U</a:t>
            </a:r>
            <a:r>
              <a:rPr lang="en-US" sz="2800" dirty="0" smtClean="0"/>
              <a:t> </a:t>
            </a:r>
            <a:r>
              <a:rPr lang="en-US" dirty="0" smtClean="0"/>
              <a:t>because to do so would lower its profits below minimum necessary level. Similarly, it cannot pay below W</a:t>
            </a:r>
            <a:r>
              <a:rPr lang="en-US" sz="1600" dirty="0" smtClean="0"/>
              <a:t>L</a:t>
            </a:r>
            <a:r>
              <a:rPr lang="en-US" dirty="0" smtClean="0"/>
              <a:t> because it would not be able to attract or keep a workforce. Most of the firm will pay close to going market wage </a:t>
            </a:r>
            <a:r>
              <a:rPr lang="en-US" b="1" dirty="0" smtClean="0"/>
              <a:t>W</a:t>
            </a:r>
            <a:r>
              <a:rPr lang="en-US" sz="1600" b="1" dirty="0" smtClean="0"/>
              <a:t>E. </a:t>
            </a:r>
            <a:endParaRPr lang="en-US" b="1"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1027" name="Picture 3" descr="C:\Users\user\Downloads\20200812_203647.jpg"/>
          <p:cNvPicPr>
            <a:picLocks noChangeAspect="1" noChangeArrowheads="1"/>
          </p:cNvPicPr>
          <p:nvPr/>
        </p:nvPicPr>
        <p:blipFill>
          <a:blip r:embed="rId2" cstate="print"/>
          <a:srcRect/>
          <a:stretch>
            <a:fillRect/>
          </a:stretch>
        </p:blipFill>
        <p:spPr bwMode="auto">
          <a:xfrm>
            <a:off x="457200" y="914400"/>
            <a:ext cx="8153400" cy="31242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400" b="1" dirty="0" smtClean="0">
                <a:solidFill>
                  <a:schemeClr val="tx1"/>
                </a:solidFill>
              </a:rPr>
              <a:t>Wage Determination in a Monopsony Market</a:t>
            </a:r>
            <a:endParaRPr lang="en-US" sz="2400" b="1" dirty="0">
              <a:solidFill>
                <a:schemeClr val="tx1"/>
              </a:solidFill>
            </a:endParaRPr>
          </a:p>
        </p:txBody>
      </p:sp>
      <p:sp>
        <p:nvSpPr>
          <p:cNvPr id="4" name="Content Placeholder 3"/>
          <p:cNvSpPr>
            <a:spLocks noGrp="1"/>
          </p:cNvSpPr>
          <p:nvPr>
            <p:ph sz="quarter" idx="1"/>
          </p:nvPr>
        </p:nvSpPr>
        <p:spPr>
          <a:xfrm>
            <a:off x="457200" y="990600"/>
            <a:ext cx="8229600" cy="5334000"/>
          </a:xfrm>
        </p:spPr>
        <p:txBody>
          <a:bodyPr>
            <a:normAutofit/>
          </a:bodyPr>
          <a:lstStyle/>
          <a:p>
            <a:pPr algn="just">
              <a:buNone/>
            </a:pPr>
            <a:r>
              <a:rPr lang="en-US" dirty="0" smtClean="0"/>
              <a:t>The profit-maximizing level of employment for the </a:t>
            </a:r>
            <a:r>
              <a:rPr lang="en-US" dirty="0" err="1" smtClean="0"/>
              <a:t>monopsonist</a:t>
            </a:r>
            <a:r>
              <a:rPr lang="en-US" dirty="0" smtClean="0"/>
              <a:t> is the intersecting point of MCL schedule and MRP schedule. </a:t>
            </a:r>
          </a:p>
          <a:p>
            <a:pPr algn="just">
              <a:buNone/>
            </a:pPr>
            <a:r>
              <a:rPr lang="en-US" dirty="0" smtClean="0"/>
              <a:t>Given that the firm desires to hire a specific level of employment, the supply curve shows that the firm must pay a wage to attract that many workers. </a:t>
            </a:r>
          </a:p>
          <a:p>
            <a:pPr algn="just">
              <a:buNone/>
            </a:pPr>
            <a:r>
              <a:rPr lang="en-US" dirty="0" smtClean="0"/>
              <a:t>If the labor market were competitive, the wage rate and level of employment would be the point of crossing supply and MRP</a:t>
            </a:r>
            <a:r>
              <a:rPr lang="en-US" sz="1400" dirty="0" smtClean="0"/>
              <a:t>L</a:t>
            </a:r>
            <a:r>
              <a:rPr lang="en-US" dirty="0" smtClean="0"/>
              <a:t> (demand curve) curves.  </a:t>
            </a:r>
          </a:p>
          <a:p>
            <a:pPr algn="just">
              <a:buNone/>
            </a:pPr>
            <a:r>
              <a:rPr lang="en-US" dirty="0" smtClean="0"/>
              <a:t>The amount of </a:t>
            </a:r>
            <a:r>
              <a:rPr lang="en-US" dirty="0" err="1" smtClean="0"/>
              <a:t>monopsonistic</a:t>
            </a:r>
            <a:r>
              <a:rPr lang="en-US" dirty="0" smtClean="0"/>
              <a:t> exploitation is the difference between the value of what labor produces and what it is paid. </a:t>
            </a:r>
          </a:p>
          <a:p>
            <a:pPr algn="just">
              <a:buNone/>
            </a:pPr>
            <a:r>
              <a:rPr lang="en-US" sz="2800" dirty="0" smtClean="0"/>
              <a:t> </a:t>
            </a:r>
          </a:p>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400" b="1" dirty="0" smtClean="0">
                <a:solidFill>
                  <a:schemeClr val="tx1"/>
                </a:solidFill>
              </a:rPr>
              <a:t>Wage Determination in a Monopsony Market</a:t>
            </a:r>
            <a:endParaRPr lang="en-US" sz="2400" b="1" dirty="0">
              <a:solidFill>
                <a:schemeClr val="tx1"/>
              </a:solidFill>
            </a:endParaRPr>
          </a:p>
        </p:txBody>
      </p:sp>
      <p:sp>
        <p:nvSpPr>
          <p:cNvPr id="4" name="Content Placeholder 3"/>
          <p:cNvSpPr>
            <a:spLocks noGrp="1"/>
          </p:cNvSpPr>
          <p:nvPr>
            <p:ph sz="quarter" idx="1"/>
          </p:nvPr>
        </p:nvSpPr>
        <p:spPr>
          <a:xfrm>
            <a:off x="457200" y="990600"/>
            <a:ext cx="8229600" cy="5334000"/>
          </a:xfrm>
        </p:spPr>
        <p:txBody>
          <a:bodyPr>
            <a:normAutofit/>
          </a:bodyPr>
          <a:lstStyle/>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2050" name="Picture 2" descr="C:\Users\user\Downloads\20200812_231450.jpg"/>
          <p:cNvPicPr>
            <a:picLocks noChangeAspect="1" noChangeArrowheads="1"/>
          </p:cNvPicPr>
          <p:nvPr/>
        </p:nvPicPr>
        <p:blipFill>
          <a:blip r:embed="rId2" cstate="print"/>
          <a:srcRect/>
          <a:stretch>
            <a:fillRect/>
          </a:stretch>
        </p:blipFill>
        <p:spPr bwMode="auto">
          <a:xfrm>
            <a:off x="381000" y="990601"/>
            <a:ext cx="8229600" cy="53340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400" b="1" dirty="0" smtClean="0">
                <a:solidFill>
                  <a:schemeClr val="tx1"/>
                </a:solidFill>
              </a:rPr>
              <a:t>The Process of Market Adjustment</a:t>
            </a:r>
            <a:endParaRPr lang="en-US" sz="2400" b="1" dirty="0">
              <a:solidFill>
                <a:schemeClr val="tx1"/>
              </a:solidFill>
            </a:endParaRPr>
          </a:p>
        </p:txBody>
      </p:sp>
      <p:sp>
        <p:nvSpPr>
          <p:cNvPr id="4" name="Content Placeholder 3"/>
          <p:cNvSpPr>
            <a:spLocks noGrp="1"/>
          </p:cNvSpPr>
          <p:nvPr>
            <p:ph sz="quarter" idx="1"/>
          </p:nvPr>
        </p:nvSpPr>
        <p:spPr>
          <a:xfrm>
            <a:off x="457200" y="990600"/>
            <a:ext cx="8229600" cy="5334000"/>
          </a:xfrm>
        </p:spPr>
        <p:txBody>
          <a:bodyPr>
            <a:normAutofit/>
          </a:bodyPr>
          <a:lstStyle/>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3074" name="Picture 2" descr="C:\Users\user\Downloads\20200813_001215.jpg"/>
          <p:cNvPicPr>
            <a:picLocks noChangeAspect="1" noChangeArrowheads="1"/>
          </p:cNvPicPr>
          <p:nvPr/>
        </p:nvPicPr>
        <p:blipFill>
          <a:blip r:embed="rId2" cstate="print"/>
          <a:srcRect/>
          <a:stretch>
            <a:fillRect/>
          </a:stretch>
        </p:blipFill>
        <p:spPr bwMode="auto">
          <a:xfrm>
            <a:off x="457200" y="1066800"/>
            <a:ext cx="8077200" cy="549407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Minimum Wage in a Perfectly Competitive Market</a:t>
            </a:r>
            <a:endParaRPr lang="en-US" sz="2800" b="1" dirty="0">
              <a:solidFill>
                <a:schemeClr val="tx1"/>
              </a:solidFill>
            </a:endParaRPr>
          </a:p>
        </p:txBody>
      </p:sp>
      <p:sp>
        <p:nvSpPr>
          <p:cNvPr id="4" name="Content Placeholder 3"/>
          <p:cNvSpPr>
            <a:spLocks noGrp="1"/>
          </p:cNvSpPr>
          <p:nvPr>
            <p:ph sz="quarter" idx="1"/>
          </p:nvPr>
        </p:nvSpPr>
        <p:spPr>
          <a:xfrm>
            <a:off x="457200" y="1600200"/>
            <a:ext cx="7772400" cy="4873752"/>
          </a:xfrm>
        </p:spPr>
        <p:txBody>
          <a:bodyPr>
            <a:normAutofit/>
          </a:bodyPr>
          <a:lstStyle/>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1026" name="Picture 2" descr="C:\Users\user\Downloads\20200819_220115.jpg"/>
          <p:cNvPicPr>
            <a:picLocks noChangeAspect="1" noChangeArrowheads="1"/>
          </p:cNvPicPr>
          <p:nvPr/>
        </p:nvPicPr>
        <p:blipFill>
          <a:blip r:embed="rId2" cstate="print"/>
          <a:srcRect/>
          <a:stretch>
            <a:fillRect/>
          </a:stretch>
        </p:blipFill>
        <p:spPr bwMode="auto">
          <a:xfrm>
            <a:off x="304800" y="1219200"/>
            <a:ext cx="8305800" cy="5357665"/>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Minimum Wage in a Perfectly Competitive Market</a:t>
            </a:r>
            <a:endParaRPr lang="en-US" sz="2800" b="1" dirty="0">
              <a:solidFill>
                <a:schemeClr val="tx1"/>
              </a:solidFill>
            </a:endParaRPr>
          </a:p>
        </p:txBody>
      </p:sp>
      <p:sp>
        <p:nvSpPr>
          <p:cNvPr id="4" name="Content Placeholder 3"/>
          <p:cNvSpPr>
            <a:spLocks noGrp="1"/>
          </p:cNvSpPr>
          <p:nvPr>
            <p:ph sz="quarter" idx="1"/>
          </p:nvPr>
        </p:nvSpPr>
        <p:spPr>
          <a:xfrm>
            <a:off x="457200" y="1600200"/>
            <a:ext cx="7772400" cy="4873752"/>
          </a:xfrm>
        </p:spPr>
        <p:txBody>
          <a:bodyPr>
            <a:normAutofit/>
          </a:bodyPr>
          <a:lstStyle/>
          <a:p>
            <a:pPr algn="just">
              <a:buNone/>
            </a:pPr>
            <a:r>
              <a:rPr lang="en-US" sz="2800" b="1" dirty="0" smtClean="0"/>
              <a:t>Q. Has the minimum wage law achieved its objective of raising the income of low-wage workers? </a:t>
            </a:r>
          </a:p>
          <a:p>
            <a:pPr algn="just">
              <a:buNone/>
            </a:pPr>
            <a:endParaRPr lang="en-US" sz="2800" b="1"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Minimum Wage in a Perfectly Competitive Market</a:t>
            </a:r>
            <a:endParaRPr lang="en-US" sz="2800" b="1" dirty="0">
              <a:solidFill>
                <a:schemeClr val="tx1"/>
              </a:solidFill>
            </a:endParaRPr>
          </a:p>
        </p:txBody>
      </p:sp>
      <p:sp>
        <p:nvSpPr>
          <p:cNvPr id="4" name="Content Placeholder 3"/>
          <p:cNvSpPr>
            <a:spLocks noGrp="1"/>
          </p:cNvSpPr>
          <p:nvPr>
            <p:ph sz="quarter" idx="1"/>
          </p:nvPr>
        </p:nvSpPr>
        <p:spPr>
          <a:xfrm>
            <a:off x="457200" y="1600200"/>
            <a:ext cx="7772400" cy="4873752"/>
          </a:xfrm>
        </p:spPr>
        <p:txBody>
          <a:bodyPr>
            <a:normAutofit/>
          </a:bodyPr>
          <a:lstStyle/>
          <a:p>
            <a:pPr algn="just">
              <a:buNone/>
            </a:pPr>
            <a:r>
              <a:rPr lang="en-US" sz="2800" b="1" dirty="0" smtClean="0">
                <a:solidFill>
                  <a:schemeClr val="accent1">
                    <a:lumMod val="75000"/>
                  </a:schemeClr>
                </a:solidFill>
              </a:rPr>
              <a:t>Q. Has the minimum wage law achieved its objective of raising the income of low-wage workers? </a:t>
            </a:r>
          </a:p>
          <a:p>
            <a:pPr algn="just">
              <a:buNone/>
            </a:pPr>
            <a:r>
              <a:rPr lang="en-US" sz="2800" b="1" dirty="0" smtClean="0"/>
              <a:t>It depends on the elasticity of the demand curve in the covered sector. If labor demand is inelastic (E</a:t>
            </a:r>
            <a:r>
              <a:rPr lang="en-US" sz="2000" b="1" dirty="0" smtClean="0"/>
              <a:t>d</a:t>
            </a:r>
            <a:r>
              <a:rPr lang="en-US" sz="2800" b="1" dirty="0" smtClean="0"/>
              <a:t>&lt;1) the answer is yes; if it is elastic the answer is no. </a:t>
            </a:r>
          </a:p>
          <a:p>
            <a:pPr algn="just">
              <a:buNone/>
            </a:pPr>
            <a:endParaRPr lang="en-US" sz="2800" b="1"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 The Minimum Wage in a Monopsony Market</a:t>
            </a:r>
            <a:endParaRPr lang="en-US" sz="2800" b="1" dirty="0">
              <a:solidFill>
                <a:schemeClr val="tx1"/>
              </a:solidFill>
            </a:endParaRPr>
          </a:p>
        </p:txBody>
      </p:sp>
      <p:sp>
        <p:nvSpPr>
          <p:cNvPr id="4" name="Content Placeholder 3"/>
          <p:cNvSpPr>
            <a:spLocks noGrp="1"/>
          </p:cNvSpPr>
          <p:nvPr>
            <p:ph sz="quarter" idx="1"/>
          </p:nvPr>
        </p:nvSpPr>
        <p:spPr>
          <a:xfrm>
            <a:off x="457200" y="1600200"/>
            <a:ext cx="7772400" cy="4873752"/>
          </a:xfrm>
        </p:spPr>
        <p:txBody>
          <a:bodyPr>
            <a:normAutofit/>
          </a:bodyPr>
          <a:lstStyle/>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2050" name="Picture 2" descr="C:\Users\user\Downloads\20200819_220347.jpg"/>
          <p:cNvPicPr>
            <a:picLocks noChangeAspect="1" noChangeArrowheads="1"/>
          </p:cNvPicPr>
          <p:nvPr/>
        </p:nvPicPr>
        <p:blipFill>
          <a:blip r:embed="rId2" cstate="print"/>
          <a:srcRect/>
          <a:stretch>
            <a:fillRect/>
          </a:stretch>
        </p:blipFill>
        <p:spPr bwMode="auto">
          <a:xfrm>
            <a:off x="381000" y="1219200"/>
            <a:ext cx="8229600" cy="53340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Minimum Wage and Efficiency Wage Theory</a:t>
            </a:r>
            <a:endParaRPr lang="en-US" sz="2800" b="1" dirty="0">
              <a:solidFill>
                <a:schemeClr val="tx1"/>
              </a:solidFill>
            </a:endParaRPr>
          </a:p>
        </p:txBody>
      </p:sp>
      <p:sp>
        <p:nvSpPr>
          <p:cNvPr id="4" name="Content Placeholder 3"/>
          <p:cNvSpPr>
            <a:spLocks noGrp="1"/>
          </p:cNvSpPr>
          <p:nvPr>
            <p:ph sz="quarter" idx="1"/>
          </p:nvPr>
        </p:nvSpPr>
        <p:spPr>
          <a:xfrm>
            <a:off x="457200" y="1371600"/>
            <a:ext cx="8077200" cy="5102352"/>
          </a:xfrm>
        </p:spPr>
        <p:txBody>
          <a:bodyPr>
            <a:normAutofit/>
          </a:bodyPr>
          <a:lstStyle/>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3075" name="Picture 3" descr="C:\Users\user\Downloads\20200819_220534.jpg"/>
          <p:cNvPicPr>
            <a:picLocks noChangeAspect="1" noChangeArrowheads="1"/>
          </p:cNvPicPr>
          <p:nvPr/>
        </p:nvPicPr>
        <p:blipFill>
          <a:blip r:embed="rId2" cstate="print"/>
          <a:srcRect/>
          <a:stretch>
            <a:fillRect/>
          </a:stretch>
        </p:blipFill>
        <p:spPr bwMode="auto">
          <a:xfrm>
            <a:off x="304800" y="1219201"/>
            <a:ext cx="8305800" cy="5181599"/>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2739</TotalTime>
  <Words>599</Words>
  <Application>Microsoft Office PowerPoint</Application>
  <PresentationFormat>On-screen Show (4:3)</PresentationFormat>
  <Paragraphs>454</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Oriel</vt:lpstr>
      <vt:lpstr>Chapter 6   The Determination of Wages</vt:lpstr>
      <vt:lpstr>Chapter Summary</vt:lpstr>
      <vt:lpstr>Wage Determination in Competitive Markets</vt:lpstr>
      <vt:lpstr>Wage Determination in Competitive Markets</vt:lpstr>
      <vt:lpstr>The Determination of Wages in a Perfectly Competitive Market</vt:lpstr>
      <vt:lpstr>Market Imperfections</vt:lpstr>
      <vt:lpstr>Market Imperfections</vt:lpstr>
      <vt:lpstr>A  More Realistic Model</vt:lpstr>
      <vt:lpstr>A  More Realistic Model</vt:lpstr>
      <vt:lpstr>Wage Determination in a Monopsony Market</vt:lpstr>
      <vt:lpstr>Wage Determination in a Monopsony Market</vt:lpstr>
      <vt:lpstr>The Process of Market Adjustment</vt:lpstr>
      <vt:lpstr>The Minimum Wage in a Perfectly Competitive Market</vt:lpstr>
      <vt:lpstr>The Minimum Wage in a Perfectly Competitive Market</vt:lpstr>
      <vt:lpstr>The Minimum Wage in a Perfectly Competitive Market</vt:lpstr>
      <vt:lpstr> The Minimum Wage in a Monopsony Market</vt:lpstr>
      <vt:lpstr>The Minimum Wage and Efficiency Wage Theory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Conduct of Monetary Policy: Tools, Goals, Strategy, and Tactics</dc:title>
  <dc:creator>user</dc:creator>
  <cp:lastModifiedBy>user</cp:lastModifiedBy>
  <cp:revision>220</cp:revision>
  <dcterms:created xsi:type="dcterms:W3CDTF">2018-04-08T16:39:12Z</dcterms:created>
  <dcterms:modified xsi:type="dcterms:W3CDTF">2020-08-19T19:27:41Z</dcterms:modified>
</cp:coreProperties>
</file>