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4"/>
  </p:notesMasterIdLst>
  <p:sldIdLst>
    <p:sldId id="256" r:id="rId2"/>
    <p:sldId id="257" r:id="rId3"/>
    <p:sldId id="307" r:id="rId4"/>
    <p:sldId id="308" r:id="rId5"/>
    <p:sldId id="309" r:id="rId6"/>
    <p:sldId id="310" r:id="rId7"/>
    <p:sldId id="311" r:id="rId8"/>
    <p:sldId id="312" r:id="rId9"/>
    <p:sldId id="313" r:id="rId10"/>
    <p:sldId id="314" r:id="rId11"/>
    <p:sldId id="315" r:id="rId12"/>
    <p:sldId id="316" r:id="rId13"/>
    <p:sldId id="317" r:id="rId14"/>
    <p:sldId id="318" r:id="rId15"/>
    <p:sldId id="319" r:id="rId16"/>
    <p:sldId id="320" r:id="rId17"/>
    <p:sldId id="321" r:id="rId18"/>
    <p:sldId id="322" r:id="rId19"/>
    <p:sldId id="323" r:id="rId20"/>
    <p:sldId id="324" r:id="rId21"/>
    <p:sldId id="325" r:id="rId22"/>
    <p:sldId id="326" r:id="rId2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user" initials="u" lastIdx="0" clrIdx="0"/>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9" d="100"/>
          <a:sy n="69" d="100"/>
        </p:scale>
        <p:origin x="-1416" y="-90"/>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4.wmf"/><Relationship Id="rId1" Type="http://schemas.openxmlformats.org/officeDocument/2006/relationships/image" Target="../media/image3.wmf"/><Relationship Id="rId5" Type="http://schemas.openxmlformats.org/officeDocument/2006/relationships/image" Target="../media/image7.wmf"/><Relationship Id="rId4" Type="http://schemas.openxmlformats.org/officeDocument/2006/relationships/image" Target="../media/image6.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image" Target="../media/image8.wmf"/><Relationship Id="rId1" Type="http://schemas.openxmlformats.org/officeDocument/2006/relationships/image" Target="../media/image3.wmf"/><Relationship Id="rId4" Type="http://schemas.openxmlformats.org/officeDocument/2006/relationships/image" Target="../media/image10.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image" Target="../media/image11.wmf"/><Relationship Id="rId1" Type="http://schemas.openxmlformats.org/officeDocument/2006/relationships/image" Target="../media/image3.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3.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F86BBFB-1FA1-47F0-B754-665758543D90}" type="datetimeFigureOut">
              <a:rPr lang="en-US" smtClean="0"/>
              <a:pPr/>
              <a:t>8/6/2021</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061856A-F4E1-4BD0-98EE-E2E6F68B468F}" type="slidenum">
              <a:rPr lang="en-US" smtClean="0"/>
              <a:pPr/>
              <a:t>‹#›</a:t>
            </a:fld>
            <a:endParaRPr lang="en-US"/>
          </a:p>
        </p:txBody>
      </p:sp>
    </p:spTree>
    <p:extLst>
      <p:ext uri="{BB962C8B-B14F-4D97-AF65-F5344CB8AC3E}">
        <p14:creationId xmlns:p14="http://schemas.microsoft.com/office/powerpoint/2010/main" val="29700371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A061856A-F4E1-4BD0-98EE-E2E6F68B468F}" type="slidenum">
              <a:rPr lang="en-US" smtClean="0"/>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061856A-F4E1-4BD0-98EE-E2E6F68B468F}" type="slidenum">
              <a:rPr lang="en-US" smtClean="0"/>
              <a:pPr/>
              <a:t>14</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061856A-F4E1-4BD0-98EE-E2E6F68B468F}" type="slidenum">
              <a:rPr lang="en-US" smtClean="0"/>
              <a:pPr/>
              <a:t>15</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061856A-F4E1-4BD0-98EE-E2E6F68B468F}" type="slidenum">
              <a:rPr lang="en-US" smtClean="0"/>
              <a:pPr/>
              <a:t>16</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061856A-F4E1-4BD0-98EE-E2E6F68B468F}" type="slidenum">
              <a:rPr lang="en-US" smtClean="0"/>
              <a:pPr/>
              <a:t>17</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061856A-F4E1-4BD0-98EE-E2E6F68B468F}" type="slidenum">
              <a:rPr lang="en-US" smtClean="0"/>
              <a:pPr/>
              <a:t>18</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061856A-F4E1-4BD0-98EE-E2E6F68B468F}" type="slidenum">
              <a:rPr lang="en-US" smtClean="0"/>
              <a:pPr/>
              <a:t>19</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061856A-F4E1-4BD0-98EE-E2E6F68B468F}" type="slidenum">
              <a:rPr lang="en-US" smtClean="0"/>
              <a:pPr/>
              <a:t>20</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061856A-F4E1-4BD0-98EE-E2E6F68B468F}" type="slidenum">
              <a:rPr lang="en-US" smtClean="0"/>
              <a:pPr/>
              <a:t>21</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061856A-F4E1-4BD0-98EE-E2E6F68B468F}" type="slidenum">
              <a:rPr lang="en-US" smtClean="0"/>
              <a:pPr/>
              <a:t>22</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1"/>
      </p:bgRef>
    </p:bg>
    <p:spTree>
      <p:nvGrpSpPr>
        <p:cNvPr id="1" name=""/>
        <p:cNvGrpSpPr/>
        <p:nvPr/>
      </p:nvGrpSpPr>
      <p:grpSpPr>
        <a:xfrm>
          <a:off x="0" y="0"/>
          <a:ext cx="0" cy="0"/>
          <a:chOff x="0" y="0"/>
          <a:chExt cx="0" cy="0"/>
        </a:xfrm>
      </p:grpSpPr>
      <p:sp>
        <p:nvSpPr>
          <p:cNvPr id="8" name="Title 7"/>
          <p:cNvSpPr>
            <a:spLocks noGrp="1"/>
          </p:cNvSpPr>
          <p:nvPr>
            <p:ph type="ctrTitle"/>
          </p:nvPr>
        </p:nvSpPr>
        <p:spPr>
          <a:xfrm>
            <a:off x="2286000" y="3124200"/>
            <a:ext cx="6172200" cy="1894362"/>
          </a:xfrm>
        </p:spPr>
        <p:txBody>
          <a:bodyPr/>
          <a:lstStyle>
            <a:lvl1pPr>
              <a:defRPr b="1"/>
            </a:lvl1pPr>
          </a:lstStyle>
          <a:p>
            <a:r>
              <a:rPr kumimoji="0" lang="en-US" smtClean="0"/>
              <a:t>Click to edit Master title style</a:t>
            </a:r>
            <a:endParaRPr kumimoji="0" lang="en-US"/>
          </a:p>
        </p:txBody>
      </p:sp>
      <p:sp>
        <p:nvSpPr>
          <p:cNvPr id="9" name="Subtitle 8"/>
          <p:cNvSpPr>
            <a:spLocks noGrp="1"/>
          </p:cNvSpPr>
          <p:nvPr>
            <p:ph type="subTitle" idx="1"/>
          </p:nvPr>
        </p:nvSpPr>
        <p:spPr>
          <a:xfrm>
            <a:off x="2286000" y="5003322"/>
            <a:ext cx="6172200" cy="1371600"/>
          </a:xfrm>
        </p:spPr>
        <p:txBody>
          <a:bodyPr/>
          <a:lstStyle>
            <a:lvl1pPr marL="0" indent="0" algn="l">
              <a:buNone/>
              <a:defRPr sz="1800" b="1">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bwMode="auto">
          <a:xfrm rot="5400000">
            <a:off x="7764621" y="1174097"/>
            <a:ext cx="2286000" cy="381000"/>
          </a:xfrm>
        </p:spPr>
        <p:txBody>
          <a:bodyPr/>
          <a:lstStyle/>
          <a:p>
            <a:fld id="{0BCBC5D6-258E-4EE7-934E-04D162054CF0}" type="datetimeFigureOut">
              <a:rPr lang="en-US" smtClean="0"/>
              <a:pPr/>
              <a:t>8/6/2021</a:t>
            </a:fld>
            <a:endParaRPr lang="en-US"/>
          </a:p>
        </p:txBody>
      </p:sp>
      <p:sp>
        <p:nvSpPr>
          <p:cNvPr id="17" name="Footer Placeholder 16"/>
          <p:cNvSpPr>
            <a:spLocks noGrp="1"/>
          </p:cNvSpPr>
          <p:nvPr>
            <p:ph type="ftr" sz="quarter" idx="11"/>
          </p:nvPr>
        </p:nvSpPr>
        <p:spPr bwMode="auto">
          <a:xfrm rot="5400000">
            <a:off x="7077269" y="4181669"/>
            <a:ext cx="3657600" cy="384048"/>
          </a:xfrm>
        </p:spPr>
        <p:txBody>
          <a:bodyPr/>
          <a:lstStyle/>
          <a:p>
            <a:endParaRPr lang="en-US"/>
          </a:p>
        </p:txBody>
      </p:sp>
      <p:sp>
        <p:nvSpPr>
          <p:cNvPr id="10" name="Rectangle 9"/>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Rectangle 13"/>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9" name="Rectangle 18"/>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Straight Connector 10"/>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Straight Connector 17"/>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0" name="Straight Connector 19"/>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Straight Connector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Straight Connector 14"/>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2" name="Straight Connector 21"/>
          <p:cNvSpPr>
            <a:spLocks noChangeShapeType="1"/>
          </p:cNvSpPr>
          <p:nvPr/>
        </p:nvSpPr>
        <p:spPr bwMode="auto">
          <a:xfrm>
            <a:off x="9113856"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7" name="Rectangle 26"/>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Oval 20"/>
          <p:cNvSpPr/>
          <p:nvPr/>
        </p:nvSpPr>
        <p:spPr bwMode="auto">
          <a:xfrm>
            <a:off x="609600" y="3429000"/>
            <a:ext cx="1295400" cy="1295400"/>
          </a:xfrm>
          <a:prstGeom prst="ellipse">
            <a:avLst/>
          </a:prstGeom>
          <a:solidFill>
            <a:schemeClr val="accent1"/>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Oval 22"/>
          <p:cNvSpPr/>
          <p:nvPr/>
        </p:nvSpPr>
        <p:spPr bwMode="auto">
          <a:xfrm>
            <a:off x="1309632"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4" name="Oval 23"/>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Oval 25"/>
          <p:cNvSpPr/>
          <p:nvPr/>
        </p:nvSpPr>
        <p:spPr bwMode="auto">
          <a:xfrm>
            <a:off x="1664208" y="5788152"/>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5" name="Oval 24"/>
          <p:cNvSpPr/>
          <p:nvPr/>
        </p:nvSpPr>
        <p:spPr>
          <a:xfrm>
            <a:off x="1905000" y="4495800"/>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9" name="Slide Number Placeholder 28"/>
          <p:cNvSpPr>
            <a:spLocks noGrp="1"/>
          </p:cNvSpPr>
          <p:nvPr>
            <p:ph type="sldNum" sz="quarter" idx="12"/>
          </p:nvPr>
        </p:nvSpPr>
        <p:spPr bwMode="auto">
          <a:xfrm>
            <a:off x="1325544" y="4928702"/>
            <a:ext cx="609600" cy="517524"/>
          </a:xfrm>
        </p:spPr>
        <p:txBody>
          <a:bodyPr/>
          <a:lstStyle/>
          <a:p>
            <a:fld id="{3676C59F-4DD3-4BF4-891B-84E8AA5885A1}"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8" name="Content Placeholder 7"/>
          <p:cNvSpPr>
            <a:spLocks noGrp="1"/>
          </p:cNvSpPr>
          <p:nvPr>
            <p:ph sz="quarter" idx="1"/>
          </p:nvPr>
        </p:nvSpPr>
        <p:spPr>
          <a:xfrm>
            <a:off x="457200" y="1600200"/>
            <a:ext cx="7467600" cy="4873752"/>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4"/>
          </p:nvPr>
        </p:nvSpPr>
        <p:spPr/>
        <p:txBody>
          <a:bodyPr rtlCol="0"/>
          <a:lstStyle/>
          <a:p>
            <a:fld id="{0BCBC5D6-258E-4EE7-934E-04D162054CF0}" type="datetimeFigureOut">
              <a:rPr lang="en-US" smtClean="0"/>
              <a:pPr/>
              <a:t>8/6/2021</a:t>
            </a:fld>
            <a:endParaRPr lang="en-US"/>
          </a:p>
        </p:txBody>
      </p:sp>
      <p:sp>
        <p:nvSpPr>
          <p:cNvPr id="9" name="Slide Number Placeholder 8"/>
          <p:cNvSpPr>
            <a:spLocks noGrp="1"/>
          </p:cNvSpPr>
          <p:nvPr>
            <p:ph type="sldNum" sz="quarter" idx="15"/>
          </p:nvPr>
        </p:nvSpPr>
        <p:spPr/>
        <p:txBody>
          <a:bodyPr rtlCol="0"/>
          <a:lstStyle/>
          <a:p>
            <a:fld id="{3676C59F-4DD3-4BF4-891B-84E8AA5885A1}" type="slidenum">
              <a:rPr lang="en-US" smtClean="0"/>
              <a:pPr/>
              <a:t>‹#›</a:t>
            </a:fld>
            <a:endParaRPr lang="en-US"/>
          </a:p>
        </p:txBody>
      </p:sp>
      <p:sp>
        <p:nvSpPr>
          <p:cNvPr id="10" name="Footer Placeholder 9"/>
          <p:cNvSpPr>
            <a:spLocks noGrp="1"/>
          </p:cNvSpPr>
          <p:nvPr>
            <p:ph type="ftr" sz="quarter" idx="16"/>
          </p:nvPr>
        </p:nvSpPr>
        <p:spPr/>
        <p:txBody>
          <a:bodyPr rtlCol="0"/>
          <a:lstStyle/>
          <a:p>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2286000" y="2895600"/>
            <a:ext cx="6172200" cy="2053590"/>
          </a:xfrm>
        </p:spPr>
        <p:txBody>
          <a:bodyPr/>
          <a:lstStyle>
            <a:lvl1pPr algn="l">
              <a:buNone/>
              <a:defRPr sz="3000" b="1" cap="small" baseline="0"/>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2286000" y="5010150"/>
            <a:ext cx="6172200" cy="1371600"/>
          </a:xfrm>
        </p:spPr>
        <p:txBody>
          <a:bodyPr anchor="t"/>
          <a:lstStyle>
            <a:lvl1pPr marL="0" indent="0">
              <a:buNone/>
              <a:defRPr sz="1800" b="1">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bwMode="auto">
          <a:xfrm rot="5400000">
            <a:off x="7763256" y="1170432"/>
            <a:ext cx="2286000" cy="381000"/>
          </a:xfrm>
        </p:spPr>
        <p:txBody>
          <a:bodyPr/>
          <a:lstStyle/>
          <a:p>
            <a:fld id="{0BCBC5D6-258E-4EE7-934E-04D162054CF0}" type="datetimeFigureOut">
              <a:rPr lang="en-US" smtClean="0"/>
              <a:pPr/>
              <a:t>8/6/2021</a:t>
            </a:fld>
            <a:endParaRPr lang="en-US"/>
          </a:p>
        </p:txBody>
      </p:sp>
      <p:sp>
        <p:nvSpPr>
          <p:cNvPr id="5" name="Footer Placeholder 4"/>
          <p:cNvSpPr>
            <a:spLocks noGrp="1"/>
          </p:cNvSpPr>
          <p:nvPr>
            <p:ph type="ftr" sz="quarter" idx="11"/>
          </p:nvPr>
        </p:nvSpPr>
        <p:spPr bwMode="auto">
          <a:xfrm rot="5400000">
            <a:off x="7077456" y="4178808"/>
            <a:ext cx="3657600" cy="384048"/>
          </a:xfrm>
        </p:spPr>
        <p:txBody>
          <a:bodyPr/>
          <a:lstStyle/>
          <a:p>
            <a:endParaRPr lang="en-US"/>
          </a:p>
        </p:txBody>
      </p:sp>
      <p:sp>
        <p:nvSpPr>
          <p:cNvPr id="9" name="Rectangle 8"/>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Straight Connector 12"/>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Straight Connector 13"/>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Straight Connector 14"/>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Straight Connector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7" name="Straight Connector 16"/>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Rectangle 17"/>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9" name="Oval 18"/>
          <p:cNvSpPr/>
          <p:nvPr/>
        </p:nvSpPr>
        <p:spPr bwMode="auto">
          <a:xfrm>
            <a:off x="609600" y="3429000"/>
            <a:ext cx="1295400" cy="129540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0" name="Oval 19"/>
          <p:cNvSpPr/>
          <p:nvPr/>
        </p:nvSpPr>
        <p:spPr bwMode="auto">
          <a:xfrm>
            <a:off x="1324704"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Oval 20"/>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Oval 21"/>
          <p:cNvSpPr/>
          <p:nvPr/>
        </p:nvSpPr>
        <p:spPr bwMode="auto">
          <a:xfrm>
            <a:off x="1664208" y="5791200"/>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Oval 22"/>
          <p:cNvSpPr/>
          <p:nvPr/>
        </p:nvSpPr>
        <p:spPr bwMode="auto">
          <a:xfrm>
            <a:off x="1879040" y="4479888"/>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Straight Connector 25"/>
          <p:cNvSpPr>
            <a:spLocks noChangeShapeType="1"/>
          </p:cNvSpPr>
          <p:nvPr/>
        </p:nvSpPr>
        <p:spPr bwMode="auto">
          <a:xfrm>
            <a:off x="9097944"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6" name="Slide Number Placeholder 5"/>
          <p:cNvSpPr>
            <a:spLocks noGrp="1"/>
          </p:cNvSpPr>
          <p:nvPr>
            <p:ph type="sldNum" sz="quarter" idx="12"/>
          </p:nvPr>
        </p:nvSpPr>
        <p:spPr bwMode="auto">
          <a:xfrm>
            <a:off x="1340616" y="4928702"/>
            <a:ext cx="609600" cy="517524"/>
          </a:xfrm>
        </p:spPr>
        <p:txBody>
          <a:bodyPr/>
          <a:lstStyle/>
          <a:p>
            <a:fld id="{3676C59F-4DD3-4BF4-891B-84E8AA5885A1}"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0BCBC5D6-258E-4EE7-934E-04D162054CF0}" type="datetimeFigureOut">
              <a:rPr lang="en-US" smtClean="0"/>
              <a:pPr/>
              <a:t>8/6/2021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676C59F-4DD3-4BF4-891B-84E8AA5885A1}" type="slidenum">
              <a:rPr lang="en-US" smtClean="0"/>
              <a:pPr/>
              <a:t>‹#›</a:t>
            </a:fld>
            <a:endParaRPr lang="en-US"/>
          </a:p>
        </p:txBody>
      </p:sp>
      <p:sp>
        <p:nvSpPr>
          <p:cNvPr id="9" name="Content Placeholder 8"/>
          <p:cNvSpPr>
            <a:spLocks noGrp="1"/>
          </p:cNvSpPr>
          <p:nvPr>
            <p:ph sz="quarter" idx="1"/>
          </p:nvPr>
        </p:nvSpPr>
        <p:spPr>
          <a:xfrm>
            <a:off x="457200" y="1600200"/>
            <a:ext cx="36576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270248" y="1600200"/>
            <a:ext cx="36576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7543800" cy="1143000"/>
          </a:xfrm>
        </p:spPr>
        <p:txBody>
          <a:bodyPr anchor="b"/>
          <a:lstStyle>
            <a:lvl1pPr>
              <a:defRPr/>
            </a:lvl1pPr>
          </a:lstStyle>
          <a:p>
            <a:r>
              <a:rPr kumimoji="0" lang="en-US" smtClean="0"/>
              <a:t>Click to edit Master title style</a:t>
            </a:r>
            <a:endParaRPr kumimoji="0" lang="en-US"/>
          </a:p>
        </p:txBody>
      </p:sp>
      <p:sp>
        <p:nvSpPr>
          <p:cNvPr id="7" name="Date Placeholder 6"/>
          <p:cNvSpPr>
            <a:spLocks noGrp="1"/>
          </p:cNvSpPr>
          <p:nvPr>
            <p:ph type="dt" sz="half" idx="10"/>
          </p:nvPr>
        </p:nvSpPr>
        <p:spPr/>
        <p:txBody>
          <a:bodyPr/>
          <a:lstStyle/>
          <a:p>
            <a:fld id="{0BCBC5D6-258E-4EE7-934E-04D162054CF0}" type="datetimeFigureOut">
              <a:rPr lang="en-US" smtClean="0"/>
              <a:pPr/>
              <a:t>8/6/2021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676C59F-4DD3-4BF4-891B-84E8AA5885A1}" type="slidenum">
              <a:rPr lang="en-US" smtClean="0"/>
              <a:pPr/>
              <a:t>‹#›</a:t>
            </a:fld>
            <a:endParaRPr lang="en-US"/>
          </a:p>
        </p:txBody>
      </p:sp>
      <p:sp>
        <p:nvSpPr>
          <p:cNvPr id="11" name="Content Placeholder 10"/>
          <p:cNvSpPr>
            <a:spLocks noGrp="1"/>
          </p:cNvSpPr>
          <p:nvPr>
            <p:ph sz="quarter" idx="2"/>
          </p:nvPr>
        </p:nvSpPr>
        <p:spPr>
          <a:xfrm>
            <a:off x="457200" y="2362200"/>
            <a:ext cx="3657600" cy="38862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quarter" idx="4"/>
          </p:nvPr>
        </p:nvSpPr>
        <p:spPr>
          <a:xfrm>
            <a:off x="4371975" y="2362200"/>
            <a:ext cx="3657600" cy="38862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2" name="Text Placeholder 11"/>
          <p:cNvSpPr>
            <a:spLocks noGrp="1"/>
          </p:cNvSpPr>
          <p:nvPr>
            <p:ph type="body" sz="quarter" idx="1"/>
          </p:nvPr>
        </p:nvSpPr>
        <p:spPr>
          <a:xfrm>
            <a:off x="4572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
        <p:nvSpPr>
          <p:cNvPr id="14" name="Text Placeholder 13"/>
          <p:cNvSpPr>
            <a:spLocks noGrp="1"/>
          </p:cNvSpPr>
          <p:nvPr>
            <p:ph type="body" sz="quarter" idx="3"/>
          </p:nvPr>
        </p:nvSpPr>
        <p:spPr>
          <a:xfrm>
            <a:off x="43434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6" name="Date Placeholder 5"/>
          <p:cNvSpPr>
            <a:spLocks noGrp="1"/>
          </p:cNvSpPr>
          <p:nvPr>
            <p:ph type="dt" sz="half" idx="10"/>
          </p:nvPr>
        </p:nvSpPr>
        <p:spPr/>
        <p:txBody>
          <a:bodyPr rtlCol="0"/>
          <a:lstStyle/>
          <a:p>
            <a:fld id="{0BCBC5D6-258E-4EE7-934E-04D162054CF0}" type="datetimeFigureOut">
              <a:rPr lang="en-US" smtClean="0"/>
              <a:pPr/>
              <a:t>8/6/2021</a:t>
            </a:fld>
            <a:endParaRPr lang="en-US"/>
          </a:p>
        </p:txBody>
      </p:sp>
      <p:sp>
        <p:nvSpPr>
          <p:cNvPr id="7" name="Slide Number Placeholder 6"/>
          <p:cNvSpPr>
            <a:spLocks noGrp="1"/>
          </p:cNvSpPr>
          <p:nvPr>
            <p:ph type="sldNum" sz="quarter" idx="11"/>
          </p:nvPr>
        </p:nvSpPr>
        <p:spPr/>
        <p:txBody>
          <a:bodyPr rtlCol="0"/>
          <a:lstStyle/>
          <a:p>
            <a:fld id="{3676C59F-4DD3-4BF4-891B-84E8AA5885A1}" type="slidenum">
              <a:rPr lang="en-US" smtClean="0"/>
              <a:pPr/>
              <a:t>‹#›</a:t>
            </a:fld>
            <a:endParaRPr lang="en-US"/>
          </a:p>
        </p:txBody>
      </p:sp>
      <p:sp>
        <p:nvSpPr>
          <p:cNvPr id="8" name="Footer Placeholder 7"/>
          <p:cNvSpPr>
            <a:spLocks noGrp="1"/>
          </p:cNvSpPr>
          <p:nvPr>
            <p:ph type="ftr" sz="quarter" idx="12"/>
          </p:nvPr>
        </p:nvSpPr>
        <p:spPr/>
        <p:txBody>
          <a:bodyPr rtlCol="0"/>
          <a:lstStyle/>
          <a:p>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BCBC5D6-258E-4EE7-934E-04D162054CF0}" type="datetimeFigureOut">
              <a:rPr lang="en-US" smtClean="0"/>
              <a:pPr/>
              <a:t>8/6/2021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676C59F-4DD3-4BF4-891B-84E8AA5885A1}"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1">
        <a:schemeClr val="bg1"/>
      </p:bgRef>
    </p:bg>
    <p:spTree>
      <p:nvGrpSpPr>
        <p:cNvPr id="1" name=""/>
        <p:cNvGrpSpPr/>
        <p:nvPr/>
      </p:nvGrpSpPr>
      <p:grpSpPr>
        <a:xfrm>
          <a:off x="0" y="0"/>
          <a:ext cx="0" cy="0"/>
          <a:chOff x="0" y="0"/>
          <a:chExt cx="0" cy="0"/>
        </a:xfrm>
      </p:grpSpPr>
      <p:sp>
        <p:nvSpPr>
          <p:cNvPr id="10" name="Straight Connector 9"/>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 name="Title 1"/>
          <p:cNvSpPr>
            <a:spLocks noGrp="1"/>
          </p:cNvSpPr>
          <p:nvPr>
            <p:ph type="title"/>
          </p:nvPr>
        </p:nvSpPr>
        <p:spPr>
          <a:xfrm rot="5400000">
            <a:off x="3371850" y="3200400"/>
            <a:ext cx="6309360" cy="457200"/>
          </a:xfrm>
        </p:spPr>
        <p:txBody>
          <a:bodyPr anchor="b"/>
          <a:lstStyle>
            <a:lvl1pPr algn="l">
              <a:buNone/>
              <a:defRPr sz="2000" b="1" cap="small" baseline="0"/>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12280" y="274320"/>
            <a:ext cx="1527048" cy="4983480"/>
          </a:xfrm>
        </p:spPr>
        <p:txBody>
          <a:bodyPr/>
          <a:lstStyle>
            <a:lvl1pPr marL="0" indent="0">
              <a:spcBef>
                <a:spcPts val="400"/>
              </a:spcBef>
              <a:spcAft>
                <a:spcPts val="1000"/>
              </a:spcAft>
              <a:buNone/>
              <a:defRPr sz="12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8" name="Straight Connector 7"/>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9" name="Straight Connector 8"/>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1" name="Straight Connector 10"/>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Rectangle 11"/>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Straight Connector 12"/>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Oval 13"/>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8" name="Content Placeholder 17"/>
          <p:cNvSpPr>
            <a:spLocks noGrp="1"/>
          </p:cNvSpPr>
          <p:nvPr>
            <p:ph sz="quarter" idx="1"/>
          </p:nvPr>
        </p:nvSpPr>
        <p:spPr>
          <a:xfrm>
            <a:off x="304800" y="274320"/>
            <a:ext cx="5638800" cy="6327648"/>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1" name="Date Placeholder 20"/>
          <p:cNvSpPr>
            <a:spLocks noGrp="1"/>
          </p:cNvSpPr>
          <p:nvPr>
            <p:ph type="dt" sz="half" idx="14"/>
          </p:nvPr>
        </p:nvSpPr>
        <p:spPr/>
        <p:txBody>
          <a:bodyPr rtlCol="0"/>
          <a:lstStyle/>
          <a:p>
            <a:fld id="{0BCBC5D6-258E-4EE7-934E-04D162054CF0}" type="datetimeFigureOut">
              <a:rPr lang="en-US" smtClean="0"/>
              <a:pPr/>
              <a:t>8/6/2021</a:t>
            </a:fld>
            <a:endParaRPr lang="en-US"/>
          </a:p>
        </p:txBody>
      </p:sp>
      <p:sp>
        <p:nvSpPr>
          <p:cNvPr id="22" name="Slide Number Placeholder 21"/>
          <p:cNvSpPr>
            <a:spLocks noGrp="1"/>
          </p:cNvSpPr>
          <p:nvPr>
            <p:ph type="sldNum" sz="quarter" idx="15"/>
          </p:nvPr>
        </p:nvSpPr>
        <p:spPr/>
        <p:txBody>
          <a:bodyPr rtlCol="0"/>
          <a:lstStyle/>
          <a:p>
            <a:fld id="{3676C59F-4DD3-4BF4-891B-84E8AA5885A1}" type="slidenum">
              <a:rPr lang="en-US" smtClean="0"/>
              <a:pPr/>
              <a:t>‹#›</a:t>
            </a:fld>
            <a:endParaRPr lang="en-US"/>
          </a:p>
        </p:txBody>
      </p:sp>
      <p:sp>
        <p:nvSpPr>
          <p:cNvPr id="23" name="Footer Placeholder 22"/>
          <p:cNvSpPr>
            <a:spLocks noGrp="1"/>
          </p:cNvSpPr>
          <p:nvPr>
            <p:ph type="ftr" sz="quarter" idx="16"/>
          </p:nvPr>
        </p:nvSpPr>
        <p:spPr/>
        <p:txBody>
          <a:bodyPr rtlCol="0"/>
          <a:lstStyle/>
          <a:p>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traight Connector 8"/>
          <p:cNvSpPr>
            <a:spLocks noChangeShapeType="1"/>
          </p:cNvSpPr>
          <p:nvPr/>
        </p:nvSpPr>
        <p:spPr bwMode="auto">
          <a:xfrm>
            <a:off x="87630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Oval 12"/>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 name="Title 1"/>
          <p:cNvSpPr>
            <a:spLocks noGrp="1"/>
          </p:cNvSpPr>
          <p:nvPr>
            <p:ph type="title"/>
          </p:nvPr>
        </p:nvSpPr>
        <p:spPr>
          <a:xfrm rot="5400000">
            <a:off x="3350133" y="3200400"/>
            <a:ext cx="6309360" cy="457200"/>
          </a:xfrm>
        </p:spPr>
        <p:txBody>
          <a:bodyPr anchor="b"/>
          <a:lstStyle>
            <a:lvl1pPr algn="l">
              <a:buNone/>
              <a:defRPr sz="2000" b="1"/>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0" y="0"/>
            <a:ext cx="6172200" cy="6858000"/>
          </a:xfrm>
          <a:solidFill>
            <a:schemeClr val="bg2"/>
          </a:solidFill>
          <a:ln w="1270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lstStyle>
            <a:lvl1pPr marL="0" indent="0">
              <a:buNone/>
              <a:defRPr sz="3200"/>
            </a:lvl1pPr>
          </a:lstStyle>
          <a:p>
            <a:pPr algn="ctr" eaLnBrk="1" latinLnBrk="0" hangingPunct="1">
              <a:buFontTx/>
              <a:buNone/>
            </a:pPr>
            <a:r>
              <a:rPr kumimoji="0" lang="en-US" smtClean="0"/>
              <a:t>Click icon to add picture</a:t>
            </a:r>
            <a:endParaRPr kumimoji="0" lang="en-US" dirty="0"/>
          </a:p>
        </p:txBody>
      </p:sp>
      <p:sp>
        <p:nvSpPr>
          <p:cNvPr id="4" name="Text Placeholder 3"/>
          <p:cNvSpPr>
            <a:spLocks noGrp="1"/>
          </p:cNvSpPr>
          <p:nvPr>
            <p:ph type="body" sz="half" idx="2"/>
          </p:nvPr>
        </p:nvSpPr>
        <p:spPr>
          <a:xfrm>
            <a:off x="6765798" y="264795"/>
            <a:ext cx="1524000" cy="4956048"/>
          </a:xfrm>
        </p:spPr>
        <p:txBody>
          <a:bodyPr rot="0" spcFirstLastPara="0" vertOverflow="overflow" horzOverflow="overflow" vert="horz" wrap="square" lIns="91440" tIns="45720" rIns="91440" bIns="45720" numCol="1" spcCol="274320" rtlCol="0" fromWordArt="0" anchor="t" anchorCtr="0" forceAA="0" compatLnSpc="1">
            <a:normAutofit/>
          </a:bodyPr>
          <a:lstStyle>
            <a:lvl1pPr marL="0" indent="0">
              <a:spcBef>
                <a:spcPts val="100"/>
              </a:spcBef>
              <a:spcAft>
                <a:spcPts val="400"/>
              </a:spcAft>
              <a:buFontTx/>
              <a:buNone/>
              <a:defRPr sz="12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10" name="Straight Connector 9"/>
          <p:cNvSpPr>
            <a:spLocks noChangeShapeType="1"/>
          </p:cNvSpPr>
          <p:nvPr/>
        </p:nvSpPr>
        <p:spPr bwMode="auto">
          <a:xfrm>
            <a:off x="8991600" y="0"/>
            <a:ext cx="0" cy="6858000"/>
          </a:xfrm>
          <a:prstGeom prst="lin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Rectangle 10"/>
          <p:cNvSpPr/>
          <p:nvPr/>
        </p:nvSpPr>
        <p:spPr bwMode="auto">
          <a:xfrm>
            <a:off x="8839200" y="0"/>
            <a:ext cx="304800" cy="6858000"/>
          </a:xfrm>
          <a:prstGeom prst="rect">
            <a:avLst/>
          </a:prstGeom>
          <a:solidFill>
            <a:schemeClr val="accent1">
              <a:tint val="6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Straight Connector 11"/>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9" name="Straight Connector 18"/>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0" name="Straight Connector 19"/>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7" name="Date Placeholder 16"/>
          <p:cNvSpPr>
            <a:spLocks noGrp="1"/>
          </p:cNvSpPr>
          <p:nvPr>
            <p:ph type="dt" sz="half" idx="10"/>
          </p:nvPr>
        </p:nvSpPr>
        <p:spPr/>
        <p:txBody>
          <a:bodyPr rtlCol="0"/>
          <a:lstStyle/>
          <a:p>
            <a:fld id="{0BCBC5D6-258E-4EE7-934E-04D162054CF0}" type="datetimeFigureOut">
              <a:rPr lang="en-US" smtClean="0"/>
              <a:pPr/>
              <a:t>8/6/2021</a:t>
            </a:fld>
            <a:endParaRPr lang="en-US"/>
          </a:p>
        </p:txBody>
      </p:sp>
      <p:sp>
        <p:nvSpPr>
          <p:cNvPr id="18" name="Slide Number Placeholder 17"/>
          <p:cNvSpPr>
            <a:spLocks noGrp="1"/>
          </p:cNvSpPr>
          <p:nvPr>
            <p:ph type="sldNum" sz="quarter" idx="11"/>
          </p:nvPr>
        </p:nvSpPr>
        <p:spPr/>
        <p:txBody>
          <a:bodyPr rtlCol="0"/>
          <a:lstStyle/>
          <a:p>
            <a:fld id="{3676C59F-4DD3-4BF4-891B-84E8AA5885A1}" type="slidenum">
              <a:rPr lang="en-US" smtClean="0"/>
              <a:pPr/>
              <a:t>‹#›</a:t>
            </a:fld>
            <a:endParaRPr lang="en-US"/>
          </a:p>
        </p:txBody>
      </p:sp>
      <p:sp>
        <p:nvSpPr>
          <p:cNvPr id="21" name="Footer Placeholder 20"/>
          <p:cNvSpPr>
            <a:spLocks noGrp="1"/>
          </p:cNvSpPr>
          <p:nvPr>
            <p:ph type="ftr" sz="quarter" idx="12"/>
          </p:nvPr>
        </p:nvSpPr>
        <p:spPr/>
        <p:txBody>
          <a:bodyPr rtlCol="0"/>
          <a:lstStyle/>
          <a:p>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0BCBC5D6-258E-4EE7-934E-04D162054CF0}" type="datetimeFigureOut">
              <a:rPr lang="en-US" smtClean="0"/>
              <a:pPr/>
              <a:t>8/6/2021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676C59F-4DD3-4BF4-891B-84E8AA5885A1}"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1676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0BCBC5D6-258E-4EE7-934E-04D162054CF0}" type="datetimeFigureOut">
              <a:rPr lang="en-US" smtClean="0"/>
              <a:pPr/>
              <a:t>8/6/2021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676C59F-4DD3-4BF4-891B-84E8AA5885A1}"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 name="Straight Connector 15"/>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2" name="Title Placeholder 21"/>
          <p:cNvSpPr>
            <a:spLocks noGrp="1"/>
          </p:cNvSpPr>
          <p:nvPr>
            <p:ph type="title"/>
          </p:nvPr>
        </p:nvSpPr>
        <p:spPr>
          <a:xfrm>
            <a:off x="457200" y="274638"/>
            <a:ext cx="7467600" cy="1143000"/>
          </a:xfrm>
          <a:prstGeom prst="rect">
            <a:avLst/>
          </a:prstGeom>
        </p:spPr>
        <p:txBody>
          <a:bodyPr vert="horz" anchor="b">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457200" y="1600200"/>
            <a:ext cx="7467600" cy="4873752"/>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rot="5400000">
            <a:off x="7589520" y="1081851"/>
            <a:ext cx="2011680" cy="384048"/>
          </a:xfrm>
          <a:prstGeom prst="rect">
            <a:avLst/>
          </a:prstGeom>
        </p:spPr>
        <p:txBody>
          <a:bodyPr vert="horz" anchor="ctr" anchorCtr="0"/>
          <a:lstStyle>
            <a:lvl1pPr algn="r" eaLnBrk="1" latinLnBrk="0" hangingPunct="1">
              <a:defRPr kumimoji="0" sz="1200">
                <a:solidFill>
                  <a:schemeClr val="tx2"/>
                </a:solidFill>
              </a:defRPr>
            </a:lvl1pPr>
          </a:lstStyle>
          <a:p>
            <a:fld id="{0BCBC5D6-258E-4EE7-934E-04D162054CF0}" type="datetimeFigureOut">
              <a:rPr lang="en-US" smtClean="0"/>
              <a:pPr/>
              <a:t>8/6/2021</a:t>
            </a:fld>
            <a:endParaRPr lang="en-US"/>
          </a:p>
        </p:txBody>
      </p:sp>
      <p:sp>
        <p:nvSpPr>
          <p:cNvPr id="3" name="Footer Placeholder 2"/>
          <p:cNvSpPr>
            <a:spLocks noGrp="1"/>
          </p:cNvSpPr>
          <p:nvPr>
            <p:ph type="ftr" sz="quarter" idx="3"/>
          </p:nvPr>
        </p:nvSpPr>
        <p:spPr>
          <a:xfrm rot="5400000">
            <a:off x="6990186" y="3737240"/>
            <a:ext cx="3200400" cy="365760"/>
          </a:xfrm>
          <a:prstGeom prst="rect">
            <a:avLst/>
          </a:prstGeom>
        </p:spPr>
        <p:txBody>
          <a:bodyPr vert="horz" anchor="ctr" anchorCtr="0"/>
          <a:lstStyle>
            <a:lvl1pPr algn="l" eaLnBrk="1" latinLnBrk="0" hangingPunct="1">
              <a:defRPr kumimoji="0" sz="1200">
                <a:solidFill>
                  <a:schemeClr val="tx2"/>
                </a:solidFill>
              </a:defRPr>
            </a:lvl1pPr>
          </a:lstStyle>
          <a:p>
            <a:endParaRPr lang="en-US"/>
          </a:p>
        </p:txBody>
      </p:sp>
      <p:sp>
        <p:nvSpPr>
          <p:cNvPr id="7" name="Straight Connector 6"/>
          <p:cNvSpPr>
            <a:spLocks noChangeShapeType="1"/>
          </p:cNvSpPr>
          <p:nvPr/>
        </p:nvSpPr>
        <p:spPr bwMode="auto">
          <a:xfrm>
            <a:off x="76200"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Straight Connector 8"/>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Rectangle 9"/>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Straight Connector 10"/>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Oval 11"/>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Slide Number Placeholder 22"/>
          <p:cNvSpPr>
            <a:spLocks noGrp="1"/>
          </p:cNvSpPr>
          <p:nvPr>
            <p:ph type="sldNum" sz="quarter" idx="4"/>
          </p:nvPr>
        </p:nvSpPr>
        <p:spPr>
          <a:xfrm>
            <a:off x="8129016" y="5734050"/>
            <a:ext cx="609600" cy="521208"/>
          </a:xfrm>
          <a:prstGeom prst="rect">
            <a:avLst/>
          </a:prstGeom>
        </p:spPr>
        <p:txBody>
          <a:bodyPr vert="horz" anchor="ctr"/>
          <a:lstStyle>
            <a:lvl1pPr algn="ctr" eaLnBrk="1" latinLnBrk="0" hangingPunct="1">
              <a:defRPr kumimoji="0" sz="1400" b="1">
                <a:solidFill>
                  <a:srgbClr val="FFFFFF"/>
                </a:solidFill>
              </a:defRPr>
            </a:lvl1pPr>
          </a:lstStyle>
          <a:p>
            <a:fld id="{3676C59F-4DD3-4BF4-891B-84E8AA5885A1}"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3000" b="0" kern="1200" cap="small" baseline="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5.wmf"/><Relationship Id="rId3" Type="http://schemas.openxmlformats.org/officeDocument/2006/relationships/oleObject" Target="../embeddings/oleObject1.bin"/><Relationship Id="rId7" Type="http://schemas.openxmlformats.org/officeDocument/2006/relationships/oleObject" Target="../embeddings/oleObject3.bin"/><Relationship Id="rId12" Type="http://schemas.openxmlformats.org/officeDocument/2006/relationships/image" Target="../media/image7.wmf"/><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4.wmf"/><Relationship Id="rId11" Type="http://schemas.openxmlformats.org/officeDocument/2006/relationships/oleObject" Target="../embeddings/oleObject5.bin"/><Relationship Id="rId5" Type="http://schemas.openxmlformats.org/officeDocument/2006/relationships/oleObject" Target="../embeddings/oleObject2.bin"/><Relationship Id="rId10" Type="http://schemas.openxmlformats.org/officeDocument/2006/relationships/image" Target="../media/image6.wmf"/><Relationship Id="rId4" Type="http://schemas.openxmlformats.org/officeDocument/2006/relationships/image" Target="../media/image3.wmf"/><Relationship Id="rId9" Type="http://schemas.openxmlformats.org/officeDocument/2006/relationships/oleObject" Target="../embeddings/oleObject4.bin"/></Relationships>
</file>

<file path=ppt/slides/_rels/slide7.xml.rels><?xml version="1.0" encoding="UTF-8" standalone="yes"?>
<Relationships xmlns="http://schemas.openxmlformats.org/package/2006/relationships"><Relationship Id="rId8" Type="http://schemas.openxmlformats.org/officeDocument/2006/relationships/image" Target="../media/image9.wmf"/><Relationship Id="rId3" Type="http://schemas.openxmlformats.org/officeDocument/2006/relationships/oleObject" Target="../embeddings/oleObject6.bin"/><Relationship Id="rId7" Type="http://schemas.openxmlformats.org/officeDocument/2006/relationships/oleObject" Target="../embeddings/oleObject8.bin"/><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8.wmf"/><Relationship Id="rId5" Type="http://schemas.openxmlformats.org/officeDocument/2006/relationships/oleObject" Target="../embeddings/oleObject7.bin"/><Relationship Id="rId10" Type="http://schemas.openxmlformats.org/officeDocument/2006/relationships/image" Target="../media/image10.wmf"/><Relationship Id="rId4" Type="http://schemas.openxmlformats.org/officeDocument/2006/relationships/image" Target="../media/image3.wmf"/><Relationship Id="rId9" Type="http://schemas.openxmlformats.org/officeDocument/2006/relationships/oleObject" Target="../embeddings/oleObject9.bin"/></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2.xml"/><Relationship Id="rId1" Type="http://schemas.openxmlformats.org/officeDocument/2006/relationships/vmlDrawing" Target="../drawings/vmlDrawing3.vml"/><Relationship Id="rId4" Type="http://schemas.openxmlformats.org/officeDocument/2006/relationships/image" Target="../media/image3.wmf"/></Relationships>
</file>

<file path=ppt/slides/_rels/slide9.xml.rels><?xml version="1.0" encoding="UTF-8" standalone="yes"?>
<Relationships xmlns="http://schemas.openxmlformats.org/package/2006/relationships"><Relationship Id="rId8" Type="http://schemas.openxmlformats.org/officeDocument/2006/relationships/image" Target="../media/image12.wmf"/><Relationship Id="rId3" Type="http://schemas.openxmlformats.org/officeDocument/2006/relationships/oleObject" Target="../embeddings/oleObject11.bin"/><Relationship Id="rId7" Type="http://schemas.openxmlformats.org/officeDocument/2006/relationships/oleObject" Target="../embeddings/oleObject13.bin"/><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image" Target="../media/image11.wmf"/><Relationship Id="rId5" Type="http://schemas.openxmlformats.org/officeDocument/2006/relationships/oleObject" Target="../embeddings/oleObject12.bin"/><Relationship Id="rId4" Type="http://schemas.openxmlformats.org/officeDocument/2006/relationships/image" Target="../media/image3.wmf"/></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Layout" Target="../slideLayouts/slideLayout2.xml"/><Relationship Id="rId1" Type="http://schemas.openxmlformats.org/officeDocument/2006/relationships/vmlDrawing" Target="../drawings/vmlDrawing5.vml"/><Relationship Id="rId4" Type="http://schemas.openxmlformats.org/officeDocument/2006/relationships/image" Target="../media/image3.wmf"/></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Layout" Target="../slideLayouts/slideLayout2.xml"/><Relationship Id="rId1" Type="http://schemas.openxmlformats.org/officeDocument/2006/relationships/vmlDrawing" Target="../drawings/vmlDrawing6.vml"/><Relationship Id="rId5" Type="http://schemas.openxmlformats.org/officeDocument/2006/relationships/image" Target="../media/image13.png"/><Relationship Id="rId4" Type="http://schemas.openxmlformats.org/officeDocument/2006/relationships/image" Target="../media/image3.wmf"/></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Layout" Target="../slideLayouts/slideLayout2.xml"/><Relationship Id="rId1" Type="http://schemas.openxmlformats.org/officeDocument/2006/relationships/vmlDrawing" Target="../drawings/vmlDrawing7.vml"/><Relationship Id="rId4" Type="http://schemas.openxmlformats.org/officeDocument/2006/relationships/image" Target="../media/image3.wmf"/></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Layout" Target="../slideLayouts/slideLayout2.xml"/><Relationship Id="rId1" Type="http://schemas.openxmlformats.org/officeDocument/2006/relationships/vmlDrawing" Target="../drawings/vmlDrawing8.vml"/><Relationship Id="rId4" Type="http://schemas.openxmlformats.org/officeDocument/2006/relationships/image" Target="../media/image3.wmf"/></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vmlDrawing" Target="../drawings/vmlDrawing9.vml"/><Relationship Id="rId5" Type="http://schemas.openxmlformats.org/officeDocument/2006/relationships/image" Target="../media/image3.wmf"/><Relationship Id="rId4" Type="http://schemas.openxmlformats.org/officeDocument/2006/relationships/oleObject" Target="../embeddings/oleObject18.bin"/></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vmlDrawing" Target="../drawings/vmlDrawing10.vml"/><Relationship Id="rId5" Type="http://schemas.openxmlformats.org/officeDocument/2006/relationships/image" Target="../media/image3.wmf"/><Relationship Id="rId4" Type="http://schemas.openxmlformats.org/officeDocument/2006/relationships/oleObject" Target="../embeddings/oleObject19.bin"/></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vmlDrawing" Target="../drawings/vmlDrawing11.vml"/><Relationship Id="rId6" Type="http://schemas.openxmlformats.org/officeDocument/2006/relationships/image" Target="../media/image14.png"/><Relationship Id="rId5" Type="http://schemas.openxmlformats.org/officeDocument/2006/relationships/image" Target="../media/image3.wmf"/><Relationship Id="rId4" Type="http://schemas.openxmlformats.org/officeDocument/2006/relationships/oleObject" Target="../embeddings/oleObject20.bin"/></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vmlDrawing" Target="../drawings/vmlDrawing12.vml"/><Relationship Id="rId5" Type="http://schemas.openxmlformats.org/officeDocument/2006/relationships/image" Target="../media/image3.wmf"/><Relationship Id="rId4" Type="http://schemas.openxmlformats.org/officeDocument/2006/relationships/oleObject" Target="../embeddings/oleObject21.bin"/></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vmlDrawing" Target="../drawings/vmlDrawing13.vml"/><Relationship Id="rId5" Type="http://schemas.openxmlformats.org/officeDocument/2006/relationships/image" Target="../media/image3.wmf"/><Relationship Id="rId4" Type="http://schemas.openxmlformats.org/officeDocument/2006/relationships/oleObject" Target="../embeddings/oleObject22.bin"/></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vmlDrawing" Target="../drawings/vmlDrawing14.vml"/><Relationship Id="rId5" Type="http://schemas.openxmlformats.org/officeDocument/2006/relationships/image" Target="../media/image3.wmf"/><Relationship Id="rId4" Type="http://schemas.openxmlformats.org/officeDocument/2006/relationships/oleObject" Target="../embeddings/oleObject23.bin"/></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vmlDrawing" Target="../drawings/vmlDrawing15.vml"/><Relationship Id="rId5" Type="http://schemas.openxmlformats.org/officeDocument/2006/relationships/image" Target="../media/image3.wmf"/><Relationship Id="rId4" Type="http://schemas.openxmlformats.org/officeDocument/2006/relationships/oleObject" Target="../embeddings/oleObject24.bin"/></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vmlDrawing" Target="../drawings/vmlDrawing16.vml"/><Relationship Id="rId5" Type="http://schemas.openxmlformats.org/officeDocument/2006/relationships/image" Target="../media/image3.wmf"/><Relationship Id="rId4" Type="http://schemas.openxmlformats.org/officeDocument/2006/relationships/oleObject" Target="../embeddings/oleObject25.bin"/></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vmlDrawing" Target="../drawings/vmlDrawing17.vml"/><Relationship Id="rId6" Type="http://schemas.openxmlformats.org/officeDocument/2006/relationships/image" Target="../media/image15.png"/><Relationship Id="rId5" Type="http://schemas.openxmlformats.org/officeDocument/2006/relationships/image" Target="../media/image3.wmf"/><Relationship Id="rId4" Type="http://schemas.openxmlformats.org/officeDocument/2006/relationships/oleObject" Target="../embeddings/oleObject26.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981200" y="381000"/>
            <a:ext cx="6553200" cy="3962400"/>
          </a:xfrm>
        </p:spPr>
        <p:style>
          <a:lnRef idx="1">
            <a:schemeClr val="accent3"/>
          </a:lnRef>
          <a:fillRef idx="2">
            <a:schemeClr val="accent3"/>
          </a:fillRef>
          <a:effectRef idx="1">
            <a:schemeClr val="accent3"/>
          </a:effectRef>
          <a:fontRef idx="minor">
            <a:schemeClr val="dk1"/>
          </a:fontRef>
        </p:style>
        <p:txBody>
          <a:bodyPr>
            <a:normAutofit/>
          </a:bodyPr>
          <a:lstStyle/>
          <a:p>
            <a:r>
              <a:rPr lang="en-US" dirty="0" smtClean="0"/>
              <a:t>Chapter </a:t>
            </a:r>
            <a:r>
              <a:rPr lang="en-US" sz="6600" dirty="0" smtClean="0"/>
              <a:t>7</a:t>
            </a:r>
            <a:r>
              <a:rPr lang="en-US" dirty="0" smtClean="0"/>
              <a:t/>
            </a:r>
            <a:br>
              <a:rPr lang="en-US" dirty="0" smtClean="0"/>
            </a:br>
            <a:r>
              <a:rPr lang="en-US" dirty="0"/>
              <a:t/>
            </a:r>
            <a:br>
              <a:rPr lang="en-US" dirty="0"/>
            </a:br>
            <a:r>
              <a:rPr lang="en-US" dirty="0" smtClean="0"/>
              <a:t/>
            </a:r>
            <a:br>
              <a:rPr lang="en-US" dirty="0" smtClean="0"/>
            </a:br>
            <a:r>
              <a:rPr lang="en-US" dirty="0" smtClean="0"/>
              <a:t>Education, Training, and Earning Differentials: </a:t>
            </a:r>
            <a:r>
              <a:rPr lang="en-US" dirty="0" smtClean="0">
                <a:solidFill>
                  <a:schemeClr val="accent2">
                    <a:lumMod val="50000"/>
                  </a:schemeClr>
                </a:solidFill>
              </a:rPr>
              <a:t>The Theory of Human Capital </a:t>
            </a:r>
            <a:endParaRPr lang="en-US" dirty="0">
              <a:solidFill>
                <a:schemeClr val="accent2">
                  <a:lumMod val="50000"/>
                </a:schemeClr>
              </a:solidFill>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28600"/>
            <a:ext cx="8153400" cy="990600"/>
          </a:xfrm>
        </p:spPr>
        <p:style>
          <a:lnRef idx="1">
            <a:schemeClr val="accent3"/>
          </a:lnRef>
          <a:fillRef idx="2">
            <a:schemeClr val="accent3"/>
          </a:fillRef>
          <a:effectRef idx="1">
            <a:schemeClr val="accent3"/>
          </a:effectRef>
          <a:fontRef idx="minor">
            <a:schemeClr val="dk1"/>
          </a:fontRef>
        </p:style>
        <p:txBody>
          <a:bodyPr>
            <a:noAutofit/>
          </a:bodyPr>
          <a:lstStyle/>
          <a:p>
            <a:pPr algn="ctr"/>
            <a:r>
              <a:rPr lang="en-US" sz="3600" b="1" dirty="0" smtClean="0">
                <a:solidFill>
                  <a:schemeClr val="tx1"/>
                </a:solidFill>
              </a:rPr>
              <a:t>Chapter outline</a:t>
            </a:r>
            <a:endParaRPr lang="en-US" sz="3600" b="1" dirty="0">
              <a:solidFill>
                <a:schemeClr val="tx1"/>
              </a:solidFill>
            </a:endParaRPr>
          </a:p>
        </p:txBody>
      </p:sp>
      <p:sp>
        <p:nvSpPr>
          <p:cNvPr id="3" name="Content Placeholder 2"/>
          <p:cNvSpPr>
            <a:spLocks noGrp="1"/>
          </p:cNvSpPr>
          <p:nvPr>
            <p:ph sz="quarter" idx="1"/>
          </p:nvPr>
        </p:nvSpPr>
        <p:spPr>
          <a:xfrm>
            <a:off x="381000" y="1371600"/>
            <a:ext cx="8153400" cy="5257800"/>
          </a:xfrm>
          <a:solidFill>
            <a:schemeClr val="accent1">
              <a:lumMod val="20000"/>
              <a:lumOff val="80000"/>
            </a:schemeClr>
          </a:solidFill>
        </p:spPr>
        <p:txBody>
          <a:bodyPr>
            <a:normAutofit/>
          </a:bodyPr>
          <a:lstStyle/>
          <a:p>
            <a:pPr algn="just">
              <a:buNone/>
            </a:pPr>
            <a:r>
              <a:rPr lang="en-US" sz="2800" dirty="0" smtClean="0"/>
              <a:t>This chapter examines the role of education and on-the-job training as a source of earning differentials.</a:t>
            </a:r>
          </a:p>
          <a:p>
            <a:pPr algn="just">
              <a:buNone/>
            </a:pPr>
            <a:endParaRPr lang="en-US" sz="2800" dirty="0" smtClean="0"/>
          </a:p>
          <a:p>
            <a:pPr algn="just">
              <a:buNone/>
            </a:pPr>
            <a:r>
              <a:rPr lang="en-US" sz="2800" dirty="0" smtClean="0"/>
              <a:t>The essence of human capital theory is that expenditures on education and training are investments individuals make it themselves to increase their market skills, productivity, and earnings.</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28600"/>
            <a:ext cx="8153400" cy="762000"/>
          </a:xfrm>
        </p:spPr>
        <p:style>
          <a:lnRef idx="1">
            <a:schemeClr val="accent3"/>
          </a:lnRef>
          <a:fillRef idx="2">
            <a:schemeClr val="accent3"/>
          </a:fillRef>
          <a:effectRef idx="1">
            <a:schemeClr val="accent3"/>
          </a:effectRef>
          <a:fontRef idx="minor">
            <a:schemeClr val="dk1"/>
          </a:fontRef>
        </p:style>
        <p:txBody>
          <a:bodyPr>
            <a:noAutofit/>
          </a:bodyPr>
          <a:lstStyle/>
          <a:p>
            <a:pPr algn="ctr"/>
            <a:r>
              <a:rPr lang="en-US" sz="3200" b="1" dirty="0" smtClean="0">
                <a:solidFill>
                  <a:schemeClr val="tx1"/>
                </a:solidFill>
              </a:rPr>
              <a:t>The Theory of Human Capital </a:t>
            </a:r>
            <a:endParaRPr lang="en-US" sz="3200" b="1" dirty="0">
              <a:solidFill>
                <a:schemeClr val="tx1"/>
              </a:solidFill>
            </a:endParaRPr>
          </a:p>
        </p:txBody>
      </p:sp>
      <p:sp>
        <p:nvSpPr>
          <p:cNvPr id="3" name="Content Placeholder 2"/>
          <p:cNvSpPr>
            <a:spLocks noGrp="1"/>
          </p:cNvSpPr>
          <p:nvPr>
            <p:ph sz="quarter" idx="1"/>
          </p:nvPr>
        </p:nvSpPr>
        <p:spPr>
          <a:xfrm>
            <a:off x="381000" y="1143000"/>
            <a:ext cx="8153400" cy="5486400"/>
          </a:xfrm>
          <a:solidFill>
            <a:schemeClr val="accent1">
              <a:lumMod val="20000"/>
              <a:lumOff val="80000"/>
            </a:schemeClr>
          </a:solidFill>
        </p:spPr>
        <p:txBody>
          <a:bodyPr>
            <a:noAutofit/>
          </a:bodyPr>
          <a:lstStyle/>
          <a:p>
            <a:pPr algn="just">
              <a:buNone/>
            </a:pPr>
            <a:r>
              <a:rPr lang="en-US" sz="2600" dirty="0" smtClean="0"/>
              <a:t>Over two century earlier, Adam Smith introduced the idea of human capital. However, Smith’s insight was largely neglected by later economists, who concentrated on investment in physical capital.</a:t>
            </a:r>
          </a:p>
          <a:p>
            <a:pPr algn="just">
              <a:buNone/>
            </a:pPr>
            <a:r>
              <a:rPr lang="en-US" sz="2600" dirty="0" smtClean="0"/>
              <a:t>In the late 1950s, however, economists such as Jacob </a:t>
            </a:r>
            <a:r>
              <a:rPr lang="en-US" sz="2600" dirty="0" err="1" smtClean="0"/>
              <a:t>Mincer</a:t>
            </a:r>
            <a:r>
              <a:rPr lang="en-US" sz="2600" dirty="0" smtClean="0"/>
              <a:t> and Nobel laureates Theodore Schultz and Gary Becker rediscovered Smith’s thought and developed it into the “Theory of Human Capital.” </a:t>
            </a:r>
          </a:p>
          <a:p>
            <a:pPr algn="just">
              <a:buNone/>
            </a:pPr>
            <a:r>
              <a:rPr lang="en-US" sz="2600" dirty="0" smtClean="0"/>
              <a:t>The type of human capital investment that has received most attention from labor economics is education and training.</a:t>
            </a:r>
          </a:p>
          <a:p>
            <a:pPr algn="just">
              <a:buNone/>
            </a:pPr>
            <a:endParaRPr lang="en-US" sz="2600" dirty="0" smtClean="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28600"/>
            <a:ext cx="8305800" cy="762000"/>
          </a:xfrm>
        </p:spPr>
        <p:style>
          <a:lnRef idx="1">
            <a:schemeClr val="accent3"/>
          </a:lnRef>
          <a:fillRef idx="2">
            <a:schemeClr val="accent3"/>
          </a:fillRef>
          <a:effectRef idx="1">
            <a:schemeClr val="accent3"/>
          </a:effectRef>
          <a:fontRef idx="minor">
            <a:schemeClr val="dk1"/>
          </a:fontRef>
        </p:style>
        <p:txBody>
          <a:bodyPr>
            <a:noAutofit/>
          </a:bodyPr>
          <a:lstStyle/>
          <a:p>
            <a:pPr algn="ctr"/>
            <a:r>
              <a:rPr lang="en-US" sz="3200" b="1" dirty="0" smtClean="0">
                <a:solidFill>
                  <a:schemeClr val="tx1"/>
                </a:solidFill>
              </a:rPr>
              <a:t>The Theory of Human Capital </a:t>
            </a:r>
            <a:endParaRPr lang="en-US" sz="3200" b="1" dirty="0">
              <a:solidFill>
                <a:schemeClr val="tx1"/>
              </a:solidFill>
            </a:endParaRPr>
          </a:p>
        </p:txBody>
      </p:sp>
      <p:sp>
        <p:nvSpPr>
          <p:cNvPr id="3" name="Content Placeholder 2"/>
          <p:cNvSpPr>
            <a:spLocks noGrp="1"/>
          </p:cNvSpPr>
          <p:nvPr>
            <p:ph sz="quarter" idx="1"/>
          </p:nvPr>
        </p:nvSpPr>
        <p:spPr>
          <a:xfrm>
            <a:off x="381000" y="1066800"/>
            <a:ext cx="8305800" cy="5486400"/>
          </a:xfrm>
          <a:solidFill>
            <a:schemeClr val="accent1">
              <a:lumMod val="20000"/>
              <a:lumOff val="80000"/>
            </a:schemeClr>
          </a:solidFill>
        </p:spPr>
        <p:txBody>
          <a:bodyPr>
            <a:noAutofit/>
          </a:bodyPr>
          <a:lstStyle/>
          <a:p>
            <a:pPr algn="just">
              <a:buNone/>
            </a:pPr>
            <a:r>
              <a:rPr lang="en-US" sz="2800" b="1" dirty="0" smtClean="0">
                <a:solidFill>
                  <a:srgbClr val="FF0000"/>
                </a:solidFill>
              </a:rPr>
              <a:t>The Investment Decision: </a:t>
            </a:r>
          </a:p>
          <a:p>
            <a:pPr algn="just">
              <a:buNone/>
            </a:pPr>
            <a:r>
              <a:rPr lang="en-US" sz="2800" b="1" dirty="0" smtClean="0">
                <a:solidFill>
                  <a:srgbClr val="FF0000"/>
                </a:solidFill>
              </a:rPr>
              <a:t>	</a:t>
            </a:r>
            <a:r>
              <a:rPr lang="en-US" sz="2600" b="1" dirty="0" smtClean="0"/>
              <a:t>Should an individual attend a four year university or college?</a:t>
            </a:r>
          </a:p>
          <a:p>
            <a:pPr algn="just">
              <a:buNone/>
            </a:pPr>
            <a:r>
              <a:rPr lang="en-US" sz="2800" dirty="0" smtClean="0"/>
              <a:t>	</a:t>
            </a:r>
            <a:r>
              <a:rPr lang="en-US" dirty="0" smtClean="0"/>
              <a:t>From a human capital perspective, the depends on the monetary benefits relative to the costs. </a:t>
            </a:r>
          </a:p>
          <a:p>
            <a:pPr algn="just">
              <a:buNone/>
            </a:pPr>
            <a:r>
              <a:rPr lang="en-US" dirty="0" smtClean="0"/>
              <a:t>The precise nature of these benefits and costs is illustrated using the age/ earnings profile resulting from the following two different investment strategies:</a:t>
            </a:r>
          </a:p>
          <a:p>
            <a:pPr algn="just">
              <a:buNone/>
            </a:pPr>
            <a:r>
              <a:rPr lang="en-US" b="1" dirty="0" smtClean="0">
                <a:solidFill>
                  <a:srgbClr val="0070C0"/>
                </a:solidFill>
              </a:rPr>
              <a:t>First: </a:t>
            </a:r>
            <a:r>
              <a:rPr lang="en-US" dirty="0" smtClean="0"/>
              <a:t>To finish high school and then begin full-time work at age 18, working continuously until age 65. </a:t>
            </a:r>
          </a:p>
          <a:p>
            <a:pPr algn="just">
              <a:buNone/>
            </a:pPr>
            <a:r>
              <a:rPr lang="en-US" b="1" dirty="0" smtClean="0">
                <a:solidFill>
                  <a:srgbClr val="0070C0"/>
                </a:solidFill>
              </a:rPr>
              <a:t>Second: </a:t>
            </a:r>
            <a:r>
              <a:rPr lang="en-US" dirty="0" smtClean="0"/>
              <a:t>To attend college for four years from age 18 to 21, then work continuously from age 22 to retirement at age 65.</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76200"/>
            <a:ext cx="8229600" cy="609600"/>
          </a:xfrm>
        </p:spPr>
        <p:style>
          <a:lnRef idx="1">
            <a:schemeClr val="accent3"/>
          </a:lnRef>
          <a:fillRef idx="2">
            <a:schemeClr val="accent3"/>
          </a:fillRef>
          <a:effectRef idx="1">
            <a:schemeClr val="accent3"/>
          </a:effectRef>
          <a:fontRef idx="minor">
            <a:schemeClr val="dk1"/>
          </a:fontRef>
        </p:style>
        <p:txBody>
          <a:bodyPr>
            <a:noAutofit/>
          </a:bodyPr>
          <a:lstStyle/>
          <a:p>
            <a:pPr algn="ctr"/>
            <a:r>
              <a:rPr lang="en-US" sz="3200" b="1" dirty="0" smtClean="0">
                <a:solidFill>
                  <a:schemeClr val="tx1"/>
                </a:solidFill>
              </a:rPr>
              <a:t>The Theory of Human Capital </a:t>
            </a:r>
            <a:endParaRPr lang="en-US" sz="3200" b="1" dirty="0">
              <a:solidFill>
                <a:schemeClr val="tx1"/>
              </a:solidFill>
            </a:endParaRPr>
          </a:p>
        </p:txBody>
      </p:sp>
      <p:sp>
        <p:nvSpPr>
          <p:cNvPr id="3" name="Content Placeholder 2"/>
          <p:cNvSpPr>
            <a:spLocks noGrp="1"/>
          </p:cNvSpPr>
          <p:nvPr>
            <p:ph sz="quarter" idx="1"/>
          </p:nvPr>
        </p:nvSpPr>
        <p:spPr>
          <a:xfrm>
            <a:off x="381000" y="685800"/>
            <a:ext cx="8305800" cy="5943600"/>
          </a:xfrm>
          <a:solidFill>
            <a:schemeClr val="accent1">
              <a:lumMod val="20000"/>
              <a:lumOff val="80000"/>
            </a:schemeClr>
          </a:solidFill>
        </p:spPr>
        <p:txBody>
          <a:bodyPr>
            <a:noAutofit/>
          </a:bodyPr>
          <a:lstStyle/>
          <a:p>
            <a:pPr algn="just">
              <a:buNone/>
            </a:pPr>
            <a:r>
              <a:rPr lang="en-US" dirty="0" smtClean="0"/>
              <a:t>The lines HS </a:t>
            </a:r>
          </a:p>
          <a:p>
            <a:pPr algn="just">
              <a:buNone/>
            </a:pPr>
            <a:r>
              <a:rPr lang="en-US" dirty="0" smtClean="0"/>
              <a:t>and Col are the</a:t>
            </a:r>
          </a:p>
          <a:p>
            <a:pPr algn="just">
              <a:buNone/>
            </a:pPr>
            <a:r>
              <a:rPr lang="en-US" dirty="0" smtClean="0"/>
              <a:t>age/ earnings </a:t>
            </a:r>
          </a:p>
          <a:p>
            <a:pPr algn="just">
              <a:buNone/>
            </a:pPr>
            <a:r>
              <a:rPr lang="en-US" dirty="0" smtClean="0"/>
              <a:t>Profiles of a </a:t>
            </a:r>
          </a:p>
          <a:p>
            <a:pPr algn="just">
              <a:buNone/>
            </a:pPr>
            <a:r>
              <a:rPr lang="en-US" dirty="0" smtClean="0"/>
              <a:t>representative</a:t>
            </a:r>
          </a:p>
          <a:p>
            <a:pPr algn="just">
              <a:buNone/>
            </a:pPr>
            <a:r>
              <a:rPr lang="en-US" dirty="0" smtClean="0"/>
              <a:t>High school and</a:t>
            </a:r>
          </a:p>
          <a:p>
            <a:pPr algn="just">
              <a:buNone/>
            </a:pPr>
            <a:r>
              <a:rPr lang="en-US" dirty="0" smtClean="0"/>
              <a:t>college graduate,</a:t>
            </a:r>
          </a:p>
          <a:p>
            <a:pPr algn="just">
              <a:buNone/>
            </a:pPr>
            <a:r>
              <a:rPr lang="en-US" dirty="0" smtClean="0"/>
              <a:t>Respectively.</a:t>
            </a:r>
          </a:p>
          <a:p>
            <a:pPr algn="just">
              <a:buNone/>
            </a:pPr>
            <a:r>
              <a:rPr lang="en-US" dirty="0" smtClean="0"/>
              <a:t> The cost of a </a:t>
            </a:r>
          </a:p>
          <a:p>
            <a:pPr algn="just">
              <a:buNone/>
            </a:pPr>
            <a:r>
              <a:rPr lang="en-US" dirty="0" smtClean="0"/>
              <a:t>college education is the direct cost of tuition, books, and so on (area 1) and the opportunity cost of forgone earnings (area 2). The monetary benefits of attending college is the higher earnings that a college degree makes possible (area 3). </a:t>
            </a:r>
          </a:p>
          <a:p>
            <a:pPr algn="just">
              <a:buNone/>
            </a:pPr>
            <a:r>
              <a:rPr lang="en-US" dirty="0" smtClean="0"/>
              <a:t> </a:t>
            </a:r>
          </a:p>
        </p:txBody>
      </p:sp>
      <p:pic>
        <p:nvPicPr>
          <p:cNvPr id="3993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95600" y="762000"/>
            <a:ext cx="5791200" cy="391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28600"/>
            <a:ext cx="8305800" cy="762000"/>
          </a:xfrm>
        </p:spPr>
        <p:style>
          <a:lnRef idx="1">
            <a:schemeClr val="accent3"/>
          </a:lnRef>
          <a:fillRef idx="2">
            <a:schemeClr val="accent3"/>
          </a:fillRef>
          <a:effectRef idx="1">
            <a:schemeClr val="accent3"/>
          </a:effectRef>
          <a:fontRef idx="minor">
            <a:schemeClr val="dk1"/>
          </a:fontRef>
        </p:style>
        <p:txBody>
          <a:bodyPr>
            <a:noAutofit/>
          </a:bodyPr>
          <a:lstStyle/>
          <a:p>
            <a:pPr algn="ctr"/>
            <a:r>
              <a:rPr lang="en-US" sz="3200" b="1" dirty="0" smtClean="0">
                <a:solidFill>
                  <a:schemeClr val="tx1"/>
                </a:solidFill>
              </a:rPr>
              <a:t>The Theory of Human Capital </a:t>
            </a:r>
            <a:endParaRPr lang="en-US" sz="3200" b="1" dirty="0">
              <a:solidFill>
                <a:schemeClr val="tx1"/>
              </a:solidFill>
            </a:endParaRPr>
          </a:p>
        </p:txBody>
      </p:sp>
      <p:sp>
        <p:nvSpPr>
          <p:cNvPr id="3" name="Content Placeholder 2"/>
          <p:cNvSpPr>
            <a:spLocks noGrp="1"/>
          </p:cNvSpPr>
          <p:nvPr>
            <p:ph sz="quarter" idx="1"/>
          </p:nvPr>
        </p:nvSpPr>
        <p:spPr>
          <a:xfrm>
            <a:off x="381000" y="1066800"/>
            <a:ext cx="8305800" cy="5486400"/>
          </a:xfrm>
          <a:solidFill>
            <a:schemeClr val="accent1">
              <a:lumMod val="20000"/>
              <a:lumOff val="80000"/>
            </a:schemeClr>
          </a:solidFill>
        </p:spPr>
        <p:txBody>
          <a:bodyPr>
            <a:noAutofit/>
          </a:bodyPr>
          <a:lstStyle/>
          <a:p>
            <a:pPr algn="just">
              <a:buNone/>
            </a:pPr>
            <a:r>
              <a:rPr lang="en-US" dirty="0" smtClean="0"/>
              <a:t>To compare the benefits with the costs, the benefits must be calculated in terms of their present value.</a:t>
            </a:r>
          </a:p>
          <a:p>
            <a:pPr algn="just">
              <a:buNone/>
            </a:pPr>
            <a:r>
              <a:rPr lang="en-US" b="1" dirty="0" smtClean="0"/>
              <a:t>Present value:</a:t>
            </a:r>
          </a:p>
          <a:p>
            <a:pPr algn="just">
              <a:buNone/>
            </a:pPr>
            <a:endParaRPr lang="en-US" b="1" dirty="0" smtClean="0"/>
          </a:p>
          <a:p>
            <a:pPr algn="just">
              <a:buNone/>
            </a:pPr>
            <a:endParaRPr lang="en-US" b="1" dirty="0" smtClean="0"/>
          </a:p>
          <a:p>
            <a:pPr algn="just">
              <a:buNone/>
            </a:pPr>
            <a:r>
              <a:rPr lang="en-US" b="1" dirty="0" smtClean="0"/>
              <a:t>For the high school graduate, the present value of the lifetime stream of income (     ) is: </a:t>
            </a:r>
          </a:p>
          <a:p>
            <a:pPr algn="just">
              <a:buNone/>
            </a:pPr>
            <a:endParaRPr lang="en-US" b="1" dirty="0" smtClean="0"/>
          </a:p>
          <a:p>
            <a:pPr algn="just">
              <a:buNone/>
            </a:pPr>
            <a:endParaRPr lang="en-US" b="1" dirty="0" smtClean="0"/>
          </a:p>
          <a:p>
            <a:pPr algn="just">
              <a:buNone/>
            </a:pPr>
            <a:endParaRPr lang="en-US" b="1" dirty="0" smtClean="0"/>
          </a:p>
          <a:p>
            <a:pPr algn="just">
              <a:buNone/>
            </a:pPr>
            <a:r>
              <a:rPr lang="en-US" b="1" dirty="0" smtClean="0"/>
              <a:t>Or, </a:t>
            </a:r>
          </a:p>
          <a:p>
            <a:pPr algn="just">
              <a:buNone/>
            </a:pPr>
            <a:r>
              <a:rPr lang="en-US" b="1" dirty="0" smtClean="0"/>
              <a:t> </a:t>
            </a:r>
          </a:p>
        </p:txBody>
      </p:sp>
      <p:graphicFrame>
        <p:nvGraphicFramePr>
          <p:cNvPr id="2050" name="Object 2"/>
          <p:cNvGraphicFramePr>
            <a:graphicFrameLocks noChangeAspect="1"/>
          </p:cNvGraphicFramePr>
          <p:nvPr/>
        </p:nvGraphicFramePr>
        <p:xfrm>
          <a:off x="0" y="457200"/>
          <a:ext cx="114300" cy="219075"/>
        </p:xfrm>
        <a:graphic>
          <a:graphicData uri="http://schemas.openxmlformats.org/presentationml/2006/ole">
            <mc:AlternateContent xmlns:mc="http://schemas.openxmlformats.org/markup-compatibility/2006">
              <mc:Choice xmlns:v="urn:schemas-microsoft-com:vml" Requires="v">
                <p:oleObj spid="_x0000_s2071" name="Equation" r:id="rId3" imgW="114151" imgH="215619" progId="Equation.3">
                  <p:embed/>
                </p:oleObj>
              </mc:Choice>
              <mc:Fallback>
                <p:oleObj name="Equation" r:id="rId3" imgW="114151" imgH="215619" progId="Equation.3">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457200"/>
                        <a:ext cx="114300" cy="2190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049" name="Object 1"/>
          <p:cNvGraphicFramePr>
            <a:graphicFrameLocks noChangeAspect="1"/>
          </p:cNvGraphicFramePr>
          <p:nvPr/>
        </p:nvGraphicFramePr>
        <p:xfrm>
          <a:off x="3429000" y="2057400"/>
          <a:ext cx="1981200" cy="990600"/>
        </p:xfrm>
        <a:graphic>
          <a:graphicData uri="http://schemas.openxmlformats.org/presentationml/2006/ole">
            <mc:AlternateContent xmlns:mc="http://schemas.openxmlformats.org/markup-compatibility/2006">
              <mc:Choice xmlns:v="urn:schemas-microsoft-com:vml" Requires="v">
                <p:oleObj spid="_x0000_s2072" name="Equation" r:id="rId5" imgW="850531" imgH="418918" progId="Equation.3">
                  <p:embed/>
                </p:oleObj>
              </mc:Choice>
              <mc:Fallback>
                <p:oleObj name="Equation" r:id="rId5" imgW="850531" imgH="418918" progId="Equation.3">
                  <p:embed/>
                  <p:pic>
                    <p:nvPicPr>
                      <p:cNvPr id="0" name="Picture 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29000" y="2057400"/>
                        <a:ext cx="1981200" cy="990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51" name="Rectangle 3"/>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2" name="Rectangle 4"/>
          <p:cNvSpPr>
            <a:spLocks noChangeArrowheads="1"/>
          </p:cNvSpPr>
          <p:nvPr/>
        </p:nvSpPr>
        <p:spPr bwMode="auto">
          <a:xfrm>
            <a:off x="0" y="6762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5" name="Rectangle 7"/>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2054" name="Object 6"/>
          <p:cNvGraphicFramePr>
            <a:graphicFrameLocks noChangeAspect="1"/>
          </p:cNvGraphicFramePr>
          <p:nvPr/>
        </p:nvGraphicFramePr>
        <p:xfrm>
          <a:off x="5638800" y="3657600"/>
          <a:ext cx="381000" cy="457200"/>
        </p:xfrm>
        <a:graphic>
          <a:graphicData uri="http://schemas.openxmlformats.org/presentationml/2006/ole">
            <mc:AlternateContent xmlns:mc="http://schemas.openxmlformats.org/markup-compatibility/2006">
              <mc:Choice xmlns:v="urn:schemas-microsoft-com:vml" Requires="v">
                <p:oleObj spid="_x0000_s2073" name="Equation" r:id="rId7" imgW="228501" imgH="253890" progId="Equation.3">
                  <p:embed/>
                </p:oleObj>
              </mc:Choice>
              <mc:Fallback>
                <p:oleObj name="Equation" r:id="rId7" imgW="228501" imgH="253890" progId="Equation.3">
                  <p:embed/>
                  <p:pic>
                    <p:nvPicPr>
                      <p:cNvPr id="0" name="Picture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638800" y="3657600"/>
                        <a:ext cx="381000" cy="457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57" name="Rectangle 9"/>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9" name="Rectangle 11"/>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2058" name="Object 10"/>
          <p:cNvGraphicFramePr>
            <a:graphicFrameLocks noChangeAspect="1"/>
          </p:cNvGraphicFramePr>
          <p:nvPr/>
        </p:nvGraphicFramePr>
        <p:xfrm>
          <a:off x="1066800" y="4038600"/>
          <a:ext cx="7086600" cy="990600"/>
        </p:xfrm>
        <a:graphic>
          <a:graphicData uri="http://schemas.openxmlformats.org/presentationml/2006/ole">
            <mc:AlternateContent xmlns:mc="http://schemas.openxmlformats.org/markup-compatibility/2006">
              <mc:Choice xmlns:v="urn:schemas-microsoft-com:vml" Requires="v">
                <p:oleObj spid="_x0000_s2074" name="Equation" r:id="rId9" imgW="2667000" imgH="457200" progId="Equation.3">
                  <p:embed/>
                </p:oleObj>
              </mc:Choice>
              <mc:Fallback>
                <p:oleObj name="Equation" r:id="rId9" imgW="2667000" imgH="457200" progId="Equation.3">
                  <p:embed/>
                  <p:pic>
                    <p:nvPicPr>
                      <p:cNvPr id="0" name="Picture 1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66800" y="4038600"/>
                        <a:ext cx="7086600" cy="990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61" name="Rectangle 13"/>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2060" name="Object 12"/>
          <p:cNvGraphicFramePr>
            <a:graphicFrameLocks noChangeAspect="1"/>
          </p:cNvGraphicFramePr>
          <p:nvPr/>
        </p:nvGraphicFramePr>
        <p:xfrm>
          <a:off x="1371600" y="5105400"/>
          <a:ext cx="3810000" cy="990600"/>
        </p:xfrm>
        <a:graphic>
          <a:graphicData uri="http://schemas.openxmlformats.org/presentationml/2006/ole">
            <mc:AlternateContent xmlns:mc="http://schemas.openxmlformats.org/markup-compatibility/2006">
              <mc:Choice xmlns:v="urn:schemas-microsoft-com:vml" Requires="v">
                <p:oleObj spid="_x0000_s2075" name="Equation" r:id="rId11" imgW="1155199" imgH="444307" progId="Equation.3">
                  <p:embed/>
                </p:oleObj>
              </mc:Choice>
              <mc:Fallback>
                <p:oleObj name="Equation" r:id="rId11" imgW="1155199" imgH="444307" progId="Equation.3">
                  <p:embed/>
                  <p:pic>
                    <p:nvPicPr>
                      <p:cNvPr id="0" name="Picture 1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371600" y="5105400"/>
                        <a:ext cx="3810000" cy="990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28600"/>
            <a:ext cx="8305800" cy="762000"/>
          </a:xfrm>
        </p:spPr>
        <p:style>
          <a:lnRef idx="1">
            <a:schemeClr val="accent3"/>
          </a:lnRef>
          <a:fillRef idx="2">
            <a:schemeClr val="accent3"/>
          </a:fillRef>
          <a:effectRef idx="1">
            <a:schemeClr val="accent3"/>
          </a:effectRef>
          <a:fontRef idx="minor">
            <a:schemeClr val="dk1"/>
          </a:fontRef>
        </p:style>
        <p:txBody>
          <a:bodyPr>
            <a:noAutofit/>
          </a:bodyPr>
          <a:lstStyle/>
          <a:p>
            <a:pPr algn="ctr"/>
            <a:r>
              <a:rPr lang="en-US" sz="3200" b="1" dirty="0" smtClean="0">
                <a:solidFill>
                  <a:schemeClr val="tx1"/>
                </a:solidFill>
              </a:rPr>
              <a:t>The Theory of Human Capital </a:t>
            </a:r>
            <a:endParaRPr lang="en-US" sz="3200" b="1" dirty="0">
              <a:solidFill>
                <a:schemeClr val="tx1"/>
              </a:solidFill>
            </a:endParaRPr>
          </a:p>
        </p:txBody>
      </p:sp>
      <p:sp>
        <p:nvSpPr>
          <p:cNvPr id="3" name="Content Placeholder 2"/>
          <p:cNvSpPr>
            <a:spLocks noGrp="1"/>
          </p:cNvSpPr>
          <p:nvPr>
            <p:ph sz="quarter" idx="1"/>
          </p:nvPr>
        </p:nvSpPr>
        <p:spPr>
          <a:xfrm>
            <a:off x="381000" y="1066800"/>
            <a:ext cx="8305800" cy="5486400"/>
          </a:xfrm>
          <a:solidFill>
            <a:schemeClr val="accent1">
              <a:lumMod val="20000"/>
              <a:lumOff val="80000"/>
            </a:schemeClr>
          </a:solidFill>
        </p:spPr>
        <p:txBody>
          <a:bodyPr>
            <a:noAutofit/>
          </a:bodyPr>
          <a:lstStyle/>
          <a:p>
            <a:pPr algn="just">
              <a:buNone/>
            </a:pPr>
            <a:r>
              <a:rPr lang="en-US" b="1" dirty="0" smtClean="0"/>
              <a:t>For the college graduate, the present value of the lifetime stream of income (     ) is: </a:t>
            </a:r>
          </a:p>
          <a:p>
            <a:pPr algn="just">
              <a:buNone/>
            </a:pPr>
            <a:endParaRPr lang="en-US" b="1" dirty="0" smtClean="0"/>
          </a:p>
          <a:p>
            <a:pPr algn="just">
              <a:buNone/>
            </a:pPr>
            <a:endParaRPr lang="en-US" b="1" dirty="0" smtClean="0"/>
          </a:p>
          <a:p>
            <a:pPr algn="just">
              <a:buNone/>
            </a:pPr>
            <a:endParaRPr lang="en-US" b="1" dirty="0" smtClean="0"/>
          </a:p>
          <a:p>
            <a:pPr algn="just">
              <a:buNone/>
            </a:pPr>
            <a:r>
              <a:rPr lang="en-US" b="1" dirty="0" smtClean="0"/>
              <a:t>Or, </a:t>
            </a:r>
          </a:p>
          <a:p>
            <a:pPr algn="just">
              <a:buNone/>
            </a:pPr>
            <a:r>
              <a:rPr lang="en-US" b="1" dirty="0" smtClean="0"/>
              <a:t> </a:t>
            </a:r>
          </a:p>
        </p:txBody>
      </p:sp>
      <p:graphicFrame>
        <p:nvGraphicFramePr>
          <p:cNvPr id="2050" name="Object 2"/>
          <p:cNvGraphicFramePr>
            <a:graphicFrameLocks noChangeAspect="1"/>
          </p:cNvGraphicFramePr>
          <p:nvPr/>
        </p:nvGraphicFramePr>
        <p:xfrm>
          <a:off x="0" y="457200"/>
          <a:ext cx="114300" cy="219075"/>
        </p:xfrm>
        <a:graphic>
          <a:graphicData uri="http://schemas.openxmlformats.org/presentationml/2006/ole">
            <mc:AlternateContent xmlns:mc="http://schemas.openxmlformats.org/markup-compatibility/2006">
              <mc:Choice xmlns:v="urn:schemas-microsoft-com:vml" Requires="v">
                <p:oleObj spid="_x0000_s21523" name="Equation" r:id="rId3" imgW="114151" imgH="215619" progId="Equation.3">
                  <p:embed/>
                </p:oleObj>
              </mc:Choice>
              <mc:Fallback>
                <p:oleObj name="Equation" r:id="rId3" imgW="114151" imgH="215619" progId="Equation.3">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457200"/>
                        <a:ext cx="114300" cy="2190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51" name="Rectangle 3"/>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2" name="Rectangle 4"/>
          <p:cNvSpPr>
            <a:spLocks noChangeArrowheads="1"/>
          </p:cNvSpPr>
          <p:nvPr/>
        </p:nvSpPr>
        <p:spPr bwMode="auto">
          <a:xfrm>
            <a:off x="0" y="6762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5" name="Rectangle 7"/>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7" name="Rectangle 9"/>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9" name="Rectangle 11"/>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61" name="Rectangle 13"/>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21511" name="Object 7"/>
          <p:cNvGraphicFramePr>
            <a:graphicFrameLocks noChangeAspect="1"/>
          </p:cNvGraphicFramePr>
          <p:nvPr/>
        </p:nvGraphicFramePr>
        <p:xfrm>
          <a:off x="5029200" y="1524000"/>
          <a:ext cx="457200" cy="381000"/>
        </p:xfrm>
        <a:graphic>
          <a:graphicData uri="http://schemas.openxmlformats.org/presentationml/2006/ole">
            <mc:AlternateContent xmlns:mc="http://schemas.openxmlformats.org/markup-compatibility/2006">
              <mc:Choice xmlns:v="urn:schemas-microsoft-com:vml" Requires="v">
                <p:oleObj spid="_x0000_s21524" name="Equation" r:id="rId5" imgW="215640" imgH="253800" progId="Equation.3">
                  <p:embed/>
                </p:oleObj>
              </mc:Choice>
              <mc:Fallback>
                <p:oleObj name="Equation" r:id="rId5" imgW="215640" imgH="253800" progId="Equation.3">
                  <p:embed/>
                  <p:pic>
                    <p:nvPicPr>
                      <p:cNvPr id="0" name="Picture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029200" y="1524000"/>
                        <a:ext cx="4572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1513" name="Rectangle 9"/>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21512" name="Object 8"/>
          <p:cNvGraphicFramePr>
            <a:graphicFrameLocks noChangeAspect="1"/>
          </p:cNvGraphicFramePr>
          <p:nvPr/>
        </p:nvGraphicFramePr>
        <p:xfrm>
          <a:off x="1219200" y="1905000"/>
          <a:ext cx="6248400" cy="990600"/>
        </p:xfrm>
        <a:graphic>
          <a:graphicData uri="http://schemas.openxmlformats.org/presentationml/2006/ole">
            <mc:AlternateContent xmlns:mc="http://schemas.openxmlformats.org/markup-compatibility/2006">
              <mc:Choice xmlns:v="urn:schemas-microsoft-com:vml" Requires="v">
                <p:oleObj spid="_x0000_s21525" name="Equation" r:id="rId7" imgW="3136900" imgH="457200" progId="Equation.3">
                  <p:embed/>
                </p:oleObj>
              </mc:Choice>
              <mc:Fallback>
                <p:oleObj name="Equation" r:id="rId7" imgW="3136900" imgH="457200" progId="Equation.3">
                  <p:embed/>
                  <p:pic>
                    <p:nvPicPr>
                      <p:cNvPr id="0" name="Picture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219200" y="1905000"/>
                        <a:ext cx="6248400" cy="990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1515" name="Rectangle 1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21514" name="Object 10"/>
          <p:cNvGraphicFramePr>
            <a:graphicFrameLocks noChangeAspect="1"/>
          </p:cNvGraphicFramePr>
          <p:nvPr/>
        </p:nvGraphicFramePr>
        <p:xfrm>
          <a:off x="1371600" y="2895600"/>
          <a:ext cx="3352800" cy="990600"/>
        </p:xfrm>
        <a:graphic>
          <a:graphicData uri="http://schemas.openxmlformats.org/presentationml/2006/ole">
            <mc:AlternateContent xmlns:mc="http://schemas.openxmlformats.org/markup-compatibility/2006">
              <mc:Choice xmlns:v="urn:schemas-microsoft-com:vml" Requires="v">
                <p:oleObj spid="_x0000_s21526" name="Equation" r:id="rId9" imgW="1143000" imgH="457200" progId="Equation.3">
                  <p:embed/>
                </p:oleObj>
              </mc:Choice>
              <mc:Fallback>
                <p:oleObj name="Equation" r:id="rId9" imgW="1143000" imgH="457200" progId="Equation.3">
                  <p:embed/>
                  <p:pic>
                    <p:nvPicPr>
                      <p:cNvPr id="0" name="Picture 1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371600" y="2895600"/>
                        <a:ext cx="3352800" cy="990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28600"/>
            <a:ext cx="8305800" cy="762000"/>
          </a:xfrm>
        </p:spPr>
        <p:style>
          <a:lnRef idx="1">
            <a:schemeClr val="accent3"/>
          </a:lnRef>
          <a:fillRef idx="2">
            <a:schemeClr val="accent3"/>
          </a:fillRef>
          <a:effectRef idx="1">
            <a:schemeClr val="accent3"/>
          </a:effectRef>
          <a:fontRef idx="minor">
            <a:schemeClr val="dk1"/>
          </a:fontRef>
        </p:style>
        <p:txBody>
          <a:bodyPr>
            <a:noAutofit/>
          </a:bodyPr>
          <a:lstStyle/>
          <a:p>
            <a:pPr algn="ctr"/>
            <a:r>
              <a:rPr lang="en-US" sz="3200" b="1" dirty="0" smtClean="0">
                <a:solidFill>
                  <a:schemeClr val="tx1"/>
                </a:solidFill>
              </a:rPr>
              <a:t>The Theory of Human Capital </a:t>
            </a:r>
            <a:endParaRPr lang="en-US" sz="3200" b="1" dirty="0">
              <a:solidFill>
                <a:schemeClr val="tx1"/>
              </a:solidFill>
            </a:endParaRPr>
          </a:p>
        </p:txBody>
      </p:sp>
      <p:sp>
        <p:nvSpPr>
          <p:cNvPr id="3" name="Content Placeholder 2"/>
          <p:cNvSpPr>
            <a:spLocks noGrp="1"/>
          </p:cNvSpPr>
          <p:nvPr>
            <p:ph sz="quarter" idx="1"/>
          </p:nvPr>
        </p:nvSpPr>
        <p:spPr>
          <a:xfrm>
            <a:off x="381000" y="1066800"/>
            <a:ext cx="8305800" cy="5486400"/>
          </a:xfrm>
          <a:solidFill>
            <a:schemeClr val="accent1">
              <a:lumMod val="20000"/>
              <a:lumOff val="80000"/>
            </a:schemeClr>
          </a:solidFill>
        </p:spPr>
        <p:txBody>
          <a:bodyPr>
            <a:noAutofit/>
          </a:bodyPr>
          <a:lstStyle/>
          <a:p>
            <a:pPr algn="ctr">
              <a:buNone/>
            </a:pPr>
            <a:r>
              <a:rPr lang="en-US" sz="2800" b="1" u="sng" dirty="0" smtClean="0">
                <a:solidFill>
                  <a:srgbClr val="0070C0"/>
                </a:solidFill>
              </a:rPr>
              <a:t>Two Investment Decision Rules</a:t>
            </a:r>
          </a:p>
          <a:p>
            <a:pPr algn="ctr">
              <a:buNone/>
            </a:pPr>
            <a:endParaRPr lang="en-US" sz="2800" b="1" dirty="0" smtClean="0">
              <a:solidFill>
                <a:srgbClr val="0070C0"/>
              </a:solidFill>
            </a:endParaRPr>
          </a:p>
          <a:p>
            <a:pPr algn="just">
              <a:buNone/>
            </a:pPr>
            <a:r>
              <a:rPr lang="en-US" sz="2800" b="1" dirty="0" smtClean="0">
                <a:solidFill>
                  <a:srgbClr val="0070C0"/>
                </a:solidFill>
              </a:rPr>
              <a:t>First: </a:t>
            </a:r>
            <a:r>
              <a:rPr lang="en-US" sz="2800" dirty="0" smtClean="0"/>
              <a:t>To compute the net present value of the each income stream and select the one that is the highest . This choice results in the human capital investment that maximizes the discounted value of the lifetime income.</a:t>
            </a:r>
          </a:p>
        </p:txBody>
      </p:sp>
      <p:graphicFrame>
        <p:nvGraphicFramePr>
          <p:cNvPr id="2050" name="Object 2"/>
          <p:cNvGraphicFramePr>
            <a:graphicFrameLocks noChangeAspect="1"/>
          </p:cNvGraphicFramePr>
          <p:nvPr/>
        </p:nvGraphicFramePr>
        <p:xfrm>
          <a:off x="0" y="457200"/>
          <a:ext cx="114300" cy="219075"/>
        </p:xfrm>
        <a:graphic>
          <a:graphicData uri="http://schemas.openxmlformats.org/presentationml/2006/ole">
            <mc:AlternateContent xmlns:mc="http://schemas.openxmlformats.org/markup-compatibility/2006">
              <mc:Choice xmlns:v="urn:schemas-microsoft-com:vml" Requires="v">
                <p:oleObj spid="_x0000_s22533" name="Equation" r:id="rId3" imgW="114151" imgH="215619" progId="Equation.3">
                  <p:embed/>
                </p:oleObj>
              </mc:Choice>
              <mc:Fallback>
                <p:oleObj name="Equation" r:id="rId3" imgW="114151" imgH="215619" progId="Equation.3">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457200"/>
                        <a:ext cx="114300" cy="2190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51" name="Rectangle 3"/>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2" name="Rectangle 4"/>
          <p:cNvSpPr>
            <a:spLocks noChangeArrowheads="1"/>
          </p:cNvSpPr>
          <p:nvPr/>
        </p:nvSpPr>
        <p:spPr bwMode="auto">
          <a:xfrm>
            <a:off x="0" y="6762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5" name="Rectangle 7"/>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7" name="Rectangle 9"/>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9" name="Rectangle 11"/>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61" name="Rectangle 13"/>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1513" name="Rectangle 9"/>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1515" name="Rectangle 1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28600"/>
            <a:ext cx="8305800" cy="762000"/>
          </a:xfrm>
        </p:spPr>
        <p:style>
          <a:lnRef idx="1">
            <a:schemeClr val="accent3"/>
          </a:lnRef>
          <a:fillRef idx="2">
            <a:schemeClr val="accent3"/>
          </a:fillRef>
          <a:effectRef idx="1">
            <a:schemeClr val="accent3"/>
          </a:effectRef>
          <a:fontRef idx="minor">
            <a:schemeClr val="dk1"/>
          </a:fontRef>
        </p:style>
        <p:txBody>
          <a:bodyPr>
            <a:noAutofit/>
          </a:bodyPr>
          <a:lstStyle/>
          <a:p>
            <a:pPr algn="ctr"/>
            <a:r>
              <a:rPr lang="en-US" sz="3200" b="1" dirty="0" smtClean="0">
                <a:solidFill>
                  <a:schemeClr val="tx1"/>
                </a:solidFill>
              </a:rPr>
              <a:t>The Theory of Human Capital </a:t>
            </a:r>
            <a:endParaRPr lang="en-US" sz="3200" b="1" dirty="0">
              <a:solidFill>
                <a:schemeClr val="tx1"/>
              </a:solidFill>
            </a:endParaRPr>
          </a:p>
        </p:txBody>
      </p:sp>
      <p:sp>
        <p:nvSpPr>
          <p:cNvPr id="3" name="Content Placeholder 2"/>
          <p:cNvSpPr>
            <a:spLocks noGrp="1"/>
          </p:cNvSpPr>
          <p:nvPr>
            <p:ph sz="quarter" idx="1"/>
          </p:nvPr>
        </p:nvSpPr>
        <p:spPr>
          <a:xfrm>
            <a:off x="381000" y="1066800"/>
            <a:ext cx="8305800" cy="5486400"/>
          </a:xfrm>
          <a:solidFill>
            <a:schemeClr val="accent1">
              <a:lumMod val="20000"/>
              <a:lumOff val="80000"/>
            </a:schemeClr>
          </a:solidFill>
        </p:spPr>
        <p:txBody>
          <a:bodyPr>
            <a:noAutofit/>
          </a:bodyPr>
          <a:lstStyle/>
          <a:p>
            <a:pPr algn="ctr">
              <a:buNone/>
            </a:pPr>
            <a:r>
              <a:rPr lang="en-US" sz="2800" b="1" u="sng" dirty="0" smtClean="0">
                <a:solidFill>
                  <a:srgbClr val="0070C0"/>
                </a:solidFill>
              </a:rPr>
              <a:t>Two Investment Decision Rules</a:t>
            </a:r>
          </a:p>
          <a:p>
            <a:pPr algn="just">
              <a:buNone/>
            </a:pPr>
            <a:r>
              <a:rPr lang="en-US" sz="2800" b="1" dirty="0" smtClean="0">
                <a:solidFill>
                  <a:srgbClr val="0070C0"/>
                </a:solidFill>
              </a:rPr>
              <a:t>Second:</a:t>
            </a:r>
            <a:r>
              <a:rPr lang="en-US" sz="2800" b="1" dirty="0" smtClean="0"/>
              <a:t> </a:t>
            </a:r>
            <a:r>
              <a:rPr lang="en-US" sz="2800" dirty="0" smtClean="0"/>
              <a:t>To decide whether college is a good investment is to calculate the internal rate of return (r) and compare it with the market rate of interest (</a:t>
            </a:r>
            <a:r>
              <a:rPr lang="en-US" sz="2800" dirty="0" err="1" smtClean="0"/>
              <a:t>i</a:t>
            </a:r>
            <a:r>
              <a:rPr lang="en-US" sz="2800" dirty="0" smtClean="0"/>
              <a:t>): if the internal rate of return is greater than or equal to the market rate of interest, the investment is profitable, i.e. </a:t>
            </a:r>
            <a:endParaRPr lang="en-US" sz="2800" dirty="0" smtClean="0">
              <a:solidFill>
                <a:srgbClr val="0070C0"/>
              </a:solidFill>
            </a:endParaRPr>
          </a:p>
          <a:p>
            <a:pPr algn="just">
              <a:buNone/>
            </a:pPr>
            <a:r>
              <a:rPr lang="en-US" sz="2800" dirty="0" smtClean="0"/>
              <a:t>To calculate r, equalizing the net present value of the two income streams: </a:t>
            </a:r>
          </a:p>
        </p:txBody>
      </p:sp>
      <p:graphicFrame>
        <p:nvGraphicFramePr>
          <p:cNvPr id="2050" name="Object 2"/>
          <p:cNvGraphicFramePr>
            <a:graphicFrameLocks noChangeAspect="1"/>
          </p:cNvGraphicFramePr>
          <p:nvPr/>
        </p:nvGraphicFramePr>
        <p:xfrm>
          <a:off x="0" y="457200"/>
          <a:ext cx="114300" cy="219075"/>
        </p:xfrm>
        <a:graphic>
          <a:graphicData uri="http://schemas.openxmlformats.org/presentationml/2006/ole">
            <mc:AlternateContent xmlns:mc="http://schemas.openxmlformats.org/markup-compatibility/2006">
              <mc:Choice xmlns:v="urn:schemas-microsoft-com:vml" Requires="v">
                <p:oleObj spid="_x0000_s23564" name="Equation" r:id="rId3" imgW="114151" imgH="215619" progId="Equation.3">
                  <p:embed/>
                </p:oleObj>
              </mc:Choice>
              <mc:Fallback>
                <p:oleObj name="Equation" r:id="rId3" imgW="114151" imgH="215619" progId="Equation.3">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457200"/>
                        <a:ext cx="114300" cy="2190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51" name="Rectangle 3"/>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2" name="Rectangle 4"/>
          <p:cNvSpPr>
            <a:spLocks noChangeArrowheads="1"/>
          </p:cNvSpPr>
          <p:nvPr/>
        </p:nvSpPr>
        <p:spPr bwMode="auto">
          <a:xfrm>
            <a:off x="0" y="6762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5" name="Rectangle 7"/>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7" name="Rectangle 9"/>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9" name="Rectangle 11"/>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61" name="Rectangle 13"/>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1513" name="Rectangle 9"/>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1515" name="Rectangle 1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3556"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23555" name="Object 3"/>
          <p:cNvGraphicFramePr>
            <a:graphicFrameLocks noChangeAspect="1"/>
          </p:cNvGraphicFramePr>
          <p:nvPr/>
        </p:nvGraphicFramePr>
        <p:xfrm>
          <a:off x="7543800" y="3733800"/>
          <a:ext cx="685800" cy="390525"/>
        </p:xfrm>
        <a:graphic>
          <a:graphicData uri="http://schemas.openxmlformats.org/presentationml/2006/ole">
            <mc:AlternateContent xmlns:mc="http://schemas.openxmlformats.org/markup-compatibility/2006">
              <mc:Choice xmlns:v="urn:schemas-microsoft-com:vml" Requires="v">
                <p:oleObj spid="_x0000_s23565" name="Equation" r:id="rId5" imgW="304536" imgH="164957" progId="Equation.3">
                  <p:embed/>
                </p:oleObj>
              </mc:Choice>
              <mc:Fallback>
                <p:oleObj name="Equation" r:id="rId5" imgW="304536" imgH="164957" progId="Equation.3">
                  <p:embed/>
                  <p:pic>
                    <p:nvPicPr>
                      <p:cNvPr id="0"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543800" y="3733800"/>
                        <a:ext cx="685800" cy="3905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3558"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23557" name="Object 5"/>
          <p:cNvGraphicFramePr>
            <a:graphicFrameLocks noChangeAspect="1"/>
          </p:cNvGraphicFramePr>
          <p:nvPr/>
        </p:nvGraphicFramePr>
        <p:xfrm>
          <a:off x="1981200" y="5029200"/>
          <a:ext cx="5334000" cy="1371600"/>
        </p:xfrm>
        <a:graphic>
          <a:graphicData uri="http://schemas.openxmlformats.org/presentationml/2006/ole">
            <mc:AlternateContent xmlns:mc="http://schemas.openxmlformats.org/markup-compatibility/2006">
              <mc:Choice xmlns:v="urn:schemas-microsoft-com:vml" Requires="v">
                <p:oleObj spid="_x0000_s23566" name="Equation" r:id="rId7" imgW="1714500" imgH="457200" progId="Equation.3">
                  <p:embed/>
                </p:oleObj>
              </mc:Choice>
              <mc:Fallback>
                <p:oleObj name="Equation" r:id="rId7" imgW="1714500" imgH="457200" progId="Equation.3">
                  <p:embed/>
                  <p:pic>
                    <p:nvPicPr>
                      <p:cNvPr id="0" name="Picture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981200" y="5029200"/>
                        <a:ext cx="5334000" cy="1371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52400"/>
            <a:ext cx="8305800" cy="990600"/>
          </a:xfrm>
        </p:spPr>
        <p:style>
          <a:lnRef idx="1">
            <a:schemeClr val="accent3"/>
          </a:lnRef>
          <a:fillRef idx="2">
            <a:schemeClr val="accent3"/>
          </a:fillRef>
          <a:effectRef idx="1">
            <a:schemeClr val="accent3"/>
          </a:effectRef>
          <a:fontRef idx="minor">
            <a:schemeClr val="dk1"/>
          </a:fontRef>
        </p:style>
        <p:txBody>
          <a:bodyPr>
            <a:noAutofit/>
          </a:bodyPr>
          <a:lstStyle/>
          <a:p>
            <a:pPr algn="ctr"/>
            <a:r>
              <a:rPr lang="en-US" sz="3200" b="1" dirty="0" smtClean="0">
                <a:solidFill>
                  <a:schemeClr val="tx1"/>
                </a:solidFill>
              </a:rPr>
              <a:t>Implication of Human Capital Theory</a:t>
            </a:r>
            <a:endParaRPr lang="en-US" sz="3200" b="1" dirty="0">
              <a:solidFill>
                <a:schemeClr val="tx1"/>
              </a:solidFill>
            </a:endParaRPr>
          </a:p>
        </p:txBody>
      </p:sp>
      <p:sp>
        <p:nvSpPr>
          <p:cNvPr id="3" name="Content Placeholder 2"/>
          <p:cNvSpPr>
            <a:spLocks noGrp="1"/>
          </p:cNvSpPr>
          <p:nvPr>
            <p:ph sz="quarter" idx="1"/>
          </p:nvPr>
        </p:nvSpPr>
        <p:spPr>
          <a:xfrm>
            <a:off x="381000" y="1219200"/>
            <a:ext cx="8305800" cy="5334000"/>
          </a:xfrm>
          <a:solidFill>
            <a:schemeClr val="accent1">
              <a:lumMod val="20000"/>
              <a:lumOff val="80000"/>
            </a:schemeClr>
          </a:solidFill>
        </p:spPr>
        <p:txBody>
          <a:bodyPr>
            <a:noAutofit/>
          </a:bodyPr>
          <a:lstStyle/>
          <a:p>
            <a:pPr algn="just">
              <a:buNone/>
            </a:pPr>
            <a:r>
              <a:rPr lang="en-US" sz="2800" dirty="0" smtClean="0"/>
              <a:t>The following are the some implications of human capital theory:</a:t>
            </a:r>
          </a:p>
          <a:p>
            <a:pPr algn="just">
              <a:buNone/>
            </a:pPr>
            <a:r>
              <a:rPr lang="en-US" sz="2800" dirty="0" smtClean="0"/>
              <a:t>1. Cost.</a:t>
            </a:r>
          </a:p>
          <a:p>
            <a:pPr algn="just">
              <a:buNone/>
            </a:pPr>
            <a:r>
              <a:rPr lang="en-US" sz="2800" dirty="0" smtClean="0"/>
              <a:t>2. Age.</a:t>
            </a:r>
          </a:p>
          <a:p>
            <a:pPr algn="just">
              <a:buNone/>
            </a:pPr>
            <a:r>
              <a:rPr lang="en-US" sz="2800" dirty="0" smtClean="0"/>
              <a:t>3. Labor Force Continuity.</a:t>
            </a:r>
          </a:p>
          <a:p>
            <a:pPr algn="just">
              <a:buNone/>
            </a:pPr>
            <a:r>
              <a:rPr lang="en-US" sz="2800" dirty="0" smtClean="0"/>
              <a:t>4. Earning Differentials</a:t>
            </a:r>
          </a:p>
          <a:p>
            <a:pPr algn="just">
              <a:buNone/>
            </a:pPr>
            <a:r>
              <a:rPr lang="en-US" sz="2800" dirty="0" smtClean="0"/>
              <a:t>5. The size of Earning Differentials.</a:t>
            </a:r>
          </a:p>
        </p:txBody>
      </p:sp>
      <p:graphicFrame>
        <p:nvGraphicFramePr>
          <p:cNvPr id="2050" name="Object 2"/>
          <p:cNvGraphicFramePr>
            <a:graphicFrameLocks noChangeAspect="1"/>
          </p:cNvGraphicFramePr>
          <p:nvPr/>
        </p:nvGraphicFramePr>
        <p:xfrm>
          <a:off x="0" y="457200"/>
          <a:ext cx="114300" cy="219075"/>
        </p:xfrm>
        <a:graphic>
          <a:graphicData uri="http://schemas.openxmlformats.org/presentationml/2006/ole">
            <mc:AlternateContent xmlns:mc="http://schemas.openxmlformats.org/markup-compatibility/2006">
              <mc:Choice xmlns:v="urn:schemas-microsoft-com:vml" Requires="v">
                <p:oleObj spid="_x0000_s25605" name="Equation" r:id="rId3" imgW="114151" imgH="215619" progId="Equation.3">
                  <p:embed/>
                </p:oleObj>
              </mc:Choice>
              <mc:Fallback>
                <p:oleObj name="Equation" r:id="rId3" imgW="114151" imgH="215619" progId="Equation.3">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457200"/>
                        <a:ext cx="114300" cy="2190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51" name="Rectangle 3"/>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2" name="Rectangle 4"/>
          <p:cNvSpPr>
            <a:spLocks noChangeArrowheads="1"/>
          </p:cNvSpPr>
          <p:nvPr/>
        </p:nvSpPr>
        <p:spPr bwMode="auto">
          <a:xfrm>
            <a:off x="0" y="6762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5" name="Rectangle 7"/>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7" name="Rectangle 9"/>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9" name="Rectangle 11"/>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61" name="Rectangle 13"/>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1513" name="Rectangle 9"/>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1515" name="Rectangle 1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76201"/>
            <a:ext cx="8305800" cy="380999"/>
          </a:xfrm>
        </p:spPr>
        <p:style>
          <a:lnRef idx="1">
            <a:schemeClr val="accent3"/>
          </a:lnRef>
          <a:fillRef idx="2">
            <a:schemeClr val="accent3"/>
          </a:fillRef>
          <a:effectRef idx="1">
            <a:schemeClr val="accent3"/>
          </a:effectRef>
          <a:fontRef idx="minor">
            <a:schemeClr val="dk1"/>
          </a:fontRef>
        </p:style>
        <p:txBody>
          <a:bodyPr>
            <a:noAutofit/>
          </a:bodyPr>
          <a:lstStyle/>
          <a:p>
            <a:pPr algn="ctr"/>
            <a:r>
              <a:rPr lang="en-US" sz="2800" b="1" dirty="0" smtClean="0">
                <a:solidFill>
                  <a:schemeClr val="tx1"/>
                </a:solidFill>
              </a:rPr>
              <a:t>Implication of Human Capital Theory</a:t>
            </a:r>
            <a:endParaRPr lang="en-US" sz="2800" b="1" dirty="0">
              <a:solidFill>
                <a:schemeClr val="tx1"/>
              </a:solidFill>
            </a:endParaRPr>
          </a:p>
        </p:txBody>
      </p:sp>
      <p:sp>
        <p:nvSpPr>
          <p:cNvPr id="3" name="Content Placeholder 2"/>
          <p:cNvSpPr>
            <a:spLocks noGrp="1"/>
          </p:cNvSpPr>
          <p:nvPr>
            <p:ph sz="quarter" idx="1"/>
          </p:nvPr>
        </p:nvSpPr>
        <p:spPr>
          <a:xfrm>
            <a:off x="381000" y="533400"/>
            <a:ext cx="8305800" cy="6096000"/>
          </a:xfrm>
          <a:solidFill>
            <a:schemeClr val="accent1">
              <a:lumMod val="20000"/>
              <a:lumOff val="80000"/>
            </a:schemeClr>
          </a:solidFill>
        </p:spPr>
        <p:txBody>
          <a:bodyPr>
            <a:noAutofit/>
          </a:bodyPr>
          <a:lstStyle/>
          <a:p>
            <a:pPr algn="just">
              <a:buNone/>
            </a:pPr>
            <a:r>
              <a:rPr lang="en-US" sz="2800" b="1" dirty="0" smtClean="0">
                <a:solidFill>
                  <a:srgbClr val="0070C0"/>
                </a:solidFill>
              </a:rPr>
              <a:t>5. The size of Earning Differentials: </a:t>
            </a:r>
          </a:p>
        </p:txBody>
      </p:sp>
      <p:graphicFrame>
        <p:nvGraphicFramePr>
          <p:cNvPr id="2050" name="Object 2"/>
          <p:cNvGraphicFramePr>
            <a:graphicFrameLocks noChangeAspect="1"/>
          </p:cNvGraphicFramePr>
          <p:nvPr/>
        </p:nvGraphicFramePr>
        <p:xfrm>
          <a:off x="0" y="457200"/>
          <a:ext cx="114300" cy="219075"/>
        </p:xfrm>
        <a:graphic>
          <a:graphicData uri="http://schemas.openxmlformats.org/presentationml/2006/ole">
            <mc:AlternateContent xmlns:mc="http://schemas.openxmlformats.org/markup-compatibility/2006">
              <mc:Choice xmlns:v="urn:schemas-microsoft-com:vml" Requires="v">
                <p:oleObj spid="_x0000_s26630" name="Equation" r:id="rId3" imgW="114151" imgH="215619" progId="Equation.3">
                  <p:embed/>
                </p:oleObj>
              </mc:Choice>
              <mc:Fallback>
                <p:oleObj name="Equation" r:id="rId3" imgW="114151" imgH="215619" progId="Equation.3">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457200"/>
                        <a:ext cx="114300" cy="2190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51" name="Rectangle 3"/>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2" name="Rectangle 4"/>
          <p:cNvSpPr>
            <a:spLocks noChangeArrowheads="1"/>
          </p:cNvSpPr>
          <p:nvPr/>
        </p:nvSpPr>
        <p:spPr bwMode="auto">
          <a:xfrm>
            <a:off x="0" y="6762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5" name="Rectangle 7"/>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7" name="Rectangle 9"/>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9" name="Rectangle 11"/>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61" name="Rectangle 13"/>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1513" name="Rectangle 9"/>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1515" name="Rectangle 1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4"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47799" y="990600"/>
            <a:ext cx="6324601" cy="5638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28600"/>
            <a:ext cx="8305800" cy="609600"/>
          </a:xfrm>
        </p:spPr>
        <p:style>
          <a:lnRef idx="1">
            <a:schemeClr val="accent3"/>
          </a:lnRef>
          <a:fillRef idx="2">
            <a:schemeClr val="accent3"/>
          </a:fillRef>
          <a:effectRef idx="1">
            <a:schemeClr val="accent3"/>
          </a:effectRef>
          <a:fontRef idx="minor">
            <a:schemeClr val="dk1"/>
          </a:fontRef>
        </p:style>
        <p:txBody>
          <a:bodyPr>
            <a:noAutofit/>
          </a:bodyPr>
          <a:lstStyle/>
          <a:p>
            <a:pPr algn="ctr"/>
            <a:r>
              <a:rPr lang="en-US" sz="3200" b="1" dirty="0" smtClean="0">
                <a:solidFill>
                  <a:schemeClr val="tx1"/>
                </a:solidFill>
              </a:rPr>
              <a:t>On the Job Training</a:t>
            </a:r>
            <a:endParaRPr lang="en-US" sz="3200" b="1" dirty="0">
              <a:solidFill>
                <a:schemeClr val="tx1"/>
              </a:solidFill>
            </a:endParaRPr>
          </a:p>
        </p:txBody>
      </p:sp>
      <p:sp>
        <p:nvSpPr>
          <p:cNvPr id="3" name="Content Placeholder 2"/>
          <p:cNvSpPr>
            <a:spLocks noGrp="1"/>
          </p:cNvSpPr>
          <p:nvPr>
            <p:ph sz="quarter" idx="1"/>
          </p:nvPr>
        </p:nvSpPr>
        <p:spPr>
          <a:xfrm>
            <a:off x="381000" y="914400"/>
            <a:ext cx="8305800" cy="5638800"/>
          </a:xfrm>
          <a:solidFill>
            <a:schemeClr val="accent1">
              <a:lumMod val="20000"/>
              <a:lumOff val="80000"/>
            </a:schemeClr>
          </a:solidFill>
        </p:spPr>
        <p:txBody>
          <a:bodyPr>
            <a:noAutofit/>
          </a:bodyPr>
          <a:lstStyle/>
          <a:p>
            <a:pPr algn="just">
              <a:buNone/>
            </a:pPr>
            <a:r>
              <a:rPr lang="en-US" sz="2700" dirty="0" smtClean="0"/>
              <a:t>Formal education is one type of human capital investment. On–the-job (OJT) training is a second type. </a:t>
            </a:r>
          </a:p>
          <a:p>
            <a:pPr algn="just">
              <a:buNone/>
            </a:pPr>
            <a:r>
              <a:rPr lang="en-US" sz="2700" dirty="0" smtClean="0"/>
              <a:t> OJT involves both current costs and future benefits. </a:t>
            </a:r>
          </a:p>
          <a:p>
            <a:pPr algn="just">
              <a:buNone/>
            </a:pPr>
            <a:r>
              <a:rPr lang="en-US" sz="2700" dirty="0" smtClean="0"/>
              <a:t>The cost of OJT are incurred by the firm in the form of direct costs of classroom instruction or additional supervision, and indirect cost from lesser amount of output that new worker can produce during training.</a:t>
            </a:r>
          </a:p>
          <a:p>
            <a:pPr algn="just">
              <a:buNone/>
            </a:pPr>
            <a:r>
              <a:rPr lang="en-US" sz="2700" dirty="0" smtClean="0"/>
              <a:t>Workers may also bear some of the cost of acquiring OJT by agreeing to work at reduced wages during the training period. </a:t>
            </a:r>
          </a:p>
        </p:txBody>
      </p:sp>
      <p:graphicFrame>
        <p:nvGraphicFramePr>
          <p:cNvPr id="2050" name="Object 2"/>
          <p:cNvGraphicFramePr>
            <a:graphicFrameLocks noChangeAspect="1"/>
          </p:cNvGraphicFramePr>
          <p:nvPr/>
        </p:nvGraphicFramePr>
        <p:xfrm>
          <a:off x="0" y="457200"/>
          <a:ext cx="114300" cy="219075"/>
        </p:xfrm>
        <a:graphic>
          <a:graphicData uri="http://schemas.openxmlformats.org/presentationml/2006/ole">
            <mc:AlternateContent xmlns:mc="http://schemas.openxmlformats.org/markup-compatibility/2006">
              <mc:Choice xmlns:v="urn:schemas-microsoft-com:vml" Requires="v">
                <p:oleObj spid="_x0000_s27653" name="Equation" r:id="rId3" imgW="114151" imgH="215619" progId="Equation.3">
                  <p:embed/>
                </p:oleObj>
              </mc:Choice>
              <mc:Fallback>
                <p:oleObj name="Equation" r:id="rId3" imgW="114151" imgH="215619" progId="Equation.3">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457200"/>
                        <a:ext cx="114300" cy="2190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51" name="Rectangle 3"/>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2" name="Rectangle 4"/>
          <p:cNvSpPr>
            <a:spLocks noChangeArrowheads="1"/>
          </p:cNvSpPr>
          <p:nvPr/>
        </p:nvSpPr>
        <p:spPr bwMode="auto">
          <a:xfrm>
            <a:off x="0" y="6762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5" name="Rectangle 7"/>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7" name="Rectangle 9"/>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9" name="Rectangle 11"/>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61" name="Rectangle 13"/>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1513" name="Rectangle 9"/>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1515" name="Rectangle 1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28600"/>
            <a:ext cx="8305800" cy="609600"/>
          </a:xfrm>
        </p:spPr>
        <p:style>
          <a:lnRef idx="1">
            <a:schemeClr val="accent3"/>
          </a:lnRef>
          <a:fillRef idx="2">
            <a:schemeClr val="accent3"/>
          </a:fillRef>
          <a:effectRef idx="1">
            <a:schemeClr val="accent3"/>
          </a:effectRef>
          <a:fontRef idx="minor">
            <a:schemeClr val="dk1"/>
          </a:fontRef>
        </p:style>
        <p:txBody>
          <a:bodyPr>
            <a:noAutofit/>
          </a:bodyPr>
          <a:lstStyle/>
          <a:p>
            <a:pPr algn="ctr"/>
            <a:r>
              <a:rPr lang="en-US" sz="3200" b="1" dirty="0" smtClean="0">
                <a:solidFill>
                  <a:schemeClr val="tx1"/>
                </a:solidFill>
              </a:rPr>
              <a:t>On the Job Training</a:t>
            </a:r>
            <a:endParaRPr lang="en-US" sz="3200" b="1" dirty="0">
              <a:solidFill>
                <a:schemeClr val="tx1"/>
              </a:solidFill>
            </a:endParaRPr>
          </a:p>
        </p:txBody>
      </p:sp>
      <p:sp>
        <p:nvSpPr>
          <p:cNvPr id="3" name="Content Placeholder 2"/>
          <p:cNvSpPr>
            <a:spLocks noGrp="1"/>
          </p:cNvSpPr>
          <p:nvPr>
            <p:ph sz="quarter" idx="1"/>
          </p:nvPr>
        </p:nvSpPr>
        <p:spPr>
          <a:xfrm>
            <a:off x="381000" y="914400"/>
            <a:ext cx="8305800" cy="5638800"/>
          </a:xfrm>
          <a:solidFill>
            <a:schemeClr val="accent1">
              <a:lumMod val="20000"/>
              <a:lumOff val="80000"/>
            </a:schemeClr>
          </a:solidFill>
        </p:spPr>
        <p:txBody>
          <a:bodyPr>
            <a:noAutofit/>
          </a:bodyPr>
          <a:lstStyle/>
          <a:p>
            <a:pPr algn="just">
              <a:buNone/>
            </a:pPr>
            <a:r>
              <a:rPr lang="en-US" sz="2700" b="1" dirty="0" smtClean="0">
                <a:solidFill>
                  <a:srgbClr val="C00000"/>
                </a:solidFill>
              </a:rPr>
              <a:t>Benefits of OJT:</a:t>
            </a:r>
          </a:p>
          <a:p>
            <a:pPr algn="just">
              <a:buNone/>
            </a:pPr>
            <a:r>
              <a:rPr lang="en-US" sz="2800" dirty="0" smtClean="0"/>
              <a:t>The benefit to the firm is that its workforce will be more productive, and this greater productivity will result in greater profit.</a:t>
            </a:r>
          </a:p>
          <a:p>
            <a:pPr algn="just">
              <a:buNone/>
            </a:pPr>
            <a:endParaRPr lang="en-US" sz="2800" dirty="0" smtClean="0"/>
          </a:p>
          <a:p>
            <a:pPr algn="just">
              <a:buNone/>
            </a:pPr>
            <a:r>
              <a:rPr lang="en-US" sz="2800" dirty="0" smtClean="0"/>
              <a:t>Workers benefit because they gain additional skills and experience that increase their earning power and bargaining strength in the labor market</a:t>
            </a:r>
            <a:r>
              <a:rPr lang="en-US" sz="2700" dirty="0" smtClean="0"/>
              <a:t>.</a:t>
            </a:r>
          </a:p>
        </p:txBody>
      </p:sp>
      <p:graphicFrame>
        <p:nvGraphicFramePr>
          <p:cNvPr id="2050" name="Object 2"/>
          <p:cNvGraphicFramePr>
            <a:graphicFrameLocks noChangeAspect="1"/>
          </p:cNvGraphicFramePr>
          <p:nvPr/>
        </p:nvGraphicFramePr>
        <p:xfrm>
          <a:off x="0" y="457200"/>
          <a:ext cx="114300" cy="219075"/>
        </p:xfrm>
        <a:graphic>
          <a:graphicData uri="http://schemas.openxmlformats.org/presentationml/2006/ole">
            <mc:AlternateContent xmlns:mc="http://schemas.openxmlformats.org/markup-compatibility/2006">
              <mc:Choice xmlns:v="urn:schemas-microsoft-com:vml" Requires="v">
                <p:oleObj spid="_x0000_s28677" name="Equation" r:id="rId3" imgW="114151" imgH="215619" progId="Equation.3">
                  <p:embed/>
                </p:oleObj>
              </mc:Choice>
              <mc:Fallback>
                <p:oleObj name="Equation" r:id="rId3" imgW="114151" imgH="215619" progId="Equation.3">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457200"/>
                        <a:ext cx="114300" cy="2190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51" name="Rectangle 3"/>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2" name="Rectangle 4"/>
          <p:cNvSpPr>
            <a:spLocks noChangeArrowheads="1"/>
          </p:cNvSpPr>
          <p:nvPr/>
        </p:nvSpPr>
        <p:spPr bwMode="auto">
          <a:xfrm>
            <a:off x="0" y="6762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5" name="Rectangle 7"/>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7" name="Rectangle 9"/>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9" name="Rectangle 11"/>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61" name="Rectangle 13"/>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1513" name="Rectangle 9"/>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1515" name="Rectangle 1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52400"/>
            <a:ext cx="8305800" cy="990600"/>
          </a:xfrm>
        </p:spPr>
        <p:style>
          <a:lnRef idx="1">
            <a:schemeClr val="accent3"/>
          </a:lnRef>
          <a:fillRef idx="2">
            <a:schemeClr val="accent3"/>
          </a:fillRef>
          <a:effectRef idx="1">
            <a:schemeClr val="accent3"/>
          </a:effectRef>
          <a:fontRef idx="minor">
            <a:schemeClr val="dk1"/>
          </a:fontRef>
        </p:style>
        <p:txBody>
          <a:bodyPr>
            <a:noAutofit/>
          </a:bodyPr>
          <a:lstStyle/>
          <a:p>
            <a:pPr algn="ctr"/>
            <a:r>
              <a:rPr lang="en-US" sz="3200" b="1" dirty="0" smtClean="0">
                <a:solidFill>
                  <a:schemeClr val="tx1"/>
                </a:solidFill>
              </a:rPr>
              <a:t>On the Job Training: General versus Specific Training</a:t>
            </a:r>
            <a:endParaRPr lang="en-US" sz="3200" b="1" dirty="0">
              <a:solidFill>
                <a:schemeClr val="tx1"/>
              </a:solidFill>
            </a:endParaRPr>
          </a:p>
        </p:txBody>
      </p:sp>
      <p:sp>
        <p:nvSpPr>
          <p:cNvPr id="3" name="Content Placeholder 2"/>
          <p:cNvSpPr>
            <a:spLocks noGrp="1"/>
          </p:cNvSpPr>
          <p:nvPr>
            <p:ph sz="quarter" idx="1"/>
          </p:nvPr>
        </p:nvSpPr>
        <p:spPr>
          <a:xfrm>
            <a:off x="381000" y="1219200"/>
            <a:ext cx="8305800" cy="5334000"/>
          </a:xfrm>
          <a:solidFill>
            <a:schemeClr val="accent1">
              <a:lumMod val="20000"/>
              <a:lumOff val="80000"/>
            </a:schemeClr>
          </a:solidFill>
        </p:spPr>
        <p:txBody>
          <a:bodyPr>
            <a:noAutofit/>
          </a:bodyPr>
          <a:lstStyle/>
          <a:p>
            <a:pPr algn="just">
              <a:buNone/>
            </a:pPr>
            <a:r>
              <a:rPr lang="en-US" sz="2700" dirty="0" smtClean="0"/>
              <a:t>Gary Becker pointed that there are two conceptually distinct forms of training- </a:t>
            </a:r>
          </a:p>
          <a:p>
            <a:pPr marL="514350" indent="-514350" algn="just">
              <a:buAutoNum type="arabicPeriod"/>
            </a:pPr>
            <a:r>
              <a:rPr lang="en-US" sz="2700" dirty="0" smtClean="0"/>
              <a:t>General On-the-job training</a:t>
            </a:r>
          </a:p>
          <a:p>
            <a:pPr marL="514350" indent="-514350" algn="just">
              <a:buAutoNum type="arabicPeriod"/>
            </a:pPr>
            <a:r>
              <a:rPr lang="en-US" sz="2700" dirty="0" smtClean="0"/>
              <a:t>Specific On-the-job training</a:t>
            </a:r>
          </a:p>
          <a:p>
            <a:pPr marL="514350" indent="-514350" algn="just">
              <a:buNone/>
            </a:pPr>
            <a:r>
              <a:rPr lang="en-US" sz="2700" b="1" dirty="0" smtClean="0">
                <a:solidFill>
                  <a:srgbClr val="C00000"/>
                </a:solidFill>
              </a:rPr>
              <a:t>1. General on-the job training: </a:t>
            </a:r>
            <a:r>
              <a:rPr lang="en-US" sz="2700" dirty="0" smtClean="0"/>
              <a:t>the training that  increases a worker’s productivity not only at the firm providing it, but also at other firms in the labor market. </a:t>
            </a:r>
          </a:p>
          <a:p>
            <a:pPr marL="514350" indent="-514350" algn="just">
              <a:buNone/>
            </a:pPr>
            <a:r>
              <a:rPr lang="en-US" sz="2700" dirty="0" smtClean="0"/>
              <a:t>	A clear-cut example is apprenticeship training for a craft such as electrician or carpenter where skills imparted are of general value throughout the industry.</a:t>
            </a:r>
          </a:p>
        </p:txBody>
      </p:sp>
      <p:graphicFrame>
        <p:nvGraphicFramePr>
          <p:cNvPr id="2050" name="Object 2"/>
          <p:cNvGraphicFramePr>
            <a:graphicFrameLocks noChangeAspect="1"/>
          </p:cNvGraphicFramePr>
          <p:nvPr/>
        </p:nvGraphicFramePr>
        <p:xfrm>
          <a:off x="0" y="457200"/>
          <a:ext cx="114300" cy="219075"/>
        </p:xfrm>
        <a:graphic>
          <a:graphicData uri="http://schemas.openxmlformats.org/presentationml/2006/ole">
            <mc:AlternateContent xmlns:mc="http://schemas.openxmlformats.org/markup-compatibility/2006">
              <mc:Choice xmlns:v="urn:schemas-microsoft-com:vml" Requires="v">
                <p:oleObj spid="_x0000_s29701" name="Equation" r:id="rId4" imgW="114151" imgH="215619" progId="Equation.3">
                  <p:embed/>
                </p:oleObj>
              </mc:Choice>
              <mc:Fallback>
                <p:oleObj name="Equation" r:id="rId4" imgW="114151" imgH="215619" progId="Equation.3">
                  <p:embed/>
                  <p:pic>
                    <p:nvPicPr>
                      <p:cNvPr id="0"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457200"/>
                        <a:ext cx="114300" cy="2190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51" name="Rectangle 3"/>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2" name="Rectangle 4"/>
          <p:cNvSpPr>
            <a:spLocks noChangeArrowheads="1"/>
          </p:cNvSpPr>
          <p:nvPr/>
        </p:nvSpPr>
        <p:spPr bwMode="auto">
          <a:xfrm>
            <a:off x="0" y="6762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5" name="Rectangle 7"/>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7" name="Rectangle 9"/>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61" name="Rectangle 13"/>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1513" name="Rectangle 9"/>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1515" name="Rectangle 1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52400"/>
            <a:ext cx="8305800" cy="990600"/>
          </a:xfrm>
        </p:spPr>
        <p:style>
          <a:lnRef idx="1">
            <a:schemeClr val="accent3"/>
          </a:lnRef>
          <a:fillRef idx="2">
            <a:schemeClr val="accent3"/>
          </a:fillRef>
          <a:effectRef idx="1">
            <a:schemeClr val="accent3"/>
          </a:effectRef>
          <a:fontRef idx="minor">
            <a:schemeClr val="dk1"/>
          </a:fontRef>
        </p:style>
        <p:txBody>
          <a:bodyPr>
            <a:noAutofit/>
          </a:bodyPr>
          <a:lstStyle/>
          <a:p>
            <a:pPr algn="ctr"/>
            <a:r>
              <a:rPr lang="en-US" sz="3200" b="1" dirty="0" smtClean="0">
                <a:solidFill>
                  <a:schemeClr val="tx1"/>
                </a:solidFill>
              </a:rPr>
              <a:t>On the Job Training: General versus Specific Training</a:t>
            </a:r>
            <a:endParaRPr lang="en-US" sz="3200" b="1" dirty="0">
              <a:solidFill>
                <a:schemeClr val="tx1"/>
              </a:solidFill>
            </a:endParaRPr>
          </a:p>
        </p:txBody>
      </p:sp>
      <p:sp>
        <p:nvSpPr>
          <p:cNvPr id="3" name="Content Placeholder 2"/>
          <p:cNvSpPr>
            <a:spLocks noGrp="1"/>
          </p:cNvSpPr>
          <p:nvPr>
            <p:ph sz="quarter" idx="1"/>
          </p:nvPr>
        </p:nvSpPr>
        <p:spPr>
          <a:xfrm>
            <a:off x="381000" y="1219200"/>
            <a:ext cx="8305800" cy="4800600"/>
          </a:xfrm>
          <a:solidFill>
            <a:schemeClr val="accent1">
              <a:lumMod val="20000"/>
              <a:lumOff val="80000"/>
            </a:schemeClr>
          </a:solidFill>
        </p:spPr>
        <p:txBody>
          <a:bodyPr>
            <a:noAutofit/>
          </a:bodyPr>
          <a:lstStyle/>
          <a:p>
            <a:pPr marL="514350" indent="-514350" algn="just">
              <a:buFont typeface="+mj-lt"/>
              <a:buAutoNum type="arabicPeriod" startAt="2"/>
            </a:pPr>
            <a:r>
              <a:rPr lang="en-US" sz="2700" b="1" dirty="0" smtClean="0">
                <a:solidFill>
                  <a:srgbClr val="C00000"/>
                </a:solidFill>
              </a:rPr>
              <a:t>Specific On-the-job training:</a:t>
            </a:r>
          </a:p>
          <a:p>
            <a:pPr marL="514350" indent="-514350" algn="just">
              <a:buNone/>
            </a:pPr>
            <a:r>
              <a:rPr lang="en-US" sz="2800" dirty="0" smtClean="0"/>
              <a:t>	Specific on-the-job training increases the worker’s productivity only at the firm providing it; at other firms the training is of no net value. One source of skill specificity stems from unique features of the firm’s production process.</a:t>
            </a:r>
          </a:p>
          <a:p>
            <a:pPr marL="514350" indent="-514350" algn="just">
              <a:buNone/>
            </a:pPr>
            <a:r>
              <a:rPr lang="en-US" sz="2800" dirty="0" smtClean="0"/>
              <a:t>	For example, a telephone lineman develops skills that are, to a large degree, of use only to the telephone company.</a:t>
            </a:r>
          </a:p>
        </p:txBody>
      </p:sp>
      <p:graphicFrame>
        <p:nvGraphicFramePr>
          <p:cNvPr id="2050" name="Object 2"/>
          <p:cNvGraphicFramePr>
            <a:graphicFrameLocks noChangeAspect="1"/>
          </p:cNvGraphicFramePr>
          <p:nvPr/>
        </p:nvGraphicFramePr>
        <p:xfrm>
          <a:off x="0" y="457200"/>
          <a:ext cx="114300" cy="219075"/>
        </p:xfrm>
        <a:graphic>
          <a:graphicData uri="http://schemas.openxmlformats.org/presentationml/2006/ole">
            <mc:AlternateContent xmlns:mc="http://schemas.openxmlformats.org/markup-compatibility/2006">
              <mc:Choice xmlns:v="urn:schemas-microsoft-com:vml" Requires="v">
                <p:oleObj spid="_x0000_s30725" name="Equation" r:id="rId4" imgW="114151" imgH="215619" progId="Equation.3">
                  <p:embed/>
                </p:oleObj>
              </mc:Choice>
              <mc:Fallback>
                <p:oleObj name="Equation" r:id="rId4" imgW="114151" imgH="215619" progId="Equation.3">
                  <p:embed/>
                  <p:pic>
                    <p:nvPicPr>
                      <p:cNvPr id="0"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457200"/>
                        <a:ext cx="114300" cy="2190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51" name="Rectangle 3"/>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2" name="Rectangle 4"/>
          <p:cNvSpPr>
            <a:spLocks noChangeArrowheads="1"/>
          </p:cNvSpPr>
          <p:nvPr/>
        </p:nvSpPr>
        <p:spPr bwMode="auto">
          <a:xfrm>
            <a:off x="0" y="6762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5" name="Rectangle 7"/>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7" name="Rectangle 9"/>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61" name="Rectangle 13"/>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1513" name="Rectangle 9"/>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1515" name="Rectangle 1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52400"/>
            <a:ext cx="8305800" cy="990600"/>
          </a:xfrm>
        </p:spPr>
        <p:style>
          <a:lnRef idx="1">
            <a:schemeClr val="accent3"/>
          </a:lnRef>
          <a:fillRef idx="2">
            <a:schemeClr val="accent3"/>
          </a:fillRef>
          <a:effectRef idx="1">
            <a:schemeClr val="accent3"/>
          </a:effectRef>
          <a:fontRef idx="minor">
            <a:schemeClr val="dk1"/>
          </a:fontRef>
        </p:style>
        <p:txBody>
          <a:bodyPr>
            <a:noAutofit/>
          </a:bodyPr>
          <a:lstStyle/>
          <a:p>
            <a:pPr algn="ctr"/>
            <a:r>
              <a:rPr lang="en-US" sz="3200" b="1" dirty="0" smtClean="0">
                <a:solidFill>
                  <a:schemeClr val="tx1"/>
                </a:solidFill>
              </a:rPr>
              <a:t>On the Job Training: Benefits and Costs</a:t>
            </a:r>
            <a:endParaRPr lang="en-US" sz="3200" b="1" dirty="0">
              <a:solidFill>
                <a:schemeClr val="tx1"/>
              </a:solidFill>
            </a:endParaRPr>
          </a:p>
        </p:txBody>
      </p:sp>
      <p:graphicFrame>
        <p:nvGraphicFramePr>
          <p:cNvPr id="2050" name="Object 2"/>
          <p:cNvGraphicFramePr>
            <a:graphicFrameLocks noChangeAspect="1"/>
          </p:cNvGraphicFramePr>
          <p:nvPr/>
        </p:nvGraphicFramePr>
        <p:xfrm>
          <a:off x="0" y="457200"/>
          <a:ext cx="114300" cy="219075"/>
        </p:xfrm>
        <a:graphic>
          <a:graphicData uri="http://schemas.openxmlformats.org/presentationml/2006/ole">
            <mc:AlternateContent xmlns:mc="http://schemas.openxmlformats.org/markup-compatibility/2006">
              <mc:Choice xmlns:v="urn:schemas-microsoft-com:vml" Requires="v">
                <p:oleObj spid="_x0000_s31750" name="Equation" r:id="rId4" imgW="114151" imgH="215619" progId="Equation.3">
                  <p:embed/>
                </p:oleObj>
              </mc:Choice>
              <mc:Fallback>
                <p:oleObj name="Equation" r:id="rId4" imgW="114151" imgH="215619" progId="Equation.3">
                  <p:embed/>
                  <p:pic>
                    <p:nvPicPr>
                      <p:cNvPr id="0"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457200"/>
                        <a:ext cx="114300" cy="2190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51" name="Rectangle 3"/>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2" name="Rectangle 4"/>
          <p:cNvSpPr>
            <a:spLocks noChangeArrowheads="1"/>
          </p:cNvSpPr>
          <p:nvPr/>
        </p:nvSpPr>
        <p:spPr bwMode="auto">
          <a:xfrm>
            <a:off x="0" y="6762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5" name="Rectangle 7"/>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7" name="Rectangle 9"/>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61" name="Rectangle 13"/>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1513" name="Rectangle 9"/>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1515" name="Rectangle 1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31748" name="Picture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9600" y="1219200"/>
            <a:ext cx="7543799" cy="52577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52400"/>
            <a:ext cx="8305800" cy="990600"/>
          </a:xfrm>
        </p:spPr>
        <p:style>
          <a:lnRef idx="1">
            <a:schemeClr val="accent3"/>
          </a:lnRef>
          <a:fillRef idx="2">
            <a:schemeClr val="accent3"/>
          </a:fillRef>
          <a:effectRef idx="1">
            <a:schemeClr val="accent3"/>
          </a:effectRef>
          <a:fontRef idx="minor">
            <a:schemeClr val="dk1"/>
          </a:fontRef>
        </p:style>
        <p:txBody>
          <a:bodyPr>
            <a:noAutofit/>
          </a:bodyPr>
          <a:lstStyle/>
          <a:p>
            <a:pPr algn="ctr"/>
            <a:r>
              <a:rPr lang="en-US" sz="3200" b="1" dirty="0" smtClean="0">
                <a:solidFill>
                  <a:schemeClr val="tx1"/>
                </a:solidFill>
              </a:rPr>
              <a:t>Implication of </a:t>
            </a:r>
            <a:br>
              <a:rPr lang="en-US" sz="3200" b="1" dirty="0" smtClean="0">
                <a:solidFill>
                  <a:schemeClr val="tx1"/>
                </a:solidFill>
              </a:rPr>
            </a:br>
            <a:r>
              <a:rPr lang="en-US" sz="3200" b="1" dirty="0" smtClean="0">
                <a:solidFill>
                  <a:schemeClr val="tx1"/>
                </a:solidFill>
              </a:rPr>
              <a:t>on the Job Training</a:t>
            </a:r>
            <a:endParaRPr lang="en-US" sz="3200" b="1" dirty="0">
              <a:solidFill>
                <a:schemeClr val="tx1"/>
              </a:solidFill>
            </a:endParaRPr>
          </a:p>
        </p:txBody>
      </p:sp>
      <p:sp>
        <p:nvSpPr>
          <p:cNvPr id="3" name="Content Placeholder 2"/>
          <p:cNvSpPr>
            <a:spLocks noGrp="1"/>
          </p:cNvSpPr>
          <p:nvPr>
            <p:ph sz="quarter" idx="1"/>
          </p:nvPr>
        </p:nvSpPr>
        <p:spPr>
          <a:xfrm>
            <a:off x="381000" y="1219200"/>
            <a:ext cx="8305800" cy="5105400"/>
          </a:xfrm>
          <a:solidFill>
            <a:schemeClr val="accent1">
              <a:lumMod val="20000"/>
              <a:lumOff val="80000"/>
            </a:schemeClr>
          </a:solidFill>
        </p:spPr>
        <p:txBody>
          <a:bodyPr>
            <a:noAutofit/>
          </a:bodyPr>
          <a:lstStyle/>
          <a:p>
            <a:pPr marL="514350" indent="-514350" algn="just">
              <a:buNone/>
            </a:pPr>
            <a:r>
              <a:rPr lang="en-US" sz="2800" dirty="0" smtClean="0"/>
              <a:t>Investment in human capital in the form of on-the-job training has a number of implications with respect to observed labor market outcomes. Five such implications are briefly discussed below:</a:t>
            </a:r>
          </a:p>
          <a:p>
            <a:pPr marL="514350" indent="-514350" algn="just">
              <a:buAutoNum type="arabicPeriod"/>
            </a:pPr>
            <a:r>
              <a:rPr lang="en-US" sz="2800" dirty="0" smtClean="0"/>
              <a:t>Employee turnover</a:t>
            </a:r>
          </a:p>
          <a:p>
            <a:pPr marL="514350" indent="-514350" algn="just">
              <a:buAutoNum type="arabicPeriod"/>
            </a:pPr>
            <a:r>
              <a:rPr lang="en-US" sz="2800" dirty="0" smtClean="0"/>
              <a:t>The minimum wage</a:t>
            </a:r>
          </a:p>
          <a:p>
            <a:pPr marL="514350" indent="-514350" algn="just">
              <a:buAutoNum type="arabicPeriod"/>
            </a:pPr>
            <a:r>
              <a:rPr lang="en-US" sz="2800" dirty="0" smtClean="0"/>
              <a:t>Internal labor market</a:t>
            </a:r>
          </a:p>
          <a:p>
            <a:pPr marL="514350" indent="-514350" algn="just">
              <a:buAutoNum type="arabicPeriod"/>
            </a:pPr>
            <a:r>
              <a:rPr lang="en-US" sz="2800" dirty="0" smtClean="0"/>
              <a:t>Indeterminacy of wages</a:t>
            </a:r>
          </a:p>
          <a:p>
            <a:pPr marL="514350" indent="-514350" algn="just">
              <a:buAutoNum type="arabicPeriod"/>
            </a:pPr>
            <a:r>
              <a:rPr lang="en-US" sz="2800" dirty="0" smtClean="0"/>
              <a:t>Age/ Earning profiles</a:t>
            </a:r>
          </a:p>
        </p:txBody>
      </p:sp>
      <p:graphicFrame>
        <p:nvGraphicFramePr>
          <p:cNvPr id="2050" name="Object 2"/>
          <p:cNvGraphicFramePr>
            <a:graphicFrameLocks noChangeAspect="1"/>
          </p:cNvGraphicFramePr>
          <p:nvPr/>
        </p:nvGraphicFramePr>
        <p:xfrm>
          <a:off x="0" y="457200"/>
          <a:ext cx="114300" cy="219075"/>
        </p:xfrm>
        <a:graphic>
          <a:graphicData uri="http://schemas.openxmlformats.org/presentationml/2006/ole">
            <mc:AlternateContent xmlns:mc="http://schemas.openxmlformats.org/markup-compatibility/2006">
              <mc:Choice xmlns:v="urn:schemas-microsoft-com:vml" Requires="v">
                <p:oleObj spid="_x0000_s32773" name="Equation" r:id="rId4" imgW="114151" imgH="215619" progId="Equation.3">
                  <p:embed/>
                </p:oleObj>
              </mc:Choice>
              <mc:Fallback>
                <p:oleObj name="Equation" r:id="rId4" imgW="114151" imgH="215619" progId="Equation.3">
                  <p:embed/>
                  <p:pic>
                    <p:nvPicPr>
                      <p:cNvPr id="0"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457200"/>
                        <a:ext cx="114300" cy="2190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51" name="Rectangle 3"/>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2" name="Rectangle 4"/>
          <p:cNvSpPr>
            <a:spLocks noChangeArrowheads="1"/>
          </p:cNvSpPr>
          <p:nvPr/>
        </p:nvSpPr>
        <p:spPr bwMode="auto">
          <a:xfrm>
            <a:off x="0" y="6762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5" name="Rectangle 7"/>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7" name="Rectangle 9"/>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61" name="Rectangle 13"/>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1513" name="Rectangle 9"/>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1515" name="Rectangle 1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52400"/>
            <a:ext cx="8305800" cy="990600"/>
          </a:xfrm>
        </p:spPr>
        <p:style>
          <a:lnRef idx="1">
            <a:schemeClr val="accent3"/>
          </a:lnRef>
          <a:fillRef idx="2">
            <a:schemeClr val="accent3"/>
          </a:fillRef>
          <a:effectRef idx="1">
            <a:schemeClr val="accent3"/>
          </a:effectRef>
          <a:fontRef idx="minor">
            <a:schemeClr val="dk1"/>
          </a:fontRef>
        </p:style>
        <p:txBody>
          <a:bodyPr>
            <a:noAutofit/>
          </a:bodyPr>
          <a:lstStyle/>
          <a:p>
            <a:pPr algn="ctr"/>
            <a:r>
              <a:rPr lang="en-US" sz="3200" b="1" dirty="0" smtClean="0">
                <a:solidFill>
                  <a:schemeClr val="tx1"/>
                </a:solidFill>
              </a:rPr>
              <a:t>Implication of </a:t>
            </a:r>
            <a:br>
              <a:rPr lang="en-US" sz="3200" b="1" dirty="0" smtClean="0">
                <a:solidFill>
                  <a:schemeClr val="tx1"/>
                </a:solidFill>
              </a:rPr>
            </a:br>
            <a:r>
              <a:rPr lang="en-US" sz="3200" b="1" dirty="0" smtClean="0">
                <a:solidFill>
                  <a:schemeClr val="tx1"/>
                </a:solidFill>
              </a:rPr>
              <a:t>on the Job Training</a:t>
            </a:r>
            <a:endParaRPr lang="en-US" sz="3200" b="1" dirty="0">
              <a:solidFill>
                <a:schemeClr val="tx1"/>
              </a:solidFill>
            </a:endParaRPr>
          </a:p>
        </p:txBody>
      </p:sp>
      <p:sp>
        <p:nvSpPr>
          <p:cNvPr id="3" name="Content Placeholder 2"/>
          <p:cNvSpPr>
            <a:spLocks noGrp="1"/>
          </p:cNvSpPr>
          <p:nvPr>
            <p:ph sz="quarter" idx="1"/>
          </p:nvPr>
        </p:nvSpPr>
        <p:spPr>
          <a:xfrm>
            <a:off x="381000" y="1219200"/>
            <a:ext cx="8305800" cy="4724400"/>
          </a:xfrm>
          <a:solidFill>
            <a:schemeClr val="accent1">
              <a:lumMod val="20000"/>
              <a:lumOff val="80000"/>
            </a:schemeClr>
          </a:solidFill>
        </p:spPr>
        <p:txBody>
          <a:bodyPr>
            <a:noAutofit/>
          </a:bodyPr>
          <a:lstStyle/>
          <a:p>
            <a:pPr marL="514350" indent="-514350" algn="just">
              <a:buAutoNum type="arabicPeriod"/>
            </a:pPr>
            <a:r>
              <a:rPr lang="en-US" sz="2800" b="1" dirty="0" smtClean="0"/>
              <a:t>Employee turnover: </a:t>
            </a:r>
          </a:p>
          <a:p>
            <a:pPr marL="514350" indent="-514350" algn="just">
              <a:buNone/>
            </a:pPr>
            <a:r>
              <a:rPr lang="en-US" sz="2800" b="1" dirty="0" smtClean="0"/>
              <a:t>	</a:t>
            </a:r>
            <a:r>
              <a:rPr lang="en-US" sz="2800" dirty="0" smtClean="0"/>
              <a:t>Specific OJT provides a strong incentive to both firms and workers to reduce turnover from quits and layoffs. </a:t>
            </a:r>
          </a:p>
          <a:p>
            <a:pPr marL="514350" indent="-514350" algn="just">
              <a:buNone/>
            </a:pPr>
            <a:endParaRPr lang="en-US" sz="2800" dirty="0" smtClean="0"/>
          </a:p>
          <a:p>
            <a:pPr marL="514350" indent="-514350" algn="just">
              <a:buNone/>
            </a:pPr>
            <a:r>
              <a:rPr lang="en-US" sz="2800" dirty="0" smtClean="0"/>
              <a:t>	The theory also predicts that the quit rate will decrease with the age of workers since their amount of specific training and, hence, potential earnings loss from quitting grow with the tenure on the job. </a:t>
            </a:r>
          </a:p>
        </p:txBody>
      </p:sp>
      <p:graphicFrame>
        <p:nvGraphicFramePr>
          <p:cNvPr id="2050" name="Object 2"/>
          <p:cNvGraphicFramePr>
            <a:graphicFrameLocks noChangeAspect="1"/>
          </p:cNvGraphicFramePr>
          <p:nvPr/>
        </p:nvGraphicFramePr>
        <p:xfrm>
          <a:off x="0" y="457200"/>
          <a:ext cx="114300" cy="219075"/>
        </p:xfrm>
        <a:graphic>
          <a:graphicData uri="http://schemas.openxmlformats.org/presentationml/2006/ole">
            <mc:AlternateContent xmlns:mc="http://schemas.openxmlformats.org/markup-compatibility/2006">
              <mc:Choice xmlns:v="urn:schemas-microsoft-com:vml" Requires="v">
                <p:oleObj spid="_x0000_s33797" name="Equation" r:id="rId4" imgW="114151" imgH="215619" progId="Equation.3">
                  <p:embed/>
                </p:oleObj>
              </mc:Choice>
              <mc:Fallback>
                <p:oleObj name="Equation" r:id="rId4" imgW="114151" imgH="215619" progId="Equation.3">
                  <p:embed/>
                  <p:pic>
                    <p:nvPicPr>
                      <p:cNvPr id="0"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457200"/>
                        <a:ext cx="114300" cy="2190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51" name="Rectangle 3"/>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2" name="Rectangle 4"/>
          <p:cNvSpPr>
            <a:spLocks noChangeArrowheads="1"/>
          </p:cNvSpPr>
          <p:nvPr/>
        </p:nvSpPr>
        <p:spPr bwMode="auto">
          <a:xfrm>
            <a:off x="0" y="6762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5" name="Rectangle 7"/>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7" name="Rectangle 9"/>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61" name="Rectangle 13"/>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1513" name="Rectangle 9"/>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1515" name="Rectangle 1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52400"/>
            <a:ext cx="8305800" cy="990600"/>
          </a:xfrm>
        </p:spPr>
        <p:style>
          <a:lnRef idx="1">
            <a:schemeClr val="accent3"/>
          </a:lnRef>
          <a:fillRef idx="2">
            <a:schemeClr val="accent3"/>
          </a:fillRef>
          <a:effectRef idx="1">
            <a:schemeClr val="accent3"/>
          </a:effectRef>
          <a:fontRef idx="minor">
            <a:schemeClr val="dk1"/>
          </a:fontRef>
        </p:style>
        <p:txBody>
          <a:bodyPr>
            <a:noAutofit/>
          </a:bodyPr>
          <a:lstStyle/>
          <a:p>
            <a:pPr algn="ctr"/>
            <a:r>
              <a:rPr lang="en-US" sz="3200" b="1" dirty="0" smtClean="0">
                <a:solidFill>
                  <a:schemeClr val="tx1"/>
                </a:solidFill>
              </a:rPr>
              <a:t>Implication of </a:t>
            </a:r>
            <a:br>
              <a:rPr lang="en-US" sz="3200" b="1" dirty="0" smtClean="0">
                <a:solidFill>
                  <a:schemeClr val="tx1"/>
                </a:solidFill>
              </a:rPr>
            </a:br>
            <a:r>
              <a:rPr lang="en-US" sz="3200" b="1" dirty="0" smtClean="0">
                <a:solidFill>
                  <a:schemeClr val="tx1"/>
                </a:solidFill>
              </a:rPr>
              <a:t>on the Job Training</a:t>
            </a:r>
            <a:endParaRPr lang="en-US" sz="3200" b="1" dirty="0">
              <a:solidFill>
                <a:schemeClr val="tx1"/>
              </a:solidFill>
            </a:endParaRPr>
          </a:p>
        </p:txBody>
      </p:sp>
      <p:sp>
        <p:nvSpPr>
          <p:cNvPr id="3" name="Content Placeholder 2"/>
          <p:cNvSpPr>
            <a:spLocks noGrp="1"/>
          </p:cNvSpPr>
          <p:nvPr>
            <p:ph sz="quarter" idx="1"/>
          </p:nvPr>
        </p:nvSpPr>
        <p:spPr>
          <a:xfrm>
            <a:off x="381000" y="1219200"/>
            <a:ext cx="8305800" cy="5105400"/>
          </a:xfrm>
          <a:solidFill>
            <a:schemeClr val="accent1">
              <a:lumMod val="20000"/>
              <a:lumOff val="80000"/>
            </a:schemeClr>
          </a:solidFill>
        </p:spPr>
        <p:txBody>
          <a:bodyPr>
            <a:noAutofit/>
          </a:bodyPr>
          <a:lstStyle/>
          <a:p>
            <a:pPr marL="514350" indent="-514350" algn="just">
              <a:buFont typeface="+mj-lt"/>
              <a:buAutoNum type="arabicPeriod" startAt="2"/>
            </a:pPr>
            <a:r>
              <a:rPr lang="en-US" sz="2800" b="1" dirty="0" smtClean="0"/>
              <a:t>The Minimum Wage</a:t>
            </a:r>
            <a:r>
              <a:rPr lang="en-US" sz="2800" dirty="0" smtClean="0"/>
              <a:t>: </a:t>
            </a:r>
          </a:p>
          <a:p>
            <a:pPr marL="514350" indent="-514350" algn="just">
              <a:buNone/>
            </a:pPr>
            <a:r>
              <a:rPr lang="en-US" sz="2800" dirty="0" smtClean="0"/>
              <a:t>	To make training a profitable venture for the firm, the teenaged worker must invest in himself or herself by working at a relatively low wage (W</a:t>
            </a:r>
            <a:r>
              <a:rPr lang="en-US" sz="1800" dirty="0" smtClean="0"/>
              <a:t>1</a:t>
            </a:r>
            <a:r>
              <a:rPr lang="en-US" sz="2800" dirty="0" smtClean="0"/>
              <a:t>).</a:t>
            </a:r>
          </a:p>
          <a:p>
            <a:pPr marL="514350" indent="-514350" algn="just">
              <a:buNone/>
            </a:pPr>
            <a:r>
              <a:rPr lang="en-US" sz="2800" dirty="0" smtClean="0"/>
              <a:t>	However, a minimum wage floor may prevent this process if minimum wage is set up at W</a:t>
            </a:r>
            <a:r>
              <a:rPr lang="en-US" sz="1800" dirty="0" smtClean="0"/>
              <a:t>0. </a:t>
            </a:r>
            <a:r>
              <a:rPr lang="en-US" sz="2800" dirty="0" smtClean="0"/>
              <a:t>At this wage the employer no longer finds it profitable to provide general training because the cost of labor exceeds the worker’s productivity. </a:t>
            </a:r>
          </a:p>
        </p:txBody>
      </p:sp>
      <p:graphicFrame>
        <p:nvGraphicFramePr>
          <p:cNvPr id="2050" name="Object 2"/>
          <p:cNvGraphicFramePr>
            <a:graphicFrameLocks noChangeAspect="1"/>
          </p:cNvGraphicFramePr>
          <p:nvPr/>
        </p:nvGraphicFramePr>
        <p:xfrm>
          <a:off x="0" y="457200"/>
          <a:ext cx="114300" cy="219075"/>
        </p:xfrm>
        <a:graphic>
          <a:graphicData uri="http://schemas.openxmlformats.org/presentationml/2006/ole">
            <mc:AlternateContent xmlns:mc="http://schemas.openxmlformats.org/markup-compatibility/2006">
              <mc:Choice xmlns:v="urn:schemas-microsoft-com:vml" Requires="v">
                <p:oleObj spid="_x0000_s34821" name="Equation" r:id="rId4" imgW="114151" imgH="215619" progId="Equation.3">
                  <p:embed/>
                </p:oleObj>
              </mc:Choice>
              <mc:Fallback>
                <p:oleObj name="Equation" r:id="rId4" imgW="114151" imgH="215619" progId="Equation.3">
                  <p:embed/>
                  <p:pic>
                    <p:nvPicPr>
                      <p:cNvPr id="0"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457200"/>
                        <a:ext cx="114300" cy="2190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51" name="Rectangle 3"/>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2" name="Rectangle 4"/>
          <p:cNvSpPr>
            <a:spLocks noChangeArrowheads="1"/>
          </p:cNvSpPr>
          <p:nvPr/>
        </p:nvSpPr>
        <p:spPr bwMode="auto">
          <a:xfrm>
            <a:off x="0" y="6762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5" name="Rectangle 7"/>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7" name="Rectangle 9"/>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61" name="Rectangle 13"/>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1513" name="Rectangle 9"/>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1515" name="Rectangle 1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52400"/>
            <a:ext cx="8305800" cy="990600"/>
          </a:xfrm>
        </p:spPr>
        <p:style>
          <a:lnRef idx="1">
            <a:schemeClr val="accent3"/>
          </a:lnRef>
          <a:fillRef idx="2">
            <a:schemeClr val="accent3"/>
          </a:fillRef>
          <a:effectRef idx="1">
            <a:schemeClr val="accent3"/>
          </a:effectRef>
          <a:fontRef idx="minor">
            <a:schemeClr val="dk1"/>
          </a:fontRef>
        </p:style>
        <p:txBody>
          <a:bodyPr>
            <a:noAutofit/>
          </a:bodyPr>
          <a:lstStyle/>
          <a:p>
            <a:pPr algn="ctr"/>
            <a:r>
              <a:rPr lang="en-US" sz="3200" b="1" dirty="0" smtClean="0">
                <a:solidFill>
                  <a:schemeClr val="tx1"/>
                </a:solidFill>
              </a:rPr>
              <a:t>Implication of </a:t>
            </a:r>
            <a:br>
              <a:rPr lang="en-US" sz="3200" b="1" dirty="0" smtClean="0">
                <a:solidFill>
                  <a:schemeClr val="tx1"/>
                </a:solidFill>
              </a:rPr>
            </a:br>
            <a:r>
              <a:rPr lang="en-US" sz="3200" b="1" dirty="0" smtClean="0">
                <a:solidFill>
                  <a:schemeClr val="tx1"/>
                </a:solidFill>
              </a:rPr>
              <a:t>on the Job Training</a:t>
            </a:r>
            <a:endParaRPr lang="en-US" sz="3200" b="1" dirty="0">
              <a:solidFill>
                <a:schemeClr val="tx1"/>
              </a:solidFill>
            </a:endParaRPr>
          </a:p>
        </p:txBody>
      </p:sp>
      <p:sp>
        <p:nvSpPr>
          <p:cNvPr id="3" name="Content Placeholder 2"/>
          <p:cNvSpPr>
            <a:spLocks noGrp="1"/>
          </p:cNvSpPr>
          <p:nvPr>
            <p:ph sz="quarter" idx="1"/>
          </p:nvPr>
        </p:nvSpPr>
        <p:spPr>
          <a:xfrm>
            <a:off x="381000" y="1219200"/>
            <a:ext cx="8305800" cy="5105400"/>
          </a:xfrm>
          <a:solidFill>
            <a:schemeClr val="accent1">
              <a:lumMod val="20000"/>
              <a:lumOff val="80000"/>
            </a:schemeClr>
          </a:solidFill>
        </p:spPr>
        <p:txBody>
          <a:bodyPr>
            <a:noAutofit/>
          </a:bodyPr>
          <a:lstStyle/>
          <a:p>
            <a:pPr marL="514350" indent="-514350" algn="just">
              <a:buFont typeface="+mj-lt"/>
              <a:buAutoNum type="arabicPeriod" startAt="3"/>
            </a:pPr>
            <a:r>
              <a:rPr lang="en-US" sz="2800" b="1" dirty="0" smtClean="0"/>
              <a:t>Internal labor market: </a:t>
            </a:r>
          </a:p>
          <a:p>
            <a:pPr marL="514350" indent="-514350" algn="just">
              <a:buNone/>
            </a:pPr>
            <a:r>
              <a:rPr lang="en-US" sz="2800" b="1" dirty="0" smtClean="0"/>
              <a:t>	</a:t>
            </a:r>
            <a:r>
              <a:rPr lang="en-US" sz="2800" dirty="0" smtClean="0"/>
              <a:t>If all jobs skills were acquired through general OJT, there would be no internal labor markets since firms could readily hire a worker in the external labor market.</a:t>
            </a:r>
          </a:p>
          <a:p>
            <a:pPr marL="514350" indent="-514350" algn="just">
              <a:buNone/>
            </a:pPr>
            <a:r>
              <a:rPr lang="en-US" sz="2800" dirty="0" smtClean="0"/>
              <a:t>	the more important specific training is as a source of job skills, however, the less reliance the firm will put on outside recruitment of labor and the greater emphasis it will put on internal promotion and advancement as a means of filling job vacancies. </a:t>
            </a:r>
          </a:p>
        </p:txBody>
      </p:sp>
      <p:graphicFrame>
        <p:nvGraphicFramePr>
          <p:cNvPr id="2050" name="Object 2"/>
          <p:cNvGraphicFramePr>
            <a:graphicFrameLocks noChangeAspect="1"/>
          </p:cNvGraphicFramePr>
          <p:nvPr/>
        </p:nvGraphicFramePr>
        <p:xfrm>
          <a:off x="0" y="457200"/>
          <a:ext cx="114300" cy="219075"/>
        </p:xfrm>
        <a:graphic>
          <a:graphicData uri="http://schemas.openxmlformats.org/presentationml/2006/ole">
            <mc:AlternateContent xmlns:mc="http://schemas.openxmlformats.org/markup-compatibility/2006">
              <mc:Choice xmlns:v="urn:schemas-microsoft-com:vml" Requires="v">
                <p:oleObj spid="_x0000_s35845" name="Equation" r:id="rId4" imgW="114151" imgH="215619" progId="Equation.3">
                  <p:embed/>
                </p:oleObj>
              </mc:Choice>
              <mc:Fallback>
                <p:oleObj name="Equation" r:id="rId4" imgW="114151" imgH="215619" progId="Equation.3">
                  <p:embed/>
                  <p:pic>
                    <p:nvPicPr>
                      <p:cNvPr id="0"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457200"/>
                        <a:ext cx="114300" cy="2190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51" name="Rectangle 3"/>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2" name="Rectangle 4"/>
          <p:cNvSpPr>
            <a:spLocks noChangeArrowheads="1"/>
          </p:cNvSpPr>
          <p:nvPr/>
        </p:nvSpPr>
        <p:spPr bwMode="auto">
          <a:xfrm>
            <a:off x="0" y="6762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5" name="Rectangle 7"/>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7" name="Rectangle 9"/>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61" name="Rectangle 13"/>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1513" name="Rectangle 9"/>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1515" name="Rectangle 1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52400"/>
            <a:ext cx="8305800" cy="990600"/>
          </a:xfrm>
        </p:spPr>
        <p:style>
          <a:lnRef idx="1">
            <a:schemeClr val="accent3"/>
          </a:lnRef>
          <a:fillRef idx="2">
            <a:schemeClr val="accent3"/>
          </a:fillRef>
          <a:effectRef idx="1">
            <a:schemeClr val="accent3"/>
          </a:effectRef>
          <a:fontRef idx="minor">
            <a:schemeClr val="dk1"/>
          </a:fontRef>
        </p:style>
        <p:txBody>
          <a:bodyPr>
            <a:noAutofit/>
          </a:bodyPr>
          <a:lstStyle/>
          <a:p>
            <a:pPr algn="ctr"/>
            <a:r>
              <a:rPr lang="en-US" sz="3200" b="1" dirty="0" smtClean="0">
                <a:solidFill>
                  <a:schemeClr val="tx1"/>
                </a:solidFill>
              </a:rPr>
              <a:t>Implication of </a:t>
            </a:r>
            <a:br>
              <a:rPr lang="en-US" sz="3200" b="1" dirty="0" smtClean="0">
                <a:solidFill>
                  <a:schemeClr val="tx1"/>
                </a:solidFill>
              </a:rPr>
            </a:br>
            <a:r>
              <a:rPr lang="en-US" sz="3200" b="1" dirty="0" smtClean="0">
                <a:solidFill>
                  <a:schemeClr val="tx1"/>
                </a:solidFill>
              </a:rPr>
              <a:t>on the Job Training</a:t>
            </a:r>
            <a:endParaRPr lang="en-US" sz="3200" b="1" dirty="0">
              <a:solidFill>
                <a:schemeClr val="tx1"/>
              </a:solidFill>
            </a:endParaRPr>
          </a:p>
        </p:txBody>
      </p:sp>
      <p:sp>
        <p:nvSpPr>
          <p:cNvPr id="3" name="Content Placeholder 2"/>
          <p:cNvSpPr>
            <a:spLocks noGrp="1"/>
          </p:cNvSpPr>
          <p:nvPr>
            <p:ph sz="quarter" idx="1"/>
          </p:nvPr>
        </p:nvSpPr>
        <p:spPr>
          <a:xfrm>
            <a:off x="381000" y="1219200"/>
            <a:ext cx="8305800" cy="5105400"/>
          </a:xfrm>
          <a:solidFill>
            <a:schemeClr val="accent1">
              <a:lumMod val="20000"/>
              <a:lumOff val="80000"/>
            </a:schemeClr>
          </a:solidFill>
        </p:spPr>
        <p:txBody>
          <a:bodyPr>
            <a:noAutofit/>
          </a:bodyPr>
          <a:lstStyle/>
          <a:p>
            <a:pPr marL="514350" indent="-514350" algn="just">
              <a:buFont typeface="+mj-lt"/>
              <a:buAutoNum type="arabicPeriod" startAt="4"/>
            </a:pPr>
            <a:r>
              <a:rPr lang="en-US" sz="2800" b="1" dirty="0" smtClean="0">
                <a:solidFill>
                  <a:srgbClr val="C00000"/>
                </a:solidFill>
              </a:rPr>
              <a:t>Indeterminacy of wage: </a:t>
            </a:r>
          </a:p>
          <a:p>
            <a:pPr marL="514350" indent="-514350" algn="just">
              <a:buNone/>
            </a:pPr>
            <a:r>
              <a:rPr lang="en-US" sz="2800" b="1" dirty="0" smtClean="0"/>
              <a:t>	</a:t>
            </a:r>
            <a:r>
              <a:rPr lang="en-US" sz="2800" dirty="0" smtClean="0"/>
              <a:t>The specific OJT leads to an area of indeterminacy in wage rates.</a:t>
            </a:r>
          </a:p>
        </p:txBody>
      </p:sp>
      <p:graphicFrame>
        <p:nvGraphicFramePr>
          <p:cNvPr id="2050" name="Object 2"/>
          <p:cNvGraphicFramePr>
            <a:graphicFrameLocks noChangeAspect="1"/>
          </p:cNvGraphicFramePr>
          <p:nvPr/>
        </p:nvGraphicFramePr>
        <p:xfrm>
          <a:off x="0" y="457200"/>
          <a:ext cx="114300" cy="219075"/>
        </p:xfrm>
        <a:graphic>
          <a:graphicData uri="http://schemas.openxmlformats.org/presentationml/2006/ole">
            <mc:AlternateContent xmlns:mc="http://schemas.openxmlformats.org/markup-compatibility/2006">
              <mc:Choice xmlns:v="urn:schemas-microsoft-com:vml" Requires="v">
                <p:oleObj spid="_x0000_s37893" name="Equation" r:id="rId4" imgW="114151" imgH="215619" progId="Equation.3">
                  <p:embed/>
                </p:oleObj>
              </mc:Choice>
              <mc:Fallback>
                <p:oleObj name="Equation" r:id="rId4" imgW="114151" imgH="215619" progId="Equation.3">
                  <p:embed/>
                  <p:pic>
                    <p:nvPicPr>
                      <p:cNvPr id="0"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457200"/>
                        <a:ext cx="114300" cy="2190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51" name="Rectangle 3"/>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2" name="Rectangle 4"/>
          <p:cNvSpPr>
            <a:spLocks noChangeArrowheads="1"/>
          </p:cNvSpPr>
          <p:nvPr/>
        </p:nvSpPr>
        <p:spPr bwMode="auto">
          <a:xfrm>
            <a:off x="0" y="6762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5" name="Rectangle 7"/>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7" name="Rectangle 9"/>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61" name="Rectangle 13"/>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1513" name="Rectangle 9"/>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1515" name="Rectangle 1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52400"/>
            <a:ext cx="8305800" cy="990600"/>
          </a:xfrm>
        </p:spPr>
        <p:style>
          <a:lnRef idx="1">
            <a:schemeClr val="accent3"/>
          </a:lnRef>
          <a:fillRef idx="2">
            <a:schemeClr val="accent3"/>
          </a:fillRef>
          <a:effectRef idx="1">
            <a:schemeClr val="accent3"/>
          </a:effectRef>
          <a:fontRef idx="minor">
            <a:schemeClr val="dk1"/>
          </a:fontRef>
        </p:style>
        <p:txBody>
          <a:bodyPr>
            <a:noAutofit/>
          </a:bodyPr>
          <a:lstStyle/>
          <a:p>
            <a:pPr algn="ctr"/>
            <a:r>
              <a:rPr lang="en-US" sz="3200" b="1" dirty="0" smtClean="0">
                <a:solidFill>
                  <a:schemeClr val="tx1"/>
                </a:solidFill>
              </a:rPr>
              <a:t>Implication of </a:t>
            </a:r>
            <a:br>
              <a:rPr lang="en-US" sz="3200" b="1" dirty="0" smtClean="0">
                <a:solidFill>
                  <a:schemeClr val="tx1"/>
                </a:solidFill>
              </a:rPr>
            </a:br>
            <a:r>
              <a:rPr lang="en-US" sz="3200" b="1" dirty="0" smtClean="0">
                <a:solidFill>
                  <a:schemeClr val="tx1"/>
                </a:solidFill>
              </a:rPr>
              <a:t>on the Job Training</a:t>
            </a:r>
            <a:endParaRPr lang="en-US" sz="3200" b="1" dirty="0">
              <a:solidFill>
                <a:schemeClr val="tx1"/>
              </a:solidFill>
            </a:endParaRPr>
          </a:p>
        </p:txBody>
      </p:sp>
      <p:sp>
        <p:nvSpPr>
          <p:cNvPr id="3" name="Content Placeholder 2"/>
          <p:cNvSpPr>
            <a:spLocks noGrp="1"/>
          </p:cNvSpPr>
          <p:nvPr>
            <p:ph sz="quarter" idx="1"/>
          </p:nvPr>
        </p:nvSpPr>
        <p:spPr>
          <a:xfrm>
            <a:off x="381000" y="1219200"/>
            <a:ext cx="8305800" cy="5105400"/>
          </a:xfrm>
          <a:solidFill>
            <a:schemeClr val="accent1">
              <a:lumMod val="20000"/>
              <a:lumOff val="80000"/>
            </a:schemeClr>
          </a:solidFill>
        </p:spPr>
        <p:txBody>
          <a:bodyPr>
            <a:noAutofit/>
          </a:bodyPr>
          <a:lstStyle/>
          <a:p>
            <a:pPr marL="514350" indent="-514350" algn="just">
              <a:buFont typeface="+mj-lt"/>
              <a:buAutoNum type="arabicPeriod" startAt="5"/>
            </a:pPr>
            <a:r>
              <a:rPr lang="en-US" sz="2800" b="1" dirty="0" smtClean="0">
                <a:solidFill>
                  <a:srgbClr val="C00000"/>
                </a:solidFill>
              </a:rPr>
              <a:t>Age/ Earning profiles:</a:t>
            </a:r>
          </a:p>
          <a:p>
            <a:pPr marL="514350" indent="-514350" algn="just">
              <a:buNone/>
            </a:pPr>
            <a:endParaRPr lang="en-US" sz="2800" b="1" dirty="0" smtClean="0">
              <a:solidFill>
                <a:srgbClr val="C00000"/>
              </a:solidFill>
            </a:endParaRPr>
          </a:p>
        </p:txBody>
      </p:sp>
      <p:graphicFrame>
        <p:nvGraphicFramePr>
          <p:cNvPr id="2050" name="Object 2"/>
          <p:cNvGraphicFramePr>
            <a:graphicFrameLocks noChangeAspect="1"/>
          </p:cNvGraphicFramePr>
          <p:nvPr/>
        </p:nvGraphicFramePr>
        <p:xfrm>
          <a:off x="0" y="457200"/>
          <a:ext cx="114300" cy="219075"/>
        </p:xfrm>
        <a:graphic>
          <a:graphicData uri="http://schemas.openxmlformats.org/presentationml/2006/ole">
            <mc:AlternateContent xmlns:mc="http://schemas.openxmlformats.org/markup-compatibility/2006">
              <mc:Choice xmlns:v="urn:schemas-microsoft-com:vml" Requires="v">
                <p:oleObj spid="_x0000_s38918" name="Equation" r:id="rId4" imgW="114151" imgH="215619" progId="Equation.3">
                  <p:embed/>
                </p:oleObj>
              </mc:Choice>
              <mc:Fallback>
                <p:oleObj name="Equation" r:id="rId4" imgW="114151" imgH="215619" progId="Equation.3">
                  <p:embed/>
                  <p:pic>
                    <p:nvPicPr>
                      <p:cNvPr id="0"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457200"/>
                        <a:ext cx="114300" cy="2190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51" name="Rectangle 3"/>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2" name="Rectangle 4"/>
          <p:cNvSpPr>
            <a:spLocks noChangeArrowheads="1"/>
          </p:cNvSpPr>
          <p:nvPr/>
        </p:nvSpPr>
        <p:spPr bwMode="auto">
          <a:xfrm>
            <a:off x="0" y="6762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5" name="Rectangle 7"/>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7" name="Rectangle 9"/>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61" name="Rectangle 13"/>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1513" name="Rectangle 9"/>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1515" name="Rectangle 1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38916" name="Picture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14400" y="1752600"/>
            <a:ext cx="7239000" cy="457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el">
  <a:themeElements>
    <a:clrScheme name="Oriel">
      <a:dk1>
        <a:sysClr val="windowText" lastClr="000000"/>
      </a:dk1>
      <a:lt1>
        <a:sysClr val="window" lastClr="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fontScheme name="Oriel">
      <a:majorFont>
        <a:latin typeface="Century Schoolbook"/>
        <a:ea typeface=""/>
        <a:cs typeface=""/>
        <a:font script="Jpan" typeface="ＭＳ Ｐ明朝"/>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entury Schoolbook"/>
        <a:ea typeface=""/>
        <a:cs typeface=""/>
        <a:font script="Jpan" typeface="ＭＳ Ｐ明朝"/>
        <a:font script="Hang" typeface="휴먼매직체"/>
        <a:font script="Hans" typeface="宋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riel">
      <a:fillStyleLst>
        <a:solidFill>
          <a:schemeClr val="phClr"/>
        </a:solidFill>
        <a:gradFill rotWithShape="1">
          <a:gsLst>
            <a:gs pos="0">
              <a:schemeClr val="phClr">
                <a:tint val="35000"/>
                <a:satMod val="260000"/>
              </a:schemeClr>
            </a:gs>
            <a:gs pos="30000">
              <a:schemeClr val="phClr">
                <a:tint val="38000"/>
                <a:satMod val="260000"/>
              </a:schemeClr>
            </a:gs>
            <a:gs pos="75000">
              <a:schemeClr val="phClr">
                <a:tint val="55000"/>
                <a:satMod val="255000"/>
              </a:schemeClr>
            </a:gs>
            <a:gs pos="100000">
              <a:schemeClr val="phClr">
                <a:tint val="70000"/>
                <a:satMod val="255000"/>
              </a:schemeClr>
            </a:gs>
          </a:gsLst>
          <a:path path="circle">
            <a:fillToRect l="5000" t="100000" r="120000" b="10000"/>
          </a:path>
        </a:gradFill>
        <a:gradFill rotWithShape="1">
          <a:gsLst>
            <a:gs pos="0">
              <a:schemeClr val="phClr">
                <a:shade val="63000"/>
                <a:satMod val="165000"/>
              </a:schemeClr>
            </a:gs>
            <a:gs pos="30000">
              <a:schemeClr val="phClr">
                <a:shade val="58000"/>
                <a:satMod val="165000"/>
              </a:schemeClr>
            </a:gs>
            <a:gs pos="75000">
              <a:schemeClr val="phClr">
                <a:shade val="30000"/>
                <a:satMod val="175000"/>
              </a:schemeClr>
            </a:gs>
            <a:gs pos="100000">
              <a:schemeClr val="phClr">
                <a:shade val="15000"/>
                <a:satMod val="175000"/>
              </a:schemeClr>
            </a:gs>
          </a:gsLst>
          <a:path path="circle">
            <a:fillToRect l="5000" t="100000" r="120000" b="10000"/>
          </a:path>
        </a:gradFill>
      </a:fillStyleLst>
      <a:lnStyleLst>
        <a:ln w="12700" cap="flat" cmpd="sng" algn="ctr">
          <a:solidFill>
            <a:schemeClr val="phClr">
              <a:shade val="70000"/>
              <a:satMod val="150000"/>
            </a:schemeClr>
          </a:solidFill>
          <a:prstDash val="solid"/>
        </a:ln>
        <a:ln w="25400" cap="flat" cmpd="sng" algn="ctr">
          <a:solidFill>
            <a:schemeClr val="phClr"/>
          </a:solidFill>
          <a:prstDash val="solid"/>
        </a:ln>
        <a:ln w="34925" cap="flat" cmpd="sng" algn="ctr">
          <a:solidFill>
            <a:schemeClr val="phClr"/>
          </a:solidFill>
          <a:prstDash val="solid"/>
        </a:ln>
      </a:lnStyleLst>
      <a:effectStyleLst>
        <a:effectStyle>
          <a:effectLst>
            <a:outerShdw blurRad="50800" dist="25000" dir="5400000" rotWithShape="0">
              <a:srgbClr val="000000">
                <a:alpha val="40000"/>
              </a:srgbClr>
            </a:outerShdw>
          </a:effectLst>
        </a:effectStyle>
        <a:effectStyle>
          <a:effectLst>
            <a:outerShdw blurRad="50800" dist="20000" dir="5400000" rotWithShape="0">
              <a:srgbClr val="000000">
                <a:alpha val="42000"/>
              </a:srgbClr>
            </a:outerShdw>
          </a:effectLst>
        </a:effectStyle>
        <a:effectStyle>
          <a:effectLst>
            <a:outerShdw blurRad="50800" dist="20000" dir="5400000" rotWithShape="0">
              <a:srgbClr val="000000">
                <a:alpha val="42000"/>
              </a:srgbClr>
            </a:outerShdw>
          </a:effectLst>
          <a:scene3d>
            <a:camera prst="orthographicFront">
              <a:rot lat="0" lon="0" rev="0"/>
            </a:camera>
            <a:lightRig rig="balanced" dir="t">
              <a:rot lat="0" lon="0" rev="0"/>
            </a:lightRig>
          </a:scene3d>
          <a:sp3d>
            <a:bevelT w="47625" h="69850"/>
            <a:contourClr>
              <a:schemeClr val="lt1"/>
            </a:contourClr>
          </a:sp3d>
        </a:effectStyle>
      </a:effectStyleLst>
      <a:bgFillStyleLst>
        <a:solidFill>
          <a:schemeClr val="phClr"/>
        </a:solidFill>
        <a:gradFill rotWithShape="1">
          <a:gsLst>
            <a:gs pos="0">
              <a:schemeClr val="phClr">
                <a:shade val="58000"/>
                <a:satMod val="125000"/>
              </a:schemeClr>
            </a:gs>
            <a:gs pos="40000">
              <a:schemeClr val="phClr">
                <a:tint val="90000"/>
                <a:shade val="90000"/>
                <a:satMod val="120000"/>
              </a:schemeClr>
            </a:gs>
            <a:gs pos="100000">
              <a:schemeClr val="phClr">
                <a:tint val="50000"/>
              </a:schemeClr>
            </a:gs>
          </a:gsLst>
          <a:lin ang="16200000" scaled="1"/>
        </a:gradFill>
        <a:blipFill>
          <a:blip xmlns:r="http://schemas.openxmlformats.org/officeDocument/2006/relationships" r:embed="rId1">
            <a:duotone>
              <a:schemeClr val="phClr">
                <a:shade val="80000"/>
              </a:schemeClr>
              <a:schemeClr val="phClr">
                <a:tint val="91000"/>
              </a:schemeClr>
            </a:duotone>
          </a:blip>
          <a:tile tx="0" ty="0" sx="40000" sy="50000" flip="y"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Oriel</Template>
  <TotalTime>2854</TotalTime>
  <Words>812</Words>
  <Application>Microsoft Office PowerPoint</Application>
  <PresentationFormat>On-screen Show (4:3)</PresentationFormat>
  <Paragraphs>119</Paragraphs>
  <Slides>22</Slides>
  <Notes>10</Notes>
  <HiddenSlides>0</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22</vt:i4>
      </vt:variant>
    </vt:vector>
  </HeadingPairs>
  <TitlesOfParts>
    <vt:vector size="24" baseType="lpstr">
      <vt:lpstr>Oriel</vt:lpstr>
      <vt:lpstr>Equation</vt:lpstr>
      <vt:lpstr>Chapter 7   Education, Training, and Earning Differentials: The Theory of Human Capital </vt:lpstr>
      <vt:lpstr>Chapter outline</vt:lpstr>
      <vt:lpstr>The Theory of Human Capital </vt:lpstr>
      <vt:lpstr>The Theory of Human Capital </vt:lpstr>
      <vt:lpstr>The Theory of Human Capital </vt:lpstr>
      <vt:lpstr>The Theory of Human Capital </vt:lpstr>
      <vt:lpstr>The Theory of Human Capital </vt:lpstr>
      <vt:lpstr>The Theory of Human Capital </vt:lpstr>
      <vt:lpstr>The Theory of Human Capital </vt:lpstr>
      <vt:lpstr>Implication of Human Capital Theory</vt:lpstr>
      <vt:lpstr>Implication of Human Capital Theory</vt:lpstr>
      <vt:lpstr>On the Job Training</vt:lpstr>
      <vt:lpstr>On the Job Training</vt:lpstr>
      <vt:lpstr>On the Job Training: General versus Specific Training</vt:lpstr>
      <vt:lpstr>On the Job Training: General versus Specific Training</vt:lpstr>
      <vt:lpstr>On the Job Training: Benefits and Costs</vt:lpstr>
      <vt:lpstr>Implication of  on the Job Training</vt:lpstr>
      <vt:lpstr>Implication of  on the Job Training</vt:lpstr>
      <vt:lpstr>Implication of  on the Job Training</vt:lpstr>
      <vt:lpstr>Implication of  on the Job Training</vt:lpstr>
      <vt:lpstr>Implication of  on the Job Training</vt:lpstr>
      <vt:lpstr>Implication of  on the Job Training</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10   Conduct of Monetary Policy: Tools, Goals, Strategy, and Tactics</dc:title>
  <dc:creator>user</dc:creator>
  <cp:lastModifiedBy>Windows User</cp:lastModifiedBy>
  <cp:revision>222</cp:revision>
  <dcterms:created xsi:type="dcterms:W3CDTF">2018-04-08T16:39:12Z</dcterms:created>
  <dcterms:modified xsi:type="dcterms:W3CDTF">2021-08-06T05:58:38Z</dcterms:modified>
</cp:coreProperties>
</file>