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sldIdLst>
    <p:sldId id="256" r:id="rId2"/>
    <p:sldId id="257" r:id="rId3"/>
    <p:sldId id="266" r:id="rId4"/>
    <p:sldId id="259" r:id="rId5"/>
    <p:sldId id="271" r:id="rId6"/>
    <p:sldId id="261" r:id="rId7"/>
    <p:sldId id="268" r:id="rId8"/>
    <p:sldId id="267" r:id="rId9"/>
    <p:sldId id="269" r:id="rId10"/>
    <p:sldId id="270" r:id="rId11"/>
    <p:sldId id="260" r:id="rId12"/>
    <p:sldId id="262" r:id="rId13"/>
    <p:sldId id="273" r:id="rId14"/>
    <p:sldId id="274" r:id="rId15"/>
    <p:sldId id="275" r:id="rId16"/>
    <p:sldId id="276" r:id="rId17"/>
    <p:sldId id="277" r:id="rId18"/>
    <p:sldId id="263" r:id="rId19"/>
    <p:sldId id="264" r:id="rId20"/>
    <p:sldId id="265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6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4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3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0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6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0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1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54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0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7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9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D8046-9B0D-4E64-9ED0-884F4F925EF9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64345-F450-4F31-99DF-2034ADB21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3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0B86-7FE8-4FD9-841C-6240EC2D9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081" y="857563"/>
            <a:ext cx="8637073" cy="1276804"/>
          </a:xfrm>
        </p:spPr>
        <p:txBody>
          <a:bodyPr>
            <a:normAutofit/>
          </a:bodyPr>
          <a:lstStyle/>
          <a:p>
            <a:r>
              <a:rPr lang="en-US" sz="4000" dirty="0"/>
              <a:t>A presentation 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A8A8D-CCE1-4F94-B2BA-0E9FA7620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602" y="2721580"/>
            <a:ext cx="10001952" cy="839767"/>
          </a:xfrm>
        </p:spPr>
        <p:txBody>
          <a:bodyPr>
            <a:noAutofit/>
          </a:bodyPr>
          <a:lstStyle/>
          <a:p>
            <a:r>
              <a:rPr lang="en-US" sz="5400" b="1" dirty="0"/>
              <a:t>The Rise of Robots and The Fall of Routine Jobs</a:t>
            </a:r>
          </a:p>
        </p:txBody>
      </p:sp>
    </p:spTree>
    <p:extLst>
      <p:ext uri="{BB962C8B-B14F-4D97-AF65-F5344CB8AC3E}">
        <p14:creationId xmlns:p14="http://schemas.microsoft.com/office/powerpoint/2010/main" val="411247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AE0902-3D4B-4C1A-BC4B-D345B928FECE}"/>
              </a:ext>
            </a:extLst>
          </p:cNvPr>
          <p:cNvSpPr txBox="1"/>
          <p:nvPr/>
        </p:nvSpPr>
        <p:spPr>
          <a:xfrm>
            <a:off x="1457324" y="733336"/>
            <a:ext cx="69437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Supervised by</a:t>
            </a:r>
            <a:br>
              <a:rPr lang="en-US" sz="2800" b="1" dirty="0"/>
            </a:br>
            <a:r>
              <a:rPr lang="en-US" sz="2800" b="1" dirty="0"/>
              <a:t>Professor Mohammad </a:t>
            </a:r>
            <a:r>
              <a:rPr lang="en-US" sz="2800" b="1" dirty="0" err="1"/>
              <a:t>Lutfor</a:t>
            </a:r>
            <a:r>
              <a:rPr lang="en-US" sz="2800" b="1" dirty="0"/>
              <a:t> Rahman.</a:t>
            </a:r>
            <a:br>
              <a:rPr lang="en-US" sz="2800" b="1" dirty="0"/>
            </a:br>
            <a:r>
              <a:rPr lang="en-US" sz="2800" b="1" dirty="0"/>
              <a:t>Department of Economics,</a:t>
            </a:r>
          </a:p>
          <a:p>
            <a:r>
              <a:rPr lang="en-US" sz="2800" b="1" dirty="0"/>
              <a:t>Jahangirnagar University.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Presented By</a:t>
            </a:r>
            <a:br>
              <a:rPr lang="en-US" sz="2800" b="1" dirty="0"/>
            </a:br>
            <a:r>
              <a:rPr lang="en-US" sz="2800" b="1" dirty="0"/>
              <a:t>Md. Rakib Hasan </a:t>
            </a:r>
            <a:r>
              <a:rPr lang="en-US" sz="2800" b="1" dirty="0" err="1"/>
              <a:t>Piyal</a:t>
            </a:r>
            <a:br>
              <a:rPr lang="en-US" sz="2800" b="1" dirty="0"/>
            </a:br>
            <a:r>
              <a:rPr lang="en-US" sz="2800" b="1" dirty="0"/>
              <a:t>Roll: 1245</a:t>
            </a:r>
            <a:br>
              <a:rPr lang="en-US" sz="2800" b="1" dirty="0"/>
            </a:br>
            <a:r>
              <a:rPr lang="en-US" sz="2800" b="1" dirty="0"/>
              <a:t>Department of Economics,</a:t>
            </a:r>
            <a:br>
              <a:rPr lang="en-US" sz="2800" b="1" dirty="0"/>
            </a:br>
            <a:r>
              <a:rPr lang="en-US" sz="2800" b="1" dirty="0"/>
              <a:t>Jahangirnagar University</a:t>
            </a:r>
          </a:p>
        </p:txBody>
      </p:sp>
    </p:spTree>
    <p:extLst>
      <p:ext uri="{BB962C8B-B14F-4D97-AF65-F5344CB8AC3E}">
        <p14:creationId xmlns:p14="http://schemas.microsoft.com/office/powerpoint/2010/main" val="149432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89F8-7206-4551-9501-13DD9311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F7E20-67E2-4A97-8BD8-056C59DC6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33818"/>
            <a:ext cx="8946541" cy="4195481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Gaaitzen</a:t>
            </a:r>
            <a:r>
              <a:rPr lang="en-US" sz="3200" b="1" dirty="0"/>
              <a:t> J. de Vries</a:t>
            </a:r>
            <a:r>
              <a:rPr lang="en-US" sz="3200" dirty="0"/>
              <a:t>; </a:t>
            </a:r>
            <a:r>
              <a:rPr lang="en-US" sz="2400" dirty="0"/>
              <a:t>Faculty of Economics and Business, University of Groningen, the Netherlands</a:t>
            </a:r>
          </a:p>
          <a:p>
            <a:r>
              <a:rPr lang="en-US" sz="3200" b="1" dirty="0"/>
              <a:t>Elisabetta Gentile</a:t>
            </a:r>
            <a:r>
              <a:rPr lang="en-US" sz="3200" dirty="0"/>
              <a:t>; </a:t>
            </a:r>
            <a:r>
              <a:rPr lang="en-US" sz="2600" dirty="0"/>
              <a:t>Asian Development Bank, Philippines</a:t>
            </a:r>
          </a:p>
          <a:p>
            <a:r>
              <a:rPr lang="en-US" sz="3200" b="1" dirty="0"/>
              <a:t>Sébastien </a:t>
            </a:r>
            <a:r>
              <a:rPr lang="en-US" sz="3200" b="1" dirty="0" err="1"/>
              <a:t>Miroudot</a:t>
            </a:r>
            <a:r>
              <a:rPr lang="en-US" sz="2600" dirty="0"/>
              <a:t>; Organization for Economic Co-operation and Development (OECD), Trade and Agriculture Directorate, France</a:t>
            </a:r>
          </a:p>
          <a:p>
            <a:r>
              <a:rPr lang="en-US" sz="3200" b="1" dirty="0"/>
              <a:t>Konstantin M. Wacker</a:t>
            </a:r>
            <a:r>
              <a:rPr lang="en-US" sz="2800" dirty="0"/>
              <a:t>; </a:t>
            </a:r>
            <a:r>
              <a:rPr lang="en-US" sz="2600" dirty="0"/>
              <a:t>Faculty of Economics and Business, University of Groningen, the Netherlands</a:t>
            </a:r>
          </a:p>
        </p:txBody>
      </p:sp>
    </p:spTree>
    <p:extLst>
      <p:ext uri="{BB962C8B-B14F-4D97-AF65-F5344CB8AC3E}">
        <p14:creationId xmlns:p14="http://schemas.microsoft.com/office/powerpoint/2010/main" val="52349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89F8-7206-4551-9501-13DD9311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36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Introduction: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F7E20-67E2-4A97-8BD8-056C59DC6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3839"/>
            <a:ext cx="11164503" cy="3968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This paper studies the impact of robot adoption on labor demand, finding it reduces routine manual jobs in high-income countries but not developing ones. Robots substitute for tasks, but the technical feasibility for this varies across countries and industries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352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89F8-7206-4551-9501-13DD9311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F7E20-67E2-4A97-8BD8-056C59DC6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33818"/>
            <a:ext cx="10638528" cy="4195481"/>
          </a:xfrm>
        </p:spPr>
        <p:txBody>
          <a:bodyPr>
            <a:noAutofit/>
          </a:bodyPr>
          <a:lstStyle/>
          <a:p>
            <a:r>
              <a:rPr lang="en-US" sz="3200" dirty="0"/>
              <a:t>This paper investigates the impact of industrial robots on employment within different job types across 37 countries between 2005-2015.  </a:t>
            </a:r>
          </a:p>
          <a:p>
            <a:r>
              <a:rPr lang="en-US" sz="3200" dirty="0"/>
              <a:t>Technical feasibility: Industries' potential for robot-replaceable tasks (measured by routine task share).</a:t>
            </a:r>
          </a:p>
          <a:p>
            <a:r>
              <a:rPr lang="en-US" sz="3200" dirty="0"/>
              <a:t>Employment effects: How robot adoption impacts employment share in different occupational groups </a:t>
            </a:r>
          </a:p>
        </p:txBody>
      </p:sp>
    </p:spTree>
    <p:extLst>
      <p:ext uri="{BB962C8B-B14F-4D97-AF65-F5344CB8AC3E}">
        <p14:creationId xmlns:p14="http://schemas.microsoft.com/office/powerpoint/2010/main" val="86623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2C64-735D-4D37-B659-8252C385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source and descriptive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96B1-0C54-4A68-91DC-72704E33C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60" y="1440144"/>
            <a:ext cx="10384440" cy="15761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study combines two datasets to analyze the impact of robot adoption on task composition (routine vs. non-routine, manual vs. analytic) within 40 countries from 2000 to 2015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53DC439-7E41-4596-A044-8A6CA57EC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472052"/>
              </p:ext>
            </p:extLst>
          </p:nvPr>
        </p:nvGraphicFramePr>
        <p:xfrm>
          <a:off x="838200" y="3016251"/>
          <a:ext cx="11087501" cy="3751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874">
                  <a:extLst>
                    <a:ext uri="{9D8B030D-6E8A-4147-A177-3AD203B41FA5}">
                      <a16:colId xmlns:a16="http://schemas.microsoft.com/office/drawing/2014/main" val="3863014374"/>
                    </a:ext>
                  </a:extLst>
                </a:gridCol>
                <a:gridCol w="3634874">
                  <a:extLst>
                    <a:ext uri="{9D8B030D-6E8A-4147-A177-3AD203B41FA5}">
                      <a16:colId xmlns:a16="http://schemas.microsoft.com/office/drawing/2014/main" val="1039131126"/>
                    </a:ext>
                  </a:extLst>
                </a:gridCol>
                <a:gridCol w="3817753">
                  <a:extLst>
                    <a:ext uri="{9D8B030D-6E8A-4147-A177-3AD203B41FA5}">
                      <a16:colId xmlns:a16="http://schemas.microsoft.com/office/drawing/2014/main" val="4012262832"/>
                    </a:ext>
                  </a:extLst>
                </a:gridCol>
              </a:tblGrid>
              <a:tr h="6424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Routine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Non- Routine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582888"/>
                  </a:ext>
                </a:extLst>
              </a:tr>
              <a:tr h="911192">
                <a:tc>
                  <a:txBody>
                    <a:bodyPr/>
                    <a:lstStyle/>
                    <a:p>
                      <a:r>
                        <a:rPr lang="en-US" sz="2400" b="0" dirty="0"/>
                        <a:t>Manual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Production workers, Agricultural</a:t>
                      </a:r>
                    </a:p>
                    <a:p>
                      <a:r>
                        <a:rPr lang="en-US" sz="2400" dirty="0"/>
                        <a:t>workers, Others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Support-services workers, Drivers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00112"/>
                  </a:ext>
                </a:extLst>
              </a:tr>
              <a:tr h="911192">
                <a:tc>
                  <a:txBody>
                    <a:bodyPr/>
                    <a:lstStyle/>
                    <a:p>
                      <a:r>
                        <a:rPr lang="en-US" sz="2400" dirty="0"/>
                        <a:t>Analytic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Administrative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Legislators, Managers, Engineers, Health professionals, Teaching professionals, Other professionals, Sales workers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82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70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2C64-735D-4D37-B659-8252C385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57" y="-125128"/>
            <a:ext cx="10515600" cy="1325563"/>
          </a:xfrm>
        </p:spPr>
        <p:txBody>
          <a:bodyPr/>
          <a:lstStyle/>
          <a:p>
            <a:r>
              <a:rPr lang="en-US" b="1" dirty="0"/>
              <a:t>Data source and descriptive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242A75-0D8C-4E4E-9E43-3248CE0BB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761"/>
            <a:ext cx="12012328" cy="5773322"/>
          </a:xfrm>
        </p:spPr>
      </p:pic>
    </p:spTree>
    <p:extLst>
      <p:ext uri="{BB962C8B-B14F-4D97-AF65-F5344CB8AC3E}">
        <p14:creationId xmlns:p14="http://schemas.microsoft.com/office/powerpoint/2010/main" val="3329950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2C64-735D-4D37-B659-8252C385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Theoretical framework</a:t>
            </a:r>
            <a:br>
              <a:rPr lang="en-US" dirty="0"/>
            </a:br>
            <a:r>
              <a:rPr lang="en-US" dirty="0"/>
              <a:t>   </a:t>
            </a:r>
            <a:r>
              <a:rPr lang="en-US" sz="3600" b="1" dirty="0"/>
              <a:t>Traditional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96B1-0C54-4A68-91DC-72704E33C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8012"/>
            <a:ext cx="10515600" cy="4351338"/>
          </a:xfrm>
        </p:spPr>
        <p:txBody>
          <a:bodyPr/>
          <a:lstStyle/>
          <a:p>
            <a:r>
              <a:rPr lang="en-US" sz="3600" dirty="0"/>
              <a:t>Robots complement workers, enhancing productivity by automating routine tasks.</a:t>
            </a:r>
          </a:p>
          <a:p>
            <a:r>
              <a:rPr lang="en-US" sz="3600" dirty="0"/>
              <a:t>This increases demand for workers in non-routine tasks (e.g., creativity, problem-solving).</a:t>
            </a:r>
          </a:p>
          <a:p>
            <a:r>
              <a:rPr lang="en-US" sz="3600" dirty="0"/>
              <a:t>Robot adoption is more likely in countries with high wages and lower costs.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7538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2C64-735D-4D37-B659-8252C385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Theoretical framework</a:t>
            </a:r>
            <a:br>
              <a:rPr lang="en-US" dirty="0"/>
            </a:br>
            <a:r>
              <a:rPr lang="en-US" dirty="0"/>
              <a:t>   </a:t>
            </a:r>
            <a:r>
              <a:rPr lang="en-US" sz="3600" dirty="0"/>
              <a:t>Expanded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96B1-0C54-4A68-91DC-72704E33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Robots can also replace workers in a widening range of tasks, lowering labor demand.</a:t>
            </a:r>
          </a:p>
          <a:p>
            <a:r>
              <a:rPr lang="en-US" sz="3200" dirty="0"/>
              <a:t>They create new tasks for humans (e.g., programming, maintenance).</a:t>
            </a:r>
          </a:p>
          <a:p>
            <a:r>
              <a:rPr lang="en-US" sz="3200" dirty="0"/>
              <a:t>The impact on labor demand depends on the balance between displacement and new tasks.</a:t>
            </a:r>
          </a:p>
          <a:p>
            <a:r>
              <a:rPr lang="en-US" sz="3200" dirty="0"/>
              <a:t>Technical feasibility of automation varies by industry (e.g., garments vs. cars).</a:t>
            </a:r>
          </a:p>
        </p:txBody>
      </p:sp>
    </p:spTree>
    <p:extLst>
      <p:ext uri="{BB962C8B-B14F-4D97-AF65-F5344CB8AC3E}">
        <p14:creationId xmlns:p14="http://schemas.microsoft.com/office/powerpoint/2010/main" val="318107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2C64-735D-4D37-B659-8252C385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Theoretical framework</a:t>
            </a:r>
            <a:br>
              <a:rPr lang="en-US" dirty="0"/>
            </a:br>
            <a:r>
              <a:rPr lang="en-US" dirty="0"/>
              <a:t>   </a:t>
            </a:r>
            <a:r>
              <a:rPr lang="en-US" sz="3200" dirty="0"/>
              <a:t>Additional Factors &amp; Empirical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96B1-0C54-4A68-91DC-72704E33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Rising wages and slowing population growth can drive robot adoption even in low-wage countries like China.</a:t>
            </a:r>
          </a:p>
          <a:p>
            <a:r>
              <a:rPr lang="en-US" sz="3200" dirty="0"/>
              <a:t>Government policies and subsidies can encourage robot development and adoption.</a:t>
            </a:r>
          </a:p>
          <a:p>
            <a:r>
              <a:rPr lang="en-US" sz="3200" dirty="0"/>
              <a:t>Advanced robotics can reduce production costs, potentially reversing offshoring trends.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65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0AE2-6704-4F87-B4A8-CAB36CC22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728895" cy="3099004"/>
          </a:xfrm>
        </p:spPr>
        <p:txBody>
          <a:bodyPr/>
          <a:lstStyle/>
          <a:p>
            <a:r>
              <a:rPr lang="en-US" b="1" dirty="0"/>
              <a:t>Methodology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2B425-83AF-4C02-8C7E-DF4B73F4E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63" y="1487268"/>
            <a:ext cx="10899778" cy="102990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5AE14-BDFE-4304-AFDF-1F3B4E95925B}"/>
              </a:ext>
            </a:extLst>
          </p:cNvPr>
          <p:cNvSpPr txBox="1"/>
          <p:nvPr/>
        </p:nvSpPr>
        <p:spPr>
          <a:xfrm>
            <a:off x="646110" y="2833376"/>
            <a:ext cx="1142396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Ordinary Least Squares (OLS): It is a statistical technique used to estimate the relationship between robot adoption (independent variable) and employment (dependent variable).</a:t>
            </a:r>
          </a:p>
          <a:p>
            <a:endParaRPr lang="en-US" dirty="0"/>
          </a:p>
          <a:p>
            <a:r>
              <a:rPr lang="en-US" sz="3200" dirty="0"/>
              <a:t>2SLS (Two-Stage Least Squares): This technique uses instrumental variables, which are correlated with the independent variable but not with the error term.</a:t>
            </a:r>
          </a:p>
        </p:txBody>
      </p:sp>
    </p:spTree>
    <p:extLst>
      <p:ext uri="{BB962C8B-B14F-4D97-AF65-F5344CB8AC3E}">
        <p14:creationId xmlns:p14="http://schemas.microsoft.com/office/powerpoint/2010/main" val="2440013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BC19-E89C-4BC3-AAD8-816220E6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7A8A-A7B3-4530-98DC-FE18D63FA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Robot adoption decreases the employment share of routine manual jobs, but this effect is primarily observed in high-income countries.</a:t>
            </a:r>
          </a:p>
          <a:p>
            <a:r>
              <a:rPr lang="en-US" dirty="0"/>
              <a:t>Emerging market and transition economies show no significant relation between robot adoption and routine manual employment.</a:t>
            </a:r>
          </a:p>
          <a:p>
            <a:r>
              <a:rPr lang="en-US" dirty="0"/>
              <a:t>This suggests that technical feasibility and economic considerations shape the employment impact of robots.</a:t>
            </a:r>
          </a:p>
          <a:p>
            <a:r>
              <a:rPr lang="en-US" dirty="0"/>
              <a:t>Overall, the paper sheds light on the nuanced impact of industrial robots on job landscapes, highlighting the importance of task characteristics and economic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9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BC19-E89C-4BC3-AAD8-816220E6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693" y="11069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Econometric Findings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FB56C-9507-4287-B542-92D2CC3AB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38" y="983221"/>
            <a:ext cx="11845862" cy="5764087"/>
          </a:xfrm>
        </p:spPr>
      </p:pic>
    </p:spTree>
    <p:extLst>
      <p:ext uri="{BB962C8B-B14F-4D97-AF65-F5344CB8AC3E}">
        <p14:creationId xmlns:p14="http://schemas.microsoft.com/office/powerpoint/2010/main" val="211080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BC19-E89C-4BC3-AAD8-816220E6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Robustness and heterogeneity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CCC57-F8D7-4189-A693-8A8CC932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208" y="1530417"/>
            <a:ext cx="10821744" cy="4841507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Controlling for ICT investment: Including this variable slightly reduces the negative estimated coefficient for robot adoption but it remains statistically significant.</a:t>
            </a:r>
          </a:p>
          <a:p>
            <a:r>
              <a:rPr lang="en-US" sz="3200" dirty="0"/>
              <a:t>Outlier countries: Ireland, Lithuania, Latvia, and Portugal are excluded due to potential influence on results.</a:t>
            </a:r>
          </a:p>
          <a:p>
            <a:r>
              <a:rPr lang="en-US" sz="3200" dirty="0"/>
              <a:t>Outlier sectors: Electricity, gas, water, and education/R&amp;D sectors are excluded due to potential influence on results.</a:t>
            </a:r>
          </a:p>
          <a:p>
            <a:r>
              <a:rPr lang="en-US" sz="3200" dirty="0"/>
              <a:t>High-robot countries and industries: Excluding major robot-adopting countries and industries does not affect the main results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3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BC19-E89C-4BC3-AAD8-816220E6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Robot adoption and production worker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CCC57-F8D7-4189-A693-8A8CC932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208" y="1530417"/>
            <a:ext cx="9637836" cy="4841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-Production workers are categorized as having high routine-manual tasks</a:t>
            </a:r>
          </a:p>
          <a:p>
            <a:pPr marL="0" indent="0">
              <a:buNone/>
            </a:pPr>
            <a:r>
              <a:rPr lang="en-US" dirty="0"/>
              <a:t>-The study focuses on 7 specific production worker occupations in 24 countries to address this issue.</a:t>
            </a:r>
          </a:p>
          <a:p>
            <a:pPr marL="0" indent="0">
              <a:buNone/>
            </a:pPr>
            <a:r>
              <a:rPr lang="en-US" dirty="0"/>
              <a:t>-They find a significant negative relationship between robot adoption and the change in employment share of these production workers.</a:t>
            </a:r>
          </a:p>
          <a:p>
            <a:pPr marL="0" indent="0">
              <a:buNone/>
            </a:pPr>
            <a:r>
              <a:rPr lang="en-US" dirty="0"/>
              <a:t>-Results hold true using different methods to measure routine task intensity, further supporting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207833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BC19-E89C-4BC3-AAD8-816220E6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61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  </a:t>
            </a:r>
            <a:r>
              <a:rPr lang="en-US" sz="4900" b="1" dirty="0"/>
              <a:t>Controlling for long-term industry trends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CCC57-F8D7-4189-A693-8A8CC932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208" y="1530417"/>
            <a:ext cx="9637836" cy="4841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Concern: Robot adoption might simply correlate with long-term trends of declining routine tasks, not directly causing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Challenge: Data on occupations and robots starts in 2000, when robots were already increasing.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provide strong evidence that the observed negative relationship between robot adoption and routine employment is not solely driven by pre-existing trends or industry dynamics</a:t>
            </a:r>
          </a:p>
        </p:txBody>
      </p:sp>
    </p:spTree>
    <p:extLst>
      <p:ext uri="{BB962C8B-B14F-4D97-AF65-F5344CB8AC3E}">
        <p14:creationId xmlns:p14="http://schemas.microsoft.com/office/powerpoint/2010/main" val="2710612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BC19-E89C-4BC3-AAD8-816220E6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61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r>
              <a:rPr lang="en-US" sz="4900" b="1" dirty="0"/>
              <a:t>Global developments in robot adoption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CCC57-F8D7-4189-A693-8A8CC932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208" y="1530417"/>
            <a:ext cx="9637836" cy="48415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section investigates the potential link between robot adoption and reshoring.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Both measures show a negative relationship between robot adoption and the share of routine jobs in Emerging Market and Transition Economies (EMTEs).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suggests that global automation trends, not just local adoption, can impact EMTE labor markets.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Interestingly, the positive effect of being an EMTE disappears when considering global robot adoption trends.</a:t>
            </a:r>
          </a:p>
        </p:txBody>
      </p:sp>
    </p:spTree>
    <p:extLst>
      <p:ext uri="{BB962C8B-B14F-4D97-AF65-F5344CB8AC3E}">
        <p14:creationId xmlns:p14="http://schemas.microsoft.com/office/powerpoint/2010/main" val="3695069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D105-3728-4217-9288-2EF2D6A7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0E20-E7B9-4DA2-9ADD-B3FB948C5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353314" cy="4351338"/>
          </a:xfrm>
        </p:spPr>
        <p:txBody>
          <a:bodyPr>
            <a:normAutofit/>
          </a:bodyPr>
          <a:lstStyle/>
          <a:p>
            <a:r>
              <a:rPr lang="en-US" sz="3600" dirty="0"/>
              <a:t>This paper has only worked with data from 2005 to 2015.</a:t>
            </a:r>
          </a:p>
          <a:p>
            <a:r>
              <a:rPr lang="en-US" sz="3600" dirty="0"/>
              <a:t>Here robotics has been only discussed in industrial perspective.</a:t>
            </a:r>
          </a:p>
          <a:p>
            <a:r>
              <a:rPr lang="en-US" sz="3600" dirty="0"/>
              <a:t>Only developed countries economy is discussed here.</a:t>
            </a:r>
          </a:p>
          <a:p>
            <a:pPr marL="0" indent="0">
              <a:buNone/>
            </a:pPr>
            <a:r>
              <a:rPr lang="en-US" sz="3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9333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281B-0257-4919-9BBA-352052BB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Further study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70902-8E7E-41BF-86B5-A35A6AFE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We can use data after 2015 for the research to get updated information.</a:t>
            </a:r>
          </a:p>
          <a:p>
            <a:r>
              <a:rPr lang="en-US" sz="3600" dirty="0"/>
              <a:t>There is a scope to do research about Robotics for developing countries.</a:t>
            </a:r>
          </a:p>
          <a:p>
            <a:r>
              <a:rPr lang="en-US" sz="3600" dirty="0"/>
              <a:t>Further research can be done on automation.</a:t>
            </a:r>
          </a:p>
          <a:p>
            <a:r>
              <a:rPr lang="en-US" sz="3600" dirty="0"/>
              <a:t>Medical robots, logistics handling robots, delivery means of drones are very much important for further research.</a:t>
            </a:r>
          </a:p>
        </p:txBody>
      </p:sp>
    </p:spTree>
    <p:extLst>
      <p:ext uri="{BB962C8B-B14F-4D97-AF65-F5344CB8AC3E}">
        <p14:creationId xmlns:p14="http://schemas.microsoft.com/office/powerpoint/2010/main" val="3839294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43B7-C67D-4524-BDC9-AE78EA53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F470-3DFD-4DD6-9F94-160C67F9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Increased use of robots causes positive changes in the employment share of analytic jobs and negative changes in the share of manual jobs.</a:t>
            </a:r>
          </a:p>
          <a:p>
            <a:endParaRPr lang="en-US" sz="3600" dirty="0"/>
          </a:p>
          <a:p>
            <a:r>
              <a:rPr lang="en-US" sz="3600" dirty="0"/>
              <a:t>The patterns documented are robust to instrumental variable estimation and the inclusion of various control variables, but differ across levels of economic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3468122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43B7-C67D-4524-BDC9-AE78EA53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F470-3DFD-4DD6-9F94-160C67F9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/>
              <a:t>                     </a:t>
            </a:r>
            <a:r>
              <a:rPr lang="en-US" sz="9600" b="1"/>
              <a:t>THANK </a:t>
            </a:r>
            <a:r>
              <a:rPr lang="en-US" sz="96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222582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1118</TotalTime>
  <Words>1048</Words>
  <Application>Microsoft Office PowerPoint</Application>
  <PresentationFormat>Widescreen</PresentationFormat>
  <Paragraphs>92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A presentation on</vt:lpstr>
      <vt:lpstr>PowerPoint Presentation</vt:lpstr>
      <vt:lpstr>Authors</vt:lpstr>
      <vt:lpstr>Introduction: </vt:lpstr>
      <vt:lpstr>Background</vt:lpstr>
      <vt:lpstr>Data source and descriptive analysis</vt:lpstr>
      <vt:lpstr>Data source and descriptive analysis</vt:lpstr>
      <vt:lpstr>Theoretical framework    Traditional model</vt:lpstr>
      <vt:lpstr>Theoretical framework    Expanded model</vt:lpstr>
      <vt:lpstr>Theoretical framework    Additional Factors &amp; Empirical Analysis</vt:lpstr>
      <vt:lpstr>Methodology    </vt:lpstr>
      <vt:lpstr>Findings</vt:lpstr>
      <vt:lpstr>Econometric Findings </vt:lpstr>
      <vt:lpstr> Robustness and heterogeneity </vt:lpstr>
      <vt:lpstr> Robot adoption and production worker </vt:lpstr>
      <vt:lpstr>  Controlling for long-term industry trends </vt:lpstr>
      <vt:lpstr>   Global developments in robot adoption </vt:lpstr>
      <vt:lpstr>Limitations</vt:lpstr>
      <vt:lpstr>Further study scopes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on</dc:title>
  <dc:creator>rakibhasanpiyal@gmail.com</dc:creator>
  <cp:lastModifiedBy>rakibhasanpiyal@gmail.com</cp:lastModifiedBy>
  <cp:revision>36</cp:revision>
  <dcterms:created xsi:type="dcterms:W3CDTF">2024-01-19T10:04:27Z</dcterms:created>
  <dcterms:modified xsi:type="dcterms:W3CDTF">2024-01-21T09:10:02Z</dcterms:modified>
</cp:coreProperties>
</file>