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0"/>
  </p:notesMasterIdLst>
  <p:sldIdLst>
    <p:sldId id="256" r:id="rId2"/>
    <p:sldId id="258" r:id="rId3"/>
    <p:sldId id="257" r:id="rId4"/>
    <p:sldId id="259" r:id="rId5"/>
    <p:sldId id="263" r:id="rId6"/>
    <p:sldId id="260" r:id="rId7"/>
    <p:sldId id="262" r:id="rId8"/>
    <p:sldId id="261" r:id="rId9"/>
    <p:sldId id="267" r:id="rId10"/>
    <p:sldId id="265" r:id="rId11"/>
    <p:sldId id="266" r:id="rId12"/>
    <p:sldId id="272" r:id="rId13"/>
    <p:sldId id="264" r:id="rId14"/>
    <p:sldId id="271" r:id="rId15"/>
    <p:sldId id="273" r:id="rId16"/>
    <p:sldId id="270" r:id="rId17"/>
    <p:sldId id="269" r:id="rId18"/>
    <p:sldId id="284" r:id="rId19"/>
    <p:sldId id="280" r:id="rId20"/>
    <p:sldId id="305" r:id="rId21"/>
    <p:sldId id="281" r:id="rId22"/>
    <p:sldId id="285" r:id="rId23"/>
    <p:sldId id="282" r:id="rId24"/>
    <p:sldId id="286" r:id="rId25"/>
    <p:sldId id="283" r:id="rId26"/>
    <p:sldId id="279" r:id="rId27"/>
    <p:sldId id="306" r:id="rId28"/>
    <p:sldId id="287" r:id="rId29"/>
    <p:sldId id="278" r:id="rId30"/>
    <p:sldId id="268" r:id="rId31"/>
    <p:sldId id="288" r:id="rId32"/>
    <p:sldId id="274" r:id="rId33"/>
    <p:sldId id="289" r:id="rId34"/>
    <p:sldId id="277" r:id="rId35"/>
    <p:sldId id="276" r:id="rId36"/>
    <p:sldId id="290" r:id="rId37"/>
    <p:sldId id="275" r:id="rId38"/>
    <p:sldId id="307" r:id="rId39"/>
    <p:sldId id="308" r:id="rId40"/>
    <p:sldId id="301" r:id="rId41"/>
    <p:sldId id="302" r:id="rId42"/>
    <p:sldId id="291" r:id="rId43"/>
    <p:sldId id="303" r:id="rId44"/>
    <p:sldId id="309" r:id="rId45"/>
    <p:sldId id="292" r:id="rId46"/>
    <p:sldId id="304" r:id="rId47"/>
    <p:sldId id="293" r:id="rId48"/>
    <p:sldId id="296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67" autoAdjust="0"/>
    <p:restoredTop sz="61368" autoAdjust="0"/>
  </p:normalViewPr>
  <p:slideViewPr>
    <p:cSldViewPr snapToGrid="0">
      <p:cViewPr varScale="1">
        <p:scale>
          <a:sx n="44" d="100"/>
          <a:sy n="44" d="100"/>
        </p:scale>
        <p:origin x="189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9-21T21:29:1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D7E5A4-A3FC-45D1-8E31-5A68C2C6CB7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AC1C9-4DF8-4F88-94EE-571B13C33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770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C1C9-4DF8-4F88-94EE-571B13C336F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232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C1C9-4DF8-4F88-94EE-571B13C336F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5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C1C9-4DF8-4F88-94EE-571B13C336F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77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C1C9-4DF8-4F88-94EE-571B13C336F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303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C1C9-4DF8-4F88-94EE-571B13C336F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672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C1C9-4DF8-4F88-94EE-571B13C336F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3306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C1C9-4DF8-4F88-94EE-571B13C336F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474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C1C9-4DF8-4F88-94EE-571B13C336F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2165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C1C9-4DF8-4F88-94EE-571B13C336F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781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C1C9-4DF8-4F88-94EE-571B13C336F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357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C1C9-4DF8-4F88-94EE-571B13C336F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74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C1C9-4DF8-4F88-94EE-571B13C336F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159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C1C9-4DF8-4F88-94EE-571B13C336F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6068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C1C9-4DF8-4F88-94EE-571B13C336F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528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C1C9-4DF8-4F88-94EE-571B13C336F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4302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C1C9-4DF8-4F88-94EE-571B13C336F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027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C1C9-4DF8-4F88-94EE-571B13C336F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0143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C1C9-4DF8-4F88-94EE-571B13C336F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511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C1C9-4DF8-4F88-94EE-571B13C336F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9574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C1C9-4DF8-4F88-94EE-571B13C336F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1921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C1C9-4DF8-4F88-94EE-571B13C336F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8692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C1C9-4DF8-4F88-94EE-571B13C336F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8730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C1C9-4DF8-4F88-94EE-571B13C336F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453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C1C9-4DF8-4F88-94EE-571B13C336F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4179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5AC1C9-4DF8-4F88-94EE-571B13C336F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617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56D6-F195-48D7-978E-7EE16D430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6946" y="1104900"/>
            <a:ext cx="8376514" cy="3120504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72F42-5C88-4F7D-803B-C371B570D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8039" y="4442385"/>
            <a:ext cx="6074328" cy="98402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i="0" spc="16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384F3-2D6A-49F6-8F79-F3955E904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259A-1FE3-4FF9-8A07-BDD8177164ED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63F32-CD31-4801-BAE4-09EEB126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5D34C-49ED-4ADB-8693-73B790764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766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B333-9E16-4502-96B5-3F586B7E0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D0795-5EC7-4FF8-9FC7-22AFA3C55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2DA5B-9862-4A23-8FEC-5C1ABC2EEF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506456" y="5074920"/>
            <a:ext cx="2647667" cy="365125"/>
          </a:xfrm>
        </p:spPr>
        <p:txBody>
          <a:bodyPr/>
          <a:lstStyle/>
          <a:p>
            <a:fld id="{5D340FED-6E95-4177-A7EF-CD303B9E611D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D9A4B-0DA7-46BB-9DCE-3F26075C4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51592" y="1408176"/>
            <a:ext cx="27704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7C47-81AC-431C-A7C3-2BC71AD1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8016" y="3136392"/>
            <a:ext cx="545911" cy="580029"/>
          </a:xfrm>
        </p:spPr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119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D2E47-4DC7-46C4-9407-FA4CF7E0A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13" y="1709738"/>
            <a:ext cx="9087774" cy="3438524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7B502-122E-4177-A408-FC436A254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2513" y="5148262"/>
            <a:ext cx="8844522" cy="113823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29696-2AEF-4765-B33E-7DA328E4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962CB-39AD-45A9-800F-54DAB53D6021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9B2E4-2F1C-4FEE-AAB2-4FCC3EEFD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7D4B8-E107-480A-AA17-261CA49B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511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8BAE8-3305-4F08-BECB-56AD7FD4E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021AC-6D8D-4D24-8B01-8AE8F41BE4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0878" y="1825624"/>
            <a:ext cx="4473622" cy="4460875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02920">
              <a:defRPr/>
            </a:lvl3pPr>
            <a:lvl4pPr marL="548640" indent="0">
              <a:buFontTx/>
              <a:buNone/>
              <a:defRPr/>
            </a:lvl4pPr>
            <a:lvl5pPr marL="7315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7F49C-3DB3-40B7-89B3-E3BC32FC1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44540" y="1825624"/>
            <a:ext cx="5016943" cy="4460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33D58-BDF5-4F1F-806B-0491CB362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DF93D-55AB-4606-B9D7-742F1FC51983}" type="datetime4">
              <a:rPr lang="en-US" smtClean="0"/>
              <a:t>February 26,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BCBFD-1FE1-441A-B3AF-C3E7E7B8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CE272-E6FB-455B-BACB-2471D66D9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681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3A4FB-9EF5-4D6C-A275-2DE1077A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1563" y="1835219"/>
            <a:ext cx="445293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9972A-4D34-4A9F-84EB-8D64A703B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1562" y="2717801"/>
            <a:ext cx="4452938" cy="3559452"/>
          </a:xfrm>
        </p:spPr>
        <p:txBody>
          <a:bodyPr/>
          <a:lstStyle>
            <a:lvl2pPr marL="274320" indent="0">
              <a:buFontTx/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BDDE3-C8D7-4600-8259-24E1F8118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44540" y="1835219"/>
            <a:ext cx="5016943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649FFF-44C7-4256-AFE1-C5457C7AB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44540" y="2717800"/>
            <a:ext cx="5016943" cy="3559453"/>
          </a:xfrm>
        </p:spPr>
        <p:txBody>
          <a:bodyPr/>
          <a:lstStyle>
            <a:lvl2pPr marL="457200" indent="0">
              <a:buNone/>
              <a:defRPr/>
            </a:lvl2pPr>
            <a:lvl3pPr marL="548640">
              <a:defRPr/>
            </a:lvl3pPr>
            <a:lvl4pPr marL="594360" indent="0">
              <a:buFontTx/>
              <a:buNone/>
              <a:defRPr/>
            </a:lvl4pPr>
            <a:lvl5pPr marL="82296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EC6ACF-080E-4B7C-B0C0-77E90C16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841D-FB5C-47AB-B2FF-32E855C1EA71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A68C0B-BC90-4ADA-B6E6-2B30BFF9E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BCE559-C82B-4E27-965B-4AC3C66F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3752B99E-38EC-4745-889B-124D3475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95517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E7304-D393-47F0-ACCC-1F72EFCC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37E9-D174-424D-BEE8-AFC4CA5F9F97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8451FF-032D-4787-BA4B-5EB41549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7511D-7256-4A08-BF62-3B3F821A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3FCDA27-1C47-4EA1-A160-EC91FD88B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6125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DE8ADA-7BF8-433A-8770-61C690F3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44C0-F7AC-49C2-8289-1E7A86D9FB50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357B86-EC22-49C6-BBC6-639D57D1A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3764B-CF91-4C81-B4C3-5B5E5A97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406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E4801-B0C7-4458-B413-24D6E68F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33" y="457200"/>
            <a:ext cx="4170355" cy="191750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A0C76-733A-488A-89FB-7D04FD64B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1637" y="457200"/>
            <a:ext cx="5562601" cy="5943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5B9DE-016A-4B31-BB52-99C76E28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3633" y="2374708"/>
            <a:ext cx="4170355" cy="40260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D6CC3-66DD-4D9A-A9C7-F588BA8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B84BC-6E78-40D1-8831-40AB1F596614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59FC8-04EF-4F7D-8E43-4EE0E95DA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1C964-4227-4DEE-87A1-026162DD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513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EB4E-D4BB-4C86-A820-63474E5A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038" y="457199"/>
            <a:ext cx="3913241" cy="192881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FA99A1-8FAF-415D-A399-1B2C2A0F23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57752" y="457200"/>
            <a:ext cx="6110288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15BEE-9915-4637-85A2-2AF2872C7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2038" y="2386013"/>
            <a:ext cx="3913241" cy="40147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3427C-3B67-4ED4-925D-04B9C09AA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A080F-3961-4D42-BEDE-84A1FED032F1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5DAFD-22DE-4E9E-9C72-B16C1F27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8EE99-49CC-4A30-8ADA-39EFD8DA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522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171A2-02C1-4543-8B6B-FCF7E6971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50879" y="1825625"/>
            <a:ext cx="9810604" cy="45166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5027C-A386-44E4-AFE1-33AFFDA3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3C8F-D4A7-4EAD-92AD-82C91CB8BB85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BF710-0558-4457-825D-48713CAED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7F93D-5DC3-4C36-AEB0-79CDB15C3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7CFC0C8-11FE-4003-B2D6-B7B8E2790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52676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B41C5-3638-439D-BA61-4DAA14222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464025"/>
            <a:ext cx="2161540" cy="58002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B91A0-A376-483C-926E-189F376E5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64023"/>
            <a:ext cx="7886700" cy="58002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134E-B7D5-4664-BB2E-6A98ED630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1D41-E33C-4BC7-8272-37E8417FD097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54E2A-B1CE-4F2E-9D9A-D47E514D5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7C304-46A8-4179-87A2-B8CC10B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052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../theme/media/image10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customXml" Target="../ink/ink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erson in a dark room&#10;&#10;Description automatically generated">
            <a:extLst>
              <a:ext uri="{FF2B5EF4-FFF2-40B4-BE49-F238E27FC236}">
                <a16:creationId xmlns:a16="http://schemas.microsoft.com/office/drawing/2014/main" id="{DEB2E8C4-C3E7-4048-A43D-9859510CFA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744" y="0"/>
            <a:ext cx="1286256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BD2E1-C16B-4996-869C-DD03823A8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9810604" cy="1216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4DB6A-ED8E-4755-BC7A-B7AA65244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0879" y="1825624"/>
            <a:ext cx="9810604" cy="4428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CE27-B558-4B88-ACE3-B70423127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09243" y="5071825"/>
            <a:ext cx="2647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A33960BD-7AC1-4217-9611-AAA56D3EE38F}" type="datetime4">
              <a:rPr lang="en-US" smtClean="0"/>
              <a:pPr/>
              <a:t>February 26, 2026</a:t>
            </a:fld>
            <a:endParaRPr lang="en-US" dirty="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E5D61-F203-4F00-9CF1-AB0AE4937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47827" y="1407402"/>
            <a:ext cx="277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38BD-5F38-4F6E-B5DD-EB1AF0600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0121" y="3138985"/>
            <a:ext cx="545911" cy="5800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9D4AEF59-F28E-467C-9EA3-92D1CFAD475A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14:cNvPr>
              <p14:cNvContentPartPr/>
              <p14:nvPr/>
            </p14:nvContentPartPr>
            <p14:xfrm>
              <a:off x="12490710" y="63426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4D29CCB-7956-4E3E-8880-304085F04BF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482070" y="633365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6635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2800" kern="1200" cap="all" spc="600" baseline="0">
          <a:solidFill>
            <a:schemeClr val="tx1">
              <a:lumMod val="85000"/>
              <a:lumOff val="15000"/>
            </a:schemeClr>
          </a:solidFill>
          <a:latin typeface="+mj-lt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1pPr>
      <a:lvl2pPr marL="274320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8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2pPr>
      <a:lvl3pPr marL="605790" indent="-28575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3pPr>
      <a:lvl4pPr marL="630936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4pPr>
      <a:lvl5pPr marL="82296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 spc="50" baseline="0">
          <a:solidFill>
            <a:schemeClr val="tx1">
              <a:lumMod val="85000"/>
              <a:lumOff val="15000"/>
            </a:schemeClr>
          </a:solidFill>
          <a:latin typeface="+mn-lt"/>
          <a:ea typeface="Batang" panose="02030600000101010101" pitchFamily="18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4032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pos="456">
          <p15:clr>
            <a:srgbClr val="F26B43"/>
          </p15:clr>
        </p15:guide>
        <p15:guide id="6" pos="7224">
          <p15:clr>
            <a:srgbClr val="F26B43"/>
          </p15:clr>
        </p15:guide>
        <p15:guide id="7" orient="horz" pos="3960">
          <p15:clr>
            <a:srgbClr val="F26B43"/>
          </p15:clr>
        </p15:guide>
        <p15:guide id="8" orient="horz" pos="696">
          <p15:clr>
            <a:srgbClr val="F26B43"/>
          </p15:clr>
        </p15:guide>
        <p15:guide id="9" orient="horz" pos="864">
          <p15:clr>
            <a:srgbClr val="F26B43"/>
          </p15:clr>
        </p15:guide>
        <p15:guide id="10" orient="horz" pos="3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0BBF0-7EAD-8659-66F0-2C7F5166A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901" y="1494971"/>
            <a:ext cx="7455293" cy="1413320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Labour</a:t>
            </a:r>
            <a:r>
              <a:rPr lang="en-US" sz="3200" b="1" dirty="0"/>
              <a:t> Force Survey 2022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219FEB-4C7D-DC9A-6870-A9BD73BF8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9866" y="4557486"/>
            <a:ext cx="6074328" cy="1724181"/>
          </a:xfrm>
        </p:spPr>
        <p:txBody>
          <a:bodyPr>
            <a:noAutofit/>
          </a:bodyPr>
          <a:lstStyle/>
          <a:p>
            <a:pPr algn="r"/>
            <a:r>
              <a:rPr lang="en-US" sz="3200" dirty="0" err="1"/>
              <a:t>Mubasir</a:t>
            </a:r>
            <a:r>
              <a:rPr lang="en-US" sz="3200" dirty="0"/>
              <a:t> Hossain (956)</a:t>
            </a:r>
          </a:p>
          <a:p>
            <a:pPr algn="r"/>
            <a:r>
              <a:rPr lang="en-US" sz="3200" dirty="0"/>
              <a:t>Reyad Hasan (960)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9700F4-77A9-CA98-8E8C-8CA0EAC67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431" y="0"/>
            <a:ext cx="3839570" cy="686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045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8B34-A40B-3589-7C08-D894D4B34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1524214"/>
            <a:ext cx="9810604" cy="1216024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01551-0960-081C-AE4E-4E95306FB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2740238"/>
            <a:ext cx="9810604" cy="3469707"/>
          </a:xfrm>
        </p:spPr>
        <p:txBody>
          <a:bodyPr/>
          <a:lstStyle/>
          <a:p>
            <a:r>
              <a:rPr lang="en-US" dirty="0" err="1"/>
              <a:t>Labour</a:t>
            </a:r>
            <a:r>
              <a:rPr lang="en-US" dirty="0"/>
              <a:t> Force Survey (LFS) 2022 conducted by BBS</a:t>
            </a:r>
          </a:p>
          <a:p>
            <a:r>
              <a:rPr lang="en-US" dirty="0"/>
              <a:t>Provides updated </a:t>
            </a:r>
            <a:r>
              <a:rPr lang="en-US" dirty="0" err="1"/>
              <a:t>labour</a:t>
            </a:r>
            <a:r>
              <a:rPr lang="en-US" dirty="0"/>
              <a:t> market statistics</a:t>
            </a:r>
          </a:p>
          <a:p>
            <a:r>
              <a:rPr lang="en-US" dirty="0"/>
              <a:t>Follows international standards (ILO concepts)</a:t>
            </a:r>
          </a:p>
          <a:p>
            <a:r>
              <a:rPr lang="en-US" dirty="0"/>
              <a:t>Covers employment, unemployment, </a:t>
            </a:r>
            <a:r>
              <a:rPr lang="en-US" dirty="0" err="1"/>
              <a:t>labour</a:t>
            </a:r>
            <a:r>
              <a:rPr lang="en-US" dirty="0"/>
              <a:t> participation, etc.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79D25D-179E-D687-07B6-92CFB7E1730B}"/>
              </a:ext>
            </a:extLst>
          </p:cNvPr>
          <p:cNvSpPr txBox="1"/>
          <p:nvPr/>
        </p:nvSpPr>
        <p:spPr>
          <a:xfrm>
            <a:off x="1050879" y="627797"/>
            <a:ext cx="81477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Chapter 1: Introduction</a:t>
            </a:r>
            <a:endParaRPr lang="en-US" sz="3200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966282-D13C-5A0A-6B38-1C3C356CA7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96" t="2943" r="4874" b="3712"/>
          <a:stretch>
            <a:fillRect/>
          </a:stretch>
        </p:blipFill>
        <p:spPr>
          <a:xfrm>
            <a:off x="8297839" y="846161"/>
            <a:ext cx="3370997" cy="340523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93814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D7945-3B83-2C61-C572-2099BB7E9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of the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E8FD6-D282-D1BE-6FE5-B110D10FD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Measure </a:t>
            </a:r>
            <a:r>
              <a:rPr lang="en-US" dirty="0" err="1"/>
              <a:t>labour</a:t>
            </a:r>
            <a:r>
              <a:rPr lang="en-US" dirty="0"/>
              <a:t> force size and structure</a:t>
            </a:r>
          </a:p>
          <a:p>
            <a:r>
              <a:rPr lang="en-US" dirty="0"/>
              <a:t>Estimate employment and unemployment</a:t>
            </a:r>
          </a:p>
          <a:p>
            <a:r>
              <a:rPr lang="en-US" dirty="0"/>
              <a:t>Assess informal employment</a:t>
            </a:r>
          </a:p>
          <a:p>
            <a:r>
              <a:rPr lang="en-US" dirty="0"/>
              <a:t>Measure </a:t>
            </a:r>
            <a:r>
              <a:rPr lang="en-US" dirty="0" err="1"/>
              <a:t>labour</a:t>
            </a:r>
            <a:r>
              <a:rPr lang="en-US" dirty="0"/>
              <a:t> underutilization</a:t>
            </a:r>
          </a:p>
          <a:p>
            <a:r>
              <a:rPr lang="en-US" dirty="0"/>
              <a:t>Provide data for policy formulation</a:t>
            </a:r>
          </a:p>
        </p:txBody>
      </p:sp>
    </p:spTree>
    <p:extLst>
      <p:ext uri="{BB962C8B-B14F-4D97-AF65-F5344CB8AC3E}">
        <p14:creationId xmlns:p14="http://schemas.microsoft.com/office/powerpoint/2010/main" val="989495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AE48E-5D88-9FBE-DBFF-5EBF745B8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 and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29ADE-D9BF-DAF8-825E-AFE2FBDC7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Working-age population (15+)</a:t>
            </a:r>
          </a:p>
          <a:p>
            <a:r>
              <a:rPr lang="en-US" dirty="0" err="1"/>
              <a:t>Labour</a:t>
            </a:r>
            <a:r>
              <a:rPr lang="en-US" dirty="0"/>
              <a:t> force</a:t>
            </a:r>
          </a:p>
          <a:p>
            <a:r>
              <a:rPr lang="en-US" dirty="0"/>
              <a:t>Employed</a:t>
            </a:r>
          </a:p>
          <a:p>
            <a:r>
              <a:rPr lang="en-US" dirty="0"/>
              <a:t>Unemployed</a:t>
            </a:r>
          </a:p>
          <a:p>
            <a:r>
              <a:rPr lang="en-US" dirty="0"/>
              <a:t>Outside </a:t>
            </a:r>
            <a:r>
              <a:rPr lang="en-US" dirty="0" err="1"/>
              <a:t>labour</a:t>
            </a:r>
            <a:r>
              <a:rPr lang="en-US" dirty="0"/>
              <a:t> force</a:t>
            </a:r>
          </a:p>
          <a:p>
            <a:r>
              <a:rPr lang="en-US" dirty="0"/>
              <a:t>Informal employment</a:t>
            </a:r>
          </a:p>
        </p:txBody>
      </p:sp>
    </p:spTree>
    <p:extLst>
      <p:ext uri="{BB962C8B-B14F-4D97-AF65-F5344CB8AC3E}">
        <p14:creationId xmlns:p14="http://schemas.microsoft.com/office/powerpoint/2010/main" val="1458851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5DEA3-1852-98A5-A4E5-E9E7A4505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Chapter 2: Survey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7C1A3-0E4B-CAFC-AA39-3723916F7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1637" y="2518116"/>
            <a:ext cx="5562601" cy="3882683"/>
          </a:xfrm>
        </p:spPr>
        <p:txBody>
          <a:bodyPr>
            <a:normAutofit/>
          </a:bodyPr>
          <a:lstStyle/>
          <a:p>
            <a:r>
              <a:rPr lang="en-US" sz="2000" dirty="0"/>
              <a:t>National coverage</a:t>
            </a:r>
          </a:p>
          <a:p>
            <a:r>
              <a:rPr lang="en-US" sz="2000" dirty="0"/>
              <a:t>Urban &amp; Rural areas</a:t>
            </a:r>
          </a:p>
          <a:p>
            <a:r>
              <a:rPr lang="en-US" sz="2000" dirty="0"/>
              <a:t>Quarterly data collection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55B1A-E727-810D-E915-25D3C0E35C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77759" y="759656"/>
            <a:ext cx="4170355" cy="91088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+mj-lt"/>
              </a:rPr>
              <a:t>Scope and Coverage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3A1EA8-A4D8-DAA1-44D1-A39FF150EB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65" r="1552"/>
          <a:stretch>
            <a:fillRect/>
          </a:stretch>
        </p:blipFill>
        <p:spPr>
          <a:xfrm>
            <a:off x="463132" y="2605409"/>
            <a:ext cx="3726731" cy="379539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58341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F705B-0AF9-2D96-7A24-50FBAB7F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Design &amp;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D472E-6D5E-7EAE-FA61-FDEAB0452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Two-stage stratified sampling</a:t>
            </a:r>
          </a:p>
          <a:p>
            <a:r>
              <a:rPr lang="en-US" dirty="0"/>
              <a:t>Nationally representative sample</a:t>
            </a:r>
          </a:p>
          <a:p>
            <a:r>
              <a:rPr lang="en-US" dirty="0"/>
              <a:t>Determined scientifically for accuracy</a:t>
            </a:r>
          </a:p>
        </p:txBody>
      </p:sp>
    </p:spTree>
    <p:extLst>
      <p:ext uri="{BB962C8B-B14F-4D97-AF65-F5344CB8AC3E}">
        <p14:creationId xmlns:p14="http://schemas.microsoft.com/office/powerpoint/2010/main" val="2632168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B9AB1-272C-56B6-E63D-5ED277E82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1AF4B-BDB8-4462-B0B7-95DFDC751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CAPI (Computer Assisted Personal Interviewing)</a:t>
            </a:r>
          </a:p>
          <a:p>
            <a:r>
              <a:rPr lang="en-US" dirty="0"/>
              <a:t>Structured questionnaire</a:t>
            </a:r>
          </a:p>
          <a:p>
            <a:r>
              <a:rPr lang="en-US" dirty="0"/>
              <a:t>Trained enumerators</a:t>
            </a:r>
          </a:p>
        </p:txBody>
      </p:sp>
    </p:spTree>
    <p:extLst>
      <p:ext uri="{BB962C8B-B14F-4D97-AF65-F5344CB8AC3E}">
        <p14:creationId xmlns:p14="http://schemas.microsoft.com/office/powerpoint/2010/main" val="2245370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B82F6-F2FF-364E-50A3-12FC47097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Quality &amp;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FA93F-A7DF-A7ED-7B38-0FE60BD7F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Monitoring &amp; supervision</a:t>
            </a:r>
          </a:p>
          <a:p>
            <a:r>
              <a:rPr lang="en-US" dirty="0"/>
              <a:t>Validation checks</a:t>
            </a:r>
          </a:p>
          <a:p>
            <a:r>
              <a:rPr lang="en-US" dirty="0"/>
              <a:t>Data cleaning &amp; processing</a:t>
            </a:r>
          </a:p>
        </p:txBody>
      </p:sp>
    </p:spTree>
    <p:extLst>
      <p:ext uri="{BB962C8B-B14F-4D97-AF65-F5344CB8AC3E}">
        <p14:creationId xmlns:p14="http://schemas.microsoft.com/office/powerpoint/2010/main" val="2290134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42B86-662A-A15F-B733-8FA79A2B0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696F3-9527-6FC8-4494-461E069FE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33" y="457200"/>
            <a:ext cx="4845848" cy="2736166"/>
          </a:xfrm>
        </p:spPr>
        <p:txBody>
          <a:bodyPr>
            <a:normAutofit fontScale="90000"/>
          </a:bodyPr>
          <a:lstStyle/>
          <a:p>
            <a:r>
              <a:rPr lang="en-US" dirty="0"/>
              <a:t>Chapter 3: Population &amp; Housing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F3603-5A3A-7CD6-F10F-258D549BF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4432" y="1440767"/>
            <a:ext cx="5562601" cy="1378634"/>
          </a:xfrm>
        </p:spPr>
        <p:txBody>
          <a:bodyPr>
            <a:normAutofit/>
          </a:bodyPr>
          <a:lstStyle/>
          <a:p>
            <a:r>
              <a:rPr lang="en-US" sz="2000" dirty="0"/>
              <a:t>Total population (2022): 169.87 million</a:t>
            </a:r>
          </a:p>
          <a:p>
            <a:r>
              <a:rPr lang="en-US" sz="2000" dirty="0"/>
              <a:t>Working-age population: 119.37 million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39C2E0-0CBF-1503-668F-026C8099C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77759" y="759656"/>
            <a:ext cx="4170355" cy="910883"/>
          </a:xfrm>
        </p:spPr>
        <p:txBody>
          <a:bodyPr>
            <a:normAutofit/>
          </a:bodyPr>
          <a:lstStyle/>
          <a:p>
            <a:r>
              <a:rPr lang="en-US" sz="2800" dirty="0"/>
              <a:t>Population Structure</a:t>
            </a:r>
            <a:endParaRPr lang="en-US" sz="2800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801D16-91C9-3C3D-5709-134FA0B597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6"/>
          <a:stretch>
            <a:fillRect/>
          </a:stretch>
        </p:blipFill>
        <p:spPr>
          <a:xfrm>
            <a:off x="504967" y="3238058"/>
            <a:ext cx="3402514" cy="31627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8CA6B4-7191-FC88-1156-BB581A95F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854" y="3235704"/>
            <a:ext cx="7763246" cy="31859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7038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06B3D-7FE3-A148-837D-085B0B4DB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Ratio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46E0B-2EF2-E9C8-AA88-20E0A850A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Measures economic burden</a:t>
            </a:r>
          </a:p>
          <a:p>
            <a:r>
              <a:rPr lang="en-US" dirty="0"/>
              <a:t>Youth and old-age dependents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3C7A9A-1B3C-BC50-899F-B107C767D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878" y="2766872"/>
            <a:ext cx="9861995" cy="37291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29298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D20CF-4C16-1874-A233-C1276DB0B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Housing &amp; Living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34146-D599-F26C-DAF3-1A9D4A9E4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1825624"/>
            <a:ext cx="1801178" cy="4428753"/>
          </a:xfrm>
        </p:spPr>
        <p:txBody>
          <a:bodyPr/>
          <a:lstStyle/>
          <a:p>
            <a:r>
              <a:rPr lang="en-US" dirty="0"/>
              <a:t>Electricity access</a:t>
            </a:r>
          </a:p>
          <a:p>
            <a:r>
              <a:rPr lang="en-US" dirty="0"/>
              <a:t>Cooking fuel sources</a:t>
            </a:r>
          </a:p>
          <a:p>
            <a:r>
              <a:rPr lang="en-US" dirty="0"/>
              <a:t>Sanitation facilities</a:t>
            </a:r>
          </a:p>
          <a:p>
            <a:r>
              <a:rPr lang="en-US" dirty="0"/>
              <a:t>Drinking water sources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047933-9B90-8857-1AD2-008422567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934" y="1825623"/>
            <a:ext cx="9223312" cy="16169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25D568-318E-B717-032E-86E1175ED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057" y="3849314"/>
            <a:ext cx="9223544" cy="160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729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8B7C-DDAE-F0C7-3FE3-D89750C43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Chapter 4: Education &amp; Vocational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EF71E-3FF2-F5A4-9B3E-053DE45D5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246" y="2648070"/>
            <a:ext cx="4170355" cy="2196885"/>
          </a:xfrm>
        </p:spPr>
        <p:txBody>
          <a:bodyPr>
            <a:normAutofit/>
          </a:bodyPr>
          <a:lstStyle/>
          <a:p>
            <a:r>
              <a:rPr lang="en-US" sz="2000" dirty="0"/>
              <a:t>Literacy rate (15+)</a:t>
            </a:r>
          </a:p>
          <a:p>
            <a:r>
              <a:rPr lang="en-US" sz="2000" dirty="0"/>
              <a:t>Male vs Female literacy</a:t>
            </a:r>
          </a:p>
          <a:p>
            <a:r>
              <a:rPr lang="en-US" sz="2000" dirty="0"/>
              <a:t>Urban vs Rural differences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E2EB8A-B20D-B5E9-5C6A-9F18AD9CD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0" y="934691"/>
            <a:ext cx="4170355" cy="962526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+mj-lt"/>
              </a:rPr>
              <a:t>Literacy Profile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376FEA-2726-9F92-A266-7DF15F80E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633" y="2374709"/>
            <a:ext cx="6203440" cy="40260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61480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F0157-E828-EB47-4C05-41D23D186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Educational Attainment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0F454-86FD-0FA3-8E81-C5ED5FCB5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1825625"/>
            <a:ext cx="1910685" cy="2953372"/>
          </a:xfrm>
        </p:spPr>
        <p:txBody>
          <a:bodyPr>
            <a:normAutofit fontScale="92500"/>
          </a:bodyPr>
          <a:lstStyle/>
          <a:p>
            <a:r>
              <a:rPr lang="en-US" dirty="0"/>
              <a:t>Primary, Secondary, Higher education levels</a:t>
            </a:r>
          </a:p>
          <a:p>
            <a:r>
              <a:rPr lang="en-US" dirty="0"/>
              <a:t>Education distribution of working-age population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1098C1-011A-4678-A739-12B43BABC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564" y="1759318"/>
            <a:ext cx="7642745" cy="2133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7E4F78-D5D9-2A07-97BD-74F7009AE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1564" y="3778732"/>
            <a:ext cx="7642745" cy="2584503"/>
          </a:xfrm>
          <a:prstGeom prst="roundRect">
            <a:avLst>
              <a:gd name="adj" fmla="val 67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72022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2BE8E-D9E0-69FF-367F-F91FB0AA5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Vocational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B5437-8378-8F76-5653-7E01F25C3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6879" y="2262352"/>
            <a:ext cx="5045121" cy="2104931"/>
          </a:xfrm>
        </p:spPr>
        <p:txBody>
          <a:bodyPr/>
          <a:lstStyle/>
          <a:p>
            <a:r>
              <a:rPr lang="en-US" dirty="0"/>
              <a:t>Percentage receiving training</a:t>
            </a:r>
          </a:p>
          <a:p>
            <a:r>
              <a:rPr lang="en-US" dirty="0"/>
              <a:t>Duration &amp; source of training</a:t>
            </a:r>
          </a:p>
          <a:p>
            <a:r>
              <a:rPr lang="en-US" dirty="0"/>
              <a:t>Gender differences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AA320A-147C-5E9F-D8A4-F7E9A61591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35" r="10702"/>
          <a:stretch>
            <a:fillRect/>
          </a:stretch>
        </p:blipFill>
        <p:spPr>
          <a:xfrm>
            <a:off x="827965" y="1825625"/>
            <a:ext cx="6318914" cy="39724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15859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212F3-FB7B-097F-FD77-D05AA2CF5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369" y="481263"/>
            <a:ext cx="4170355" cy="1917509"/>
          </a:xfrm>
        </p:spPr>
        <p:txBody>
          <a:bodyPr>
            <a:normAutofit fontScale="90000"/>
          </a:bodyPr>
          <a:lstStyle/>
          <a:p>
            <a:r>
              <a:rPr lang="en-US" dirty="0"/>
              <a:t>Chapter 5: Participation in </a:t>
            </a:r>
            <a:r>
              <a:rPr lang="en-US" dirty="0" err="1"/>
              <a:t>Labour</a:t>
            </a:r>
            <a:r>
              <a:rPr lang="en-US" dirty="0"/>
              <a:t> Market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94109-98E4-8E45-DEB1-26B44DF70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1637" y="457200"/>
            <a:ext cx="5562601" cy="14317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Working-Age Population</a:t>
            </a:r>
            <a:endParaRPr lang="en-US" sz="2400" dirty="0">
              <a:latin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B38AB6-DD71-87CB-EBAD-B0CB4BA40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99538" y="2374709"/>
            <a:ext cx="4170355" cy="402609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Population aged 15+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Male vs Female distribution</a:t>
            </a:r>
          </a:p>
        </p:txBody>
      </p:sp>
    </p:spTree>
    <p:extLst>
      <p:ext uri="{BB962C8B-B14F-4D97-AF65-F5344CB8AC3E}">
        <p14:creationId xmlns:p14="http://schemas.microsoft.com/office/powerpoint/2010/main" val="1496465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5A110-238D-E19E-A251-21DFA2FAA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609601"/>
            <a:ext cx="7833814" cy="1216024"/>
          </a:xfrm>
        </p:spPr>
        <p:txBody>
          <a:bodyPr/>
          <a:lstStyle/>
          <a:p>
            <a:r>
              <a:rPr lang="en-US" dirty="0" err="1"/>
              <a:t>Labour</a:t>
            </a:r>
            <a:r>
              <a:rPr lang="en-US" dirty="0"/>
              <a:t> Force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F9612-374B-4B3A-FA11-4D50548F7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</a:t>
            </a:r>
            <a:r>
              <a:rPr lang="en-US" dirty="0" err="1"/>
              <a:t>labour</a:t>
            </a:r>
            <a:r>
              <a:rPr lang="en-US" dirty="0"/>
              <a:t> force: 73.05 million</a:t>
            </a:r>
          </a:p>
          <a:p>
            <a:r>
              <a:rPr lang="en-US" dirty="0"/>
              <a:t>Male: 47.27 million</a:t>
            </a:r>
          </a:p>
          <a:p>
            <a:r>
              <a:rPr lang="en-US" dirty="0"/>
              <a:t>Female: 25.78 million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E9AF0A-1C3D-E9FB-5F72-5FC5195EF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517" y="3232325"/>
            <a:ext cx="6858140" cy="32277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99102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44987-5D50-EB44-056C-9DAE6BA70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Labour</a:t>
            </a:r>
            <a:r>
              <a:rPr lang="en-US" dirty="0"/>
              <a:t> Force Participation Rate (LFPR)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A69F8-4B87-7A67-D56D-C281196EB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6897" y="1825625"/>
            <a:ext cx="3248166" cy="2173170"/>
          </a:xfrm>
        </p:spPr>
        <p:txBody>
          <a:bodyPr/>
          <a:lstStyle/>
          <a:p>
            <a:r>
              <a:rPr lang="en-US" dirty="0"/>
              <a:t>Overall LFPR: 61.2%</a:t>
            </a:r>
          </a:p>
          <a:p>
            <a:r>
              <a:rPr lang="en-US" dirty="0"/>
              <a:t>Male LFPR: 80%</a:t>
            </a:r>
          </a:p>
          <a:p>
            <a:r>
              <a:rPr lang="en-US" dirty="0"/>
              <a:t>Female LFPR: 42.77%</a:t>
            </a:r>
          </a:p>
          <a:p>
            <a:r>
              <a:rPr lang="en-US" dirty="0"/>
              <a:t>Rural vs Urban variation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1C1C3C-4293-8A75-4A66-E54B11071D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72" r="5910"/>
          <a:stretch>
            <a:fillRect/>
          </a:stretch>
        </p:blipFill>
        <p:spPr>
          <a:xfrm>
            <a:off x="1050879" y="1922055"/>
            <a:ext cx="7206018" cy="41534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06955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E5521-AFDE-9C2C-C928-E198F4ECA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33" y="457200"/>
            <a:ext cx="4170355" cy="1767385"/>
          </a:xfrm>
        </p:spPr>
        <p:txBody>
          <a:bodyPr/>
          <a:lstStyle/>
          <a:p>
            <a:r>
              <a:rPr lang="en-US" dirty="0"/>
              <a:t>Chapter 6: Employment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8F845-660F-6320-FEDE-B8D745EE9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1637" y="1364776"/>
            <a:ext cx="5562601" cy="85980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+mj-lt"/>
              </a:rPr>
              <a:t>Employment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1F68EB-E067-5749-D85B-802A08FCF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1637" y="2224585"/>
            <a:ext cx="4170355" cy="390325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Employed population: 70.47 million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Growth trend from previous surveys</a:t>
            </a:r>
          </a:p>
        </p:txBody>
      </p:sp>
    </p:spTree>
    <p:extLst>
      <p:ext uri="{BB962C8B-B14F-4D97-AF65-F5344CB8AC3E}">
        <p14:creationId xmlns:p14="http://schemas.microsoft.com/office/powerpoint/2010/main" val="2163981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D5D02-99A5-83E5-2122-FAC948F6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Employment by Sector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E2D65-4D6E-8AF6-A56F-79E8F17CD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Agriculture: 45.4%</a:t>
            </a:r>
          </a:p>
          <a:p>
            <a:r>
              <a:rPr lang="en-US" dirty="0"/>
              <a:t>Industry: 17%</a:t>
            </a:r>
          </a:p>
          <a:p>
            <a:r>
              <a:rPr lang="en-US" dirty="0"/>
              <a:t>Services: 37.6%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716D7F-A341-A912-4488-CB0DAB1622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9" t="13430" r="1141" b="3248"/>
          <a:stretch>
            <a:fillRect/>
          </a:stretch>
        </p:blipFill>
        <p:spPr>
          <a:xfrm>
            <a:off x="6095999" y="2333766"/>
            <a:ext cx="5332717" cy="36030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22048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48D5-EFF6-EA9C-6C86-56BFABB06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Employment by literacy and educational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2B7EA2-0C70-D0C4-E675-C2753442B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879" y="1992955"/>
            <a:ext cx="9147506" cy="39847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610632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813F-4B73-C1D6-C70B-E33BA296B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Employment by 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0AF47-295E-DA60-3A6B-DCF07BEB1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Employees</a:t>
            </a:r>
          </a:p>
          <a:p>
            <a:r>
              <a:rPr lang="en-US" dirty="0"/>
              <a:t>Own-account workers</a:t>
            </a:r>
          </a:p>
          <a:p>
            <a:r>
              <a:rPr lang="en-US" dirty="0"/>
              <a:t>Contributing family workers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6515F6-279F-B23B-3753-79281AF35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374" y="1825623"/>
            <a:ext cx="6287377" cy="33723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66633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3DA41-E583-AFD4-C1A1-3BA852AD4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7: Informal Employment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DF3C0-2B80-44DD-E599-B61DC8413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1637" y="996286"/>
            <a:ext cx="5562601" cy="137842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Informal Employment Overview</a:t>
            </a:r>
            <a:endParaRPr lang="en-US" dirty="0">
              <a:latin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5762DB-29DD-D88C-4031-57C6DA819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262937" y="2690530"/>
            <a:ext cx="3657601" cy="214270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Major share of employment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Higher in rural areas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7716AC-B084-5397-ABB0-830BAFCC8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735" y="2690530"/>
            <a:ext cx="6945995" cy="31711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990164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0F638-CC3F-040B-2DBA-4E5798C91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Informal Employment by Gender &amp; Sector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2BEF5-2B97-5B7C-CA73-97A8CB3FF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Male vs Female comparison</a:t>
            </a:r>
          </a:p>
          <a:p>
            <a:r>
              <a:rPr lang="en-US" dirty="0"/>
              <a:t>Sectoral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50603A-4106-53A1-E7A7-1B06D47CF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879" y="2697713"/>
            <a:ext cx="6400799" cy="34913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836715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754ED-5A9C-34C0-BA7E-1F1581ADE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61453-3818-1FDD-1BE3-FFDA2ECB1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33" y="457200"/>
            <a:ext cx="4695722" cy="1917509"/>
          </a:xfrm>
        </p:spPr>
        <p:txBody>
          <a:bodyPr/>
          <a:lstStyle/>
          <a:p>
            <a:r>
              <a:rPr lang="en-US" dirty="0"/>
              <a:t>Chapter 8: Unemployment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80EBC-5066-8F93-6B52-841F50883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9355" y="996286"/>
            <a:ext cx="5284883" cy="137842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Unemployment Overview</a:t>
            </a:r>
            <a:endParaRPr lang="en-US" dirty="0">
              <a:latin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3FEAD6-FDEA-15EE-F51E-9CAEC5DFD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1637" y="2647663"/>
            <a:ext cx="4972548" cy="402609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Total unemployed: 2.58 million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National unemployment rate: 3.53%</a:t>
            </a:r>
          </a:p>
        </p:txBody>
      </p:sp>
    </p:spTree>
    <p:extLst>
      <p:ext uri="{BB962C8B-B14F-4D97-AF65-F5344CB8AC3E}">
        <p14:creationId xmlns:p14="http://schemas.microsoft.com/office/powerpoint/2010/main" val="27634267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859A5-B171-6CCF-420E-FF6E75D5F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Unemployment by Gender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4D156-EBFB-6BED-25C3-3F90C1527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2369517"/>
            <a:ext cx="2429300" cy="2978388"/>
          </a:xfrm>
        </p:spPr>
        <p:txBody>
          <a:bodyPr/>
          <a:lstStyle/>
          <a:p>
            <a:r>
              <a:rPr lang="en-US" dirty="0"/>
              <a:t>Male: 3.50%</a:t>
            </a:r>
          </a:p>
          <a:p>
            <a:r>
              <a:rPr lang="en-US" dirty="0"/>
              <a:t>Female: 3.59%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0E9CF2-47E5-7F63-12A9-959824ED8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514" y="1985363"/>
            <a:ext cx="6625739" cy="374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6755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B56B9-E28B-7FAF-4454-2B28CAF19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Search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F3B5E-D683-6D96-1157-CD0744694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1825624"/>
            <a:ext cx="2552130" cy="4428753"/>
          </a:xfrm>
        </p:spPr>
        <p:txBody>
          <a:bodyPr/>
          <a:lstStyle/>
          <a:p>
            <a:r>
              <a:rPr lang="en-US" dirty="0"/>
              <a:t>Applications</a:t>
            </a:r>
          </a:p>
          <a:p>
            <a:r>
              <a:rPr lang="en-US" dirty="0"/>
              <a:t>Informal networks</a:t>
            </a:r>
          </a:p>
          <a:p>
            <a:r>
              <a:rPr lang="en-US" dirty="0"/>
              <a:t>Self-employment attempts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66CC85-C328-7574-C16D-0729F2A08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839" y="1634602"/>
            <a:ext cx="7693124" cy="48107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804179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7C143-E27F-39D2-3243-979921A43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trends of the unemployment rate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72FC01-AE71-B462-CA37-C8DB671D3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118" y="1825625"/>
            <a:ext cx="8867763" cy="45484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200411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3A7EB-5032-C226-C051-2EE049362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17B52-4ADE-831B-74A1-DE9A09089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15" y="457198"/>
            <a:ext cx="4695722" cy="1917509"/>
          </a:xfrm>
        </p:spPr>
        <p:txBody>
          <a:bodyPr>
            <a:normAutofit fontScale="90000"/>
          </a:bodyPr>
          <a:lstStyle/>
          <a:p>
            <a:r>
              <a:rPr lang="en-US" dirty="0"/>
              <a:t>Chapter 9: Youth Employment &amp; Unemployment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92800-8718-7ED5-C843-A46503017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1637" y="996286"/>
            <a:ext cx="5562601" cy="137842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Youth </a:t>
            </a:r>
            <a:r>
              <a:rPr lang="en-US" dirty="0" err="1"/>
              <a:t>Labour</a:t>
            </a:r>
            <a:r>
              <a:rPr lang="en-US" dirty="0"/>
              <a:t> Force (15–29)</a:t>
            </a:r>
            <a:endParaRPr lang="en-US" dirty="0">
              <a:latin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04BAA0-72C3-9B92-9234-64ADB81F1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59134" y="1685496"/>
            <a:ext cx="4972548" cy="307947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Total youth </a:t>
            </a:r>
            <a:r>
              <a:rPr lang="en-US" sz="2000" dirty="0" err="1"/>
              <a:t>labour</a:t>
            </a:r>
            <a:r>
              <a:rPr lang="en-US" sz="2000" dirty="0"/>
              <a:t> force: 26.82 million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7F79E9-DB00-7635-5977-8CB45B05F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277" y="2374707"/>
            <a:ext cx="8518082" cy="40605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359893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984AB-6D80-0116-C2AB-85EF53CFD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Youth Unemployment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AFC67-0C5B-2275-DCF0-290AEA5ED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9" y="3165740"/>
            <a:ext cx="3684894" cy="1216024"/>
          </a:xfrm>
        </p:spPr>
        <p:txBody>
          <a:bodyPr/>
          <a:lstStyle/>
          <a:p>
            <a:r>
              <a:rPr lang="en-US" dirty="0"/>
              <a:t>Higher than national average</a:t>
            </a:r>
          </a:p>
          <a:p>
            <a:r>
              <a:rPr lang="en-US" dirty="0"/>
              <a:t>Educated youth more affected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AC66C6-0A43-5E24-0A55-247C72D6E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024" y="1602775"/>
            <a:ext cx="6740394" cy="4982270"/>
          </a:xfrm>
          <a:prstGeom prst="roundRect">
            <a:avLst>
              <a:gd name="adj" fmla="val 8868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312839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F088F-11B0-5CE9-AB57-3D19A68BC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344344"/>
            <a:ext cx="5045121" cy="1216024"/>
          </a:xfrm>
        </p:spPr>
        <p:txBody>
          <a:bodyPr/>
          <a:lstStyle/>
          <a:p>
            <a:r>
              <a:rPr lang="en-US" dirty="0"/>
              <a:t>NEET Youth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04F3B-BC8C-21CC-CC0B-63C581343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8" y="1333256"/>
            <a:ext cx="5045121" cy="3372320"/>
          </a:xfrm>
        </p:spPr>
        <p:txBody>
          <a:bodyPr/>
          <a:lstStyle/>
          <a:p>
            <a:r>
              <a:rPr lang="en-US" dirty="0"/>
              <a:t>Not in Education, Employment, or Training</a:t>
            </a:r>
          </a:p>
          <a:p>
            <a:r>
              <a:rPr lang="en-US" dirty="0"/>
              <a:t>Higher proportion among females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B46854-CAD9-5550-40F0-B08D5C53DD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4" r="3252" b="4615"/>
          <a:stretch>
            <a:fillRect/>
          </a:stretch>
        </p:blipFill>
        <p:spPr>
          <a:xfrm>
            <a:off x="8209717" y="344344"/>
            <a:ext cx="3725839" cy="34219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2B0FC5-D311-671C-F1E3-7FC04145F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567" y="2838431"/>
            <a:ext cx="7789150" cy="3844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32898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A0BEA-BFAF-DBDF-E933-7BADA8E56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63216-3CD6-2B89-77C7-C1DF7DC64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03" y="614118"/>
            <a:ext cx="8546622" cy="964868"/>
          </a:xfrm>
        </p:spPr>
        <p:txBody>
          <a:bodyPr>
            <a:noAutofit/>
          </a:bodyPr>
          <a:lstStyle/>
          <a:p>
            <a:r>
              <a:rPr lang="en-US" b="1" dirty="0"/>
              <a:t>Chapter 10: Working Hours &amp; 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73671-1B98-82B1-1D02-657A68C16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954" y="1578986"/>
            <a:ext cx="2748549" cy="57060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Hours: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758073-167A-0287-46C8-4522B3F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86990" y="1578986"/>
            <a:ext cx="4972548" cy="96486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weekly working hours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Sector-wise differences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7CC259-DBDE-CC9F-BF18-A9C6872E6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919" y="2594870"/>
            <a:ext cx="8053591" cy="39329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1DE915-9CB1-4231-BFA1-735C41A73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063" y="-65988"/>
            <a:ext cx="3377938" cy="291761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771844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BC31E-2E23-1BC9-163D-36FC73364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9" y="411638"/>
            <a:ext cx="2797790" cy="634737"/>
          </a:xfrm>
        </p:spPr>
        <p:txBody>
          <a:bodyPr/>
          <a:lstStyle/>
          <a:p>
            <a:r>
              <a:rPr lang="en-US" b="1" dirty="0"/>
              <a:t>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CF395-218D-8AF4-B5AD-877873699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030" y="1230170"/>
            <a:ext cx="3816799" cy="1421333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monthly income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 by occupation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 by age group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2BD972-0020-759B-F512-EBF65DC15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498" y="729006"/>
            <a:ext cx="6881005" cy="2200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BE1D61-E2BA-5DDA-08C9-406D32EBE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692" y="3274400"/>
            <a:ext cx="7899636" cy="3304525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556698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3D13B-66FD-CCAB-F1B2-EBC69C862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D22C2-2B13-6559-A502-D52F97883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132" y="419724"/>
            <a:ext cx="10996354" cy="116022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Chapter 11: Quality, stability, Social Security and safety of works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26909B-33CF-21F3-22BC-9C8DA764F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5915" y="1858136"/>
            <a:ext cx="4813607" cy="94162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types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Permanent vs Temporary work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863BA0-58A3-D516-7B82-1D3631EE9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131" y="3214302"/>
            <a:ext cx="8717157" cy="3030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FE5AA8-1367-43CC-A9E4-B3F698F700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23" t="1409" b="4468"/>
          <a:stretch/>
        </p:blipFill>
        <p:spPr>
          <a:xfrm>
            <a:off x="8994098" y="1157596"/>
            <a:ext cx="3117162" cy="303096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789401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5278-7A36-56C9-D1F7-2A127BB0F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683" y="549025"/>
            <a:ext cx="5664714" cy="679553"/>
          </a:xfrm>
        </p:spPr>
        <p:txBody>
          <a:bodyPr/>
          <a:lstStyle/>
          <a:p>
            <a:r>
              <a:rPr lang="en-US" b="1" dirty="0"/>
              <a:t>Social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F7812-6254-72F6-1B8B-88A41CF4C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145" y="1228578"/>
            <a:ext cx="2441819" cy="977537"/>
          </a:xfrm>
        </p:spPr>
        <p:txBody>
          <a:bodyPr>
            <a:normAutofit fontScale="925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Pension coverage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Sick leave benefits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740ABC-E420-DC80-BF74-C68E21EA4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962" y="1427517"/>
            <a:ext cx="8368697" cy="2448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0FE7D1-FB6D-D7F3-BB81-D03764964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45" y="4074723"/>
            <a:ext cx="8394265" cy="2429214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460894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76ACE-F1D8-349F-39C7-EE69F7EBF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184" y="561804"/>
            <a:ext cx="6039468" cy="712359"/>
          </a:xfrm>
        </p:spPr>
        <p:txBody>
          <a:bodyPr/>
          <a:lstStyle/>
          <a:p>
            <a:r>
              <a:rPr lang="en-US" b="1" dirty="0"/>
              <a:t>Occupational Safety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20FC8-AB90-9A9E-474B-8B491C569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106" y="1329072"/>
            <a:ext cx="2621711" cy="827635"/>
          </a:xfrm>
        </p:spPr>
        <p:txBody>
          <a:bodyPr>
            <a:normAutofit fontScale="925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Injury rates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Workplace hazards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3CB182-9EEF-408C-8DBE-7D25CA0C5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00" y="2578308"/>
            <a:ext cx="5851199" cy="40173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44FCC6-3DFF-418B-89AA-053D9A0FD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162" y="2683567"/>
            <a:ext cx="5849770" cy="36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9406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C6B59-F049-FB27-66D5-9F82E0E7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F16A6-0C90-08F7-6875-BF0A48A21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89" y="480767"/>
            <a:ext cx="6683563" cy="891173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Chapter 12:</a:t>
            </a:r>
            <a:br>
              <a:rPr lang="en-US" sz="2800" b="1" dirty="0"/>
            </a:br>
            <a:r>
              <a:rPr lang="en-US" sz="2800" b="1" dirty="0"/>
              <a:t>Labour Underutilization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BAE164-9C8E-C570-0B10-C120F1E7DB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5165" y="1581173"/>
            <a:ext cx="4110330" cy="1351057"/>
          </a:xfrm>
        </p:spPr>
        <p:txBody>
          <a:bodyPr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Time-related underemployment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unemployment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labour force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B6CCA3-5DE9-461B-AE9B-ABF5AAD34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940" y="209003"/>
            <a:ext cx="2908530" cy="2826428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F4D86B-8B50-4FAE-9463-4290D7C6D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322" y="3035720"/>
            <a:ext cx="8479432" cy="350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5240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2FB542-0437-4146-B398-BF36ADEB0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62" y="186430"/>
            <a:ext cx="7279979" cy="32425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F8BA1D-4022-4F8B-9B1C-EC2072B09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389" y="3444271"/>
            <a:ext cx="6530715" cy="32425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A3F15AA-2BAE-485D-A55A-C5A4369FA5C2}"/>
              </a:ext>
            </a:extLst>
          </p:cNvPr>
          <p:cNvSpPr txBox="1"/>
          <p:nvPr/>
        </p:nvSpPr>
        <p:spPr>
          <a:xfrm>
            <a:off x="8386727" y="444799"/>
            <a:ext cx="37751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</a:t>
            </a:r>
            <a:r>
              <a:rPr lang="en-US" sz="2400" b="1" dirty="0"/>
              <a:t>Reflect the distribution of</a:t>
            </a:r>
          </a:p>
          <a:p>
            <a:r>
              <a:rPr lang="en-US" sz="2400" b="1" dirty="0"/>
              <a:t>the underutilized in terms of their education level.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8FA8949-8E9F-418D-A185-A135F01C54B2}"/>
              </a:ext>
            </a:extLst>
          </p:cNvPr>
          <p:cNvSpPr/>
          <p:nvPr/>
        </p:nvSpPr>
        <p:spPr>
          <a:xfrm>
            <a:off x="7669620" y="490194"/>
            <a:ext cx="537328" cy="2545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BECF66D-224F-4405-8558-A487EC5FA728}"/>
              </a:ext>
            </a:extLst>
          </p:cNvPr>
          <p:cNvSpPr/>
          <p:nvPr/>
        </p:nvSpPr>
        <p:spPr>
          <a:xfrm>
            <a:off x="405545" y="4302950"/>
            <a:ext cx="433633" cy="2168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B3905D-5F71-4C80-A9A5-D1AEA05DBA49}"/>
              </a:ext>
            </a:extLst>
          </p:cNvPr>
          <p:cNvSpPr txBox="1"/>
          <p:nvPr/>
        </p:nvSpPr>
        <p:spPr>
          <a:xfrm>
            <a:off x="924213" y="4176389"/>
            <a:ext cx="43571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distribution of</a:t>
            </a:r>
          </a:p>
          <a:p>
            <a:r>
              <a:rPr lang="en-US" sz="2400" b="1" dirty="0"/>
              <a:t>the underutilized in terms of type of underutilization. Of</a:t>
            </a:r>
          </a:p>
          <a:p>
            <a:r>
              <a:rPr lang="en-US" sz="2400" b="1" dirty="0"/>
              <a:t>those who were underutilized in 2022.</a:t>
            </a:r>
          </a:p>
        </p:txBody>
      </p:sp>
    </p:spTree>
    <p:extLst>
      <p:ext uri="{BB962C8B-B14F-4D97-AF65-F5344CB8AC3E}">
        <p14:creationId xmlns:p14="http://schemas.microsoft.com/office/powerpoint/2010/main" val="8455167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630A7E-CBCE-4C46-857B-F8051C7D70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814" y="101526"/>
            <a:ext cx="6400923" cy="317664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1C3FC0-262C-4573-8BFD-54D308358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462" y="3428999"/>
            <a:ext cx="6900419" cy="3266877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098D7276-FF5D-44C9-9349-5B6EF15FEDB4}"/>
              </a:ext>
            </a:extLst>
          </p:cNvPr>
          <p:cNvSpPr/>
          <p:nvPr/>
        </p:nvSpPr>
        <p:spPr>
          <a:xfrm>
            <a:off x="6862712" y="443060"/>
            <a:ext cx="235671" cy="1131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A7A1809-74B5-4D13-8258-8F063B2DB647}"/>
              </a:ext>
            </a:extLst>
          </p:cNvPr>
          <p:cNvSpPr/>
          <p:nvPr/>
        </p:nvSpPr>
        <p:spPr>
          <a:xfrm>
            <a:off x="405353" y="3761294"/>
            <a:ext cx="282804" cy="1036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277EC8-F992-42A2-AAAC-0F88EDCD5830}"/>
              </a:ext>
            </a:extLst>
          </p:cNvPr>
          <p:cNvSpPr txBox="1"/>
          <p:nvPr/>
        </p:nvSpPr>
        <p:spPr>
          <a:xfrm>
            <a:off x="7098383" y="301658"/>
            <a:ext cx="476380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estimated 2.82 million population (4.01 percent) were underemployed.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case of underemployment, the majority of them lived in rural areas 2.2 million populations compared with 0.6 million populations in urban areas.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5A9926-18EB-41B8-A49E-F6DA9E0BA0C4}"/>
              </a:ext>
            </a:extLst>
          </p:cNvPr>
          <p:cNvSpPr txBox="1"/>
          <p:nvPr/>
        </p:nvSpPr>
        <p:spPr>
          <a:xfrm>
            <a:off x="688157" y="3579829"/>
            <a:ext cx="401581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unemployed population aged 15 and above during the survey was approximately 2.58 million of which 1.65 million were males and 0.9 million were females.</a:t>
            </a:r>
          </a:p>
        </p:txBody>
      </p:sp>
    </p:spTree>
    <p:extLst>
      <p:ext uri="{BB962C8B-B14F-4D97-AF65-F5344CB8AC3E}">
        <p14:creationId xmlns:p14="http://schemas.microsoft.com/office/powerpoint/2010/main" val="12660733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C748A-130E-449F-A34F-CA0F2AE59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505" y="543617"/>
            <a:ext cx="10393417" cy="138887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b="1" spc="300" dirty="0">
                <a:ea typeface="Calibri" panose="020F0502020204030204" pitchFamily="34" charset="0"/>
                <a:cs typeface="Calibri" panose="020F0502020204030204" pitchFamily="34" charset="0"/>
              </a:rPr>
              <a:t>Among the 119.3 million working-age population, aged 15 years or older, 1.3 million were potential labour force.</a:t>
            </a:r>
            <a:br>
              <a:rPr lang="en-US" spc="300" dirty="0"/>
            </a:br>
            <a:endParaRPr lang="en-US" spc="3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A95A916-9438-4B4F-82D8-3FDFC4C5E8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8810" y="1717255"/>
            <a:ext cx="10327429" cy="472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559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11C07-7F7C-5883-B3D3-C35DFAC28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6C2D1-BE42-677C-141E-0E238206C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89" y="662937"/>
            <a:ext cx="8917715" cy="644009"/>
          </a:xfrm>
        </p:spPr>
        <p:txBody>
          <a:bodyPr>
            <a:normAutofit/>
          </a:bodyPr>
          <a:lstStyle/>
          <a:p>
            <a:r>
              <a:rPr lang="en-US" b="1" dirty="0"/>
              <a:t>Chapter 13:Forms of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6A581-687D-351C-CA57-C27E19A6D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89" y="1786335"/>
            <a:ext cx="2403007" cy="57799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Work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42692-3DB9-9DFB-C10B-73CBEA765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3638" y="2398851"/>
            <a:ext cx="3195256" cy="188493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Employment 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Own-use production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Volunteer 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Apprentice work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AB98C0-6C45-C9C7-7CEF-26EAADF8A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772" y="2669917"/>
            <a:ext cx="7111101" cy="40261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517C93-38E4-4522-9C0D-8D52CF01D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804" y="-56025"/>
            <a:ext cx="2739370" cy="272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0882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AAD21-5605-89C1-C8FA-C736AFCC0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796DA-0080-5D9F-368B-A292EC0DC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748" y="538137"/>
            <a:ext cx="9059118" cy="42610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Chapter14:EqualOpportunities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E49ED-68E8-AF29-906B-33D63DF5F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1088" y="1155691"/>
            <a:ext cx="4075522" cy="53085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Occupational Segregation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FA02D-F550-CD81-584E-0CE0F5DA6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05147" y="1713980"/>
            <a:ext cx="5762919" cy="426109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Gender-based occupation differences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8D554E-C768-D09C-5F15-A6A5C0AF2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688" y="2318223"/>
            <a:ext cx="10101520" cy="42159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12FD43-682D-4EEE-BD58-E577D12CE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8700" y="0"/>
            <a:ext cx="2635316" cy="240066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395173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3B9DE-51A1-9FB0-9F93-CD1BB4642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09" y="603623"/>
            <a:ext cx="11528982" cy="571860"/>
          </a:xfrm>
        </p:spPr>
        <p:txBody>
          <a:bodyPr>
            <a:normAutofit/>
          </a:bodyPr>
          <a:lstStyle/>
          <a:p>
            <a:r>
              <a:rPr lang="en-US" sz="2600" b="1" dirty="0"/>
              <a:t>Female Share in High-Status Occupations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483A3-199F-E854-53E6-475F02D23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986" y="1344858"/>
            <a:ext cx="4121318" cy="380248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Leadership &amp; professional jobs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AD7114-E380-30D4-FC4E-9F0D41E7A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64" y="1894481"/>
            <a:ext cx="9799373" cy="45959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267285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09812-5777-0022-E735-9093937E2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C4C0D-A62D-7E6D-82B0-AE9FE50F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577" y="482991"/>
            <a:ext cx="8233784" cy="1088364"/>
          </a:xfrm>
        </p:spPr>
        <p:txBody>
          <a:bodyPr>
            <a:noAutofit/>
          </a:bodyPr>
          <a:lstStyle/>
          <a:p>
            <a:r>
              <a:rPr lang="en-US" sz="3000" b="1" spc="300" dirty="0"/>
              <a:t>Chapter 15:Recruitment cost &amp; income of Migrant </a:t>
            </a:r>
            <a:r>
              <a:rPr lang="en-US" b="1" spc="300" dirty="0"/>
              <a:t>Workers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7458A-3370-B3C2-6679-4702E5F6C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309" y="1710692"/>
            <a:ext cx="3127598" cy="4358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Recruitment Cost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92E633-1E33-AA2B-0DDF-0EDE0D18C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7738" y="2231433"/>
            <a:ext cx="6597101" cy="435887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Proportion of recruitment cost to income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84E42E-8931-48DB-ADDF-2474DB09C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8461" y="486550"/>
            <a:ext cx="3220898" cy="288417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4085DE-D91A-4DDB-87E4-BC1B4498C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38" y="2806658"/>
            <a:ext cx="8127857" cy="375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8110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D910A-DFA7-4F2C-9C70-AE8848F56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1037" y="353506"/>
            <a:ext cx="6470467" cy="438346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Recruitment cost indicator by sex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A366BB5-F132-423D-AF4E-03B456A961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1036" y="791852"/>
            <a:ext cx="10289352" cy="2279335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150051-7A1F-4B4A-ABCB-014A306B75F0}"/>
              </a:ext>
            </a:extLst>
          </p:cNvPr>
          <p:cNvSpPr txBox="1"/>
          <p:nvPr/>
        </p:nvSpPr>
        <p:spPr>
          <a:xfrm>
            <a:off x="741036" y="3097999"/>
            <a:ext cx="5725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Recruitment cost indicator by education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240A81C-B882-448B-B7A9-DD850F182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37" y="3559664"/>
            <a:ext cx="10289351" cy="305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5100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C7740-945E-BBC1-8F5C-4658434A8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287" y="325733"/>
            <a:ext cx="6270763" cy="4001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Recruitment cost indicator by age group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DFD7AD-AE06-E5FA-39D1-D7AA776A8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729" y="3867863"/>
            <a:ext cx="8928074" cy="2700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2AEA1B-EF1E-4C4E-BA08-334D74F2E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728" y="781102"/>
            <a:ext cx="8928074" cy="25417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4EC036-19D7-4C33-BCA0-32C797DB4046}"/>
              </a:ext>
            </a:extLst>
          </p:cNvPr>
          <p:cNvSpPr txBox="1"/>
          <p:nvPr/>
        </p:nvSpPr>
        <p:spPr>
          <a:xfrm>
            <a:off x="757286" y="3395301"/>
            <a:ext cx="7802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Recruitment cost indicator by Country of destination</a:t>
            </a:r>
          </a:p>
        </p:txBody>
      </p:sp>
    </p:spTree>
    <p:extLst>
      <p:ext uri="{BB962C8B-B14F-4D97-AF65-F5344CB8AC3E}">
        <p14:creationId xmlns:p14="http://schemas.microsoft.com/office/powerpoint/2010/main" val="2911396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B8719-7F09-870B-4D4F-ED902E158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8AF86-AE41-103E-5B41-6086815B2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30" y="398901"/>
            <a:ext cx="11078488" cy="58311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Chapter 16:Employment &amp; Disability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2A0FC-5F6E-2C4A-75CC-2D0B5CAED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990" y="1260670"/>
            <a:ext cx="4320619" cy="4350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Labour Force with Disability: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DE90BC-4BD7-9368-D3D3-64DB21677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47209" y="1158032"/>
            <a:ext cx="2614367" cy="762588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Participation 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Employment rate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BDEDB8-029A-6790-213D-4B82EFEF3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98" y="2096638"/>
            <a:ext cx="10277582" cy="21638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6C3FB7-CCED-B51E-A14C-81E810E95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98" y="4500243"/>
            <a:ext cx="10277582" cy="216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2313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A0EEC-1B9F-2D1C-B643-A71357844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354" y="367146"/>
            <a:ext cx="9810604" cy="524726"/>
          </a:xfrm>
        </p:spPr>
        <p:txBody>
          <a:bodyPr>
            <a:noAutofit/>
          </a:bodyPr>
          <a:lstStyle/>
          <a:p>
            <a:r>
              <a:rPr lang="en-US" b="1" dirty="0"/>
              <a:t>Social Protection for Disabled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F9EA6-6EE7-F5C1-450B-E6843D8ED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733" y="959667"/>
            <a:ext cx="2757550" cy="769037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benefits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recognition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FE8AC6-9FB0-E393-448C-48186EFC7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354" y="1864294"/>
            <a:ext cx="10742053" cy="21967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2D0A44-44E0-0808-7BD0-B4011429C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354" y="4196600"/>
            <a:ext cx="10742053" cy="215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2706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CEB2725-D65A-4315-A7EA-F9956E0387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27345"/>
      </p:ext>
    </p:extLst>
  </p:cSld>
  <p:clrMapOvr>
    <a:masterClrMapping/>
  </p:clrMapOvr>
</p:sld>
</file>

<file path=ppt/theme/theme1.xml><?xml version="1.0" encoding="utf-8"?>
<a:theme xmlns:a="http://schemas.openxmlformats.org/drawingml/2006/main" name="ArchiveVTI">
  <a:themeElements>
    <a:clrScheme name="Archive">
      <a:dk1>
        <a:sysClr val="windowText" lastClr="000000"/>
      </a:dk1>
      <a:lt1>
        <a:sysClr val="window" lastClr="FFFFFF"/>
      </a:lt1>
      <a:dk2>
        <a:srgbClr val="353B3D"/>
      </a:dk2>
      <a:lt2>
        <a:srgbClr val="EEECEA"/>
      </a:lt2>
      <a:accent1>
        <a:srgbClr val="A65E5E"/>
      </a:accent1>
      <a:accent2>
        <a:srgbClr val="9D6053"/>
      </a:accent2>
      <a:accent3>
        <a:srgbClr val="968274"/>
      </a:accent3>
      <a:accent4>
        <a:srgbClr val="878079"/>
      </a:accent4>
      <a:accent5>
        <a:srgbClr val="6C737A"/>
      </a:accent5>
      <a:accent6>
        <a:srgbClr val="697777"/>
      </a:accent6>
      <a:hlink>
        <a:srgbClr val="A25872"/>
      </a:hlink>
      <a:folHlink>
        <a:srgbClr val="667A7E"/>
      </a:folHlink>
    </a:clrScheme>
    <a:fontScheme name="Custom 170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iveVTI" id="{514BDC9F-20AC-40CA-9FE7-B30987BCD2D4}" vid="{D8FA1533-D953-46ED-B2C7-B32AF1BED7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Archive</Template>
  <TotalTime>1066</TotalTime>
  <Words>775</Words>
  <Application>Microsoft Office PowerPoint</Application>
  <PresentationFormat>Widescreen</PresentationFormat>
  <Paragraphs>197</Paragraphs>
  <Slides>48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Bembo</vt:lpstr>
      <vt:lpstr>Calibri</vt:lpstr>
      <vt:lpstr>Times New Roman</vt:lpstr>
      <vt:lpstr>ArchiveVTI</vt:lpstr>
      <vt:lpstr>Labour Force Survey 2022</vt:lpstr>
      <vt:lpstr>Background</vt:lpstr>
      <vt:lpstr>Objectives of the Survey</vt:lpstr>
      <vt:lpstr>Concepts and Definitions</vt:lpstr>
      <vt:lpstr>Chapter 2: Survey Methodology</vt:lpstr>
      <vt:lpstr>Sample Design &amp; Size</vt:lpstr>
      <vt:lpstr>Data Collection Process</vt:lpstr>
      <vt:lpstr>Data Quality &amp; Processing</vt:lpstr>
      <vt:lpstr>Chapter 3: Population &amp; Housing Characteristics</vt:lpstr>
      <vt:lpstr>Dependency Ratio</vt:lpstr>
      <vt:lpstr>Housing &amp; Living Conditions</vt:lpstr>
      <vt:lpstr>Chapter 4: Education &amp; Vocational Training</vt:lpstr>
      <vt:lpstr>Educational Attainment</vt:lpstr>
      <vt:lpstr>Vocational Training</vt:lpstr>
      <vt:lpstr>Chapter 5: Participation in Labour Market</vt:lpstr>
      <vt:lpstr>Labour Force</vt:lpstr>
      <vt:lpstr>Labour Force Participation Rate (LFPR)</vt:lpstr>
      <vt:lpstr>Chapter 6: Employment</vt:lpstr>
      <vt:lpstr>Employment by Sector</vt:lpstr>
      <vt:lpstr>Employment by literacy and educational level</vt:lpstr>
      <vt:lpstr>Employment by Status</vt:lpstr>
      <vt:lpstr>Chapter 7: Informal Employment</vt:lpstr>
      <vt:lpstr>Informal Employment by Gender &amp; Sector</vt:lpstr>
      <vt:lpstr>Chapter 8: Unemployment</vt:lpstr>
      <vt:lpstr>Unemployment by Gender</vt:lpstr>
      <vt:lpstr>Job Search Methods</vt:lpstr>
      <vt:lpstr>trends of the unemployment rate </vt:lpstr>
      <vt:lpstr>Chapter 9: Youth Employment &amp; Unemployment</vt:lpstr>
      <vt:lpstr>Youth Unemployment</vt:lpstr>
      <vt:lpstr>NEET Youth</vt:lpstr>
      <vt:lpstr>Chapter 10: Working Hours &amp; Earnings</vt:lpstr>
      <vt:lpstr>Earnings</vt:lpstr>
      <vt:lpstr>Chapter 11: Quality, stability, Social Security and safety of works</vt:lpstr>
      <vt:lpstr>Social Protection</vt:lpstr>
      <vt:lpstr>Occupational Safety</vt:lpstr>
      <vt:lpstr>Chapter 12: Labour Underutilization</vt:lpstr>
      <vt:lpstr>PowerPoint Presentation</vt:lpstr>
      <vt:lpstr>PowerPoint Presentation</vt:lpstr>
      <vt:lpstr>Among the 119.3 million working-age population, aged 15 years or older, 1.3 million were potential labour force. </vt:lpstr>
      <vt:lpstr>Chapter 13:Forms of Work</vt:lpstr>
      <vt:lpstr>Chapter14:EqualOpportunities</vt:lpstr>
      <vt:lpstr>Female Share in High-Status Occupations</vt:lpstr>
      <vt:lpstr>Chapter 15:Recruitment cost &amp; income of Migrant Workers</vt:lpstr>
      <vt:lpstr>PowerPoint Presentation</vt:lpstr>
      <vt:lpstr>PowerPoint Presentation</vt:lpstr>
      <vt:lpstr>Chapter 16:Employment &amp; Disability</vt:lpstr>
      <vt:lpstr>Social Protection for Disabled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Labour Force Survey 2022</dc:title>
  <dc:creator>Lenovo</dc:creator>
  <cp:lastModifiedBy>Lenovo</cp:lastModifiedBy>
  <cp:revision>9</cp:revision>
  <dcterms:created xsi:type="dcterms:W3CDTF">2026-02-21T04:52:21Z</dcterms:created>
  <dcterms:modified xsi:type="dcterms:W3CDTF">2026-02-26T16:17:40Z</dcterms:modified>
</cp:coreProperties>
</file>